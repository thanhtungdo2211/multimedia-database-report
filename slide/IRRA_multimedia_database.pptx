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29"/>
  </p:notesMasterIdLst>
  <p:handoutMasterIdLst>
    <p:handoutMasterId r:id="rId30"/>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 id="271" r:id="rId17"/>
    <p:sldId id="273" r:id="rId18"/>
    <p:sldId id="274" r:id="rId19"/>
    <p:sldId id="275" r:id="rId20"/>
    <p:sldId id="276" r:id="rId21"/>
    <p:sldId id="277" r:id="rId22"/>
    <p:sldId id="278" r:id="rId23"/>
    <p:sldId id="279" r:id="rId24"/>
    <p:sldId id="280" r:id="rId25"/>
    <p:sldId id="281" r:id="rId26"/>
    <p:sldId id="282" r:id="rId27"/>
    <p:sldId id="283"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p:scale>
          <a:sx n="125" d="100"/>
          <a:sy n="125" d="100"/>
        </p:scale>
        <p:origin x="213"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9/15/2026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9/15/2026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Hôm nay em trình bày IRRA, một phương pháp truy hồi ảnh người bằng mô tả ngôn ngữ tự nhiên. Điểm đáng chú ý là mô hình học tương tác ảnh–văn bản ở mức chi tiết trong huấn luyện, nhưng khi triển khai vẫn chỉ so sánh một vector ảnh với một vector văn bản. Đây là sự cân bằng giữa độ chính xác và chi phí truy hồi.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Nếu có ảnh truy vấn, ta có thể dùng person Re-ID truyền thống. Nhưng trong nhiều tình huống người dùng chỉ nhớ bằng lời: màu áo, chiếc túi hay đôi giày. Hệ thống phải biến câu đó thành truy vấn và xếp hạng hàng nghìn ảnh. Đây là cross-modal retrieval: truy vấn là văn bản, đối tượng trả về là ảnh; một danh tính có thể có nhiều ảnh đúng ở nhiều camera.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Ở pha offline, toàn bộ gallery được mã hóa trước thành vector và có thể xây chỉ mục. Ở pha online, câu mô tả được mã hóa một lần, sau đó tính cosine similarity và trả về Top-k. Bài báo không nghiên cứu HNSW hay IVF; đóng góp nằm ở việc học hai encoder sao cho khoảng cách vector phản ánh cùng danh tính và đúng mô tả. Dual-stream đặc biệt phù hợp cơ sở dữ liệu vì gallery được tiền tính toán.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Khó khăn đầu tiên là intra-identity variation: cùng một người nhưng ảnh khác do góc nhìn, dáng đi, ánh sáng và che khuất. Thứ hai là modality heterogeneity: một bên là thị giác liên tục, một bên là chuỗi ký hiệu. Nhiều người có mô tả toàn cục gần giống nhau, nên mô hình phải dùng chi tiết nhỏ. Bài toán vì vậy cần biểu diễn toàn cục mạnh để tìm nhanh nhưng vẫn học được quan hệ cục bộ.</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Global matching chỉ đặt loss ở cuối mạng nên nhanh nhưng tương tác ảnh–chữ chưa sâu. Explicit local matching tách cơ thể và cụm từ; độ chính xác tốt hơn nhưng phụ thuộc prior, dễ nhiễu và tăng chi phí lưu trữ, so sánh. IRRA chọn hướng thứ ba: local token vẫn tương tác mạnh khi train, nhưng không tạo nhánh local matching ở đầu ra. Kiến thức chi tiết được hấp thụ vào global embedding.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Single-stream trộn token ảnh và chữ trong một Transformer nên tương tác mạnh, nhưng phải tính lại cho từng cặp. CLIP là dual-stream: hai encoder độc lập được pre-train chung trên ảnh–văn bản, cho phép tiền mã hóa gallery. Tác giả cho rằng công trình trước chưa tận dụng trọn CLIP vì chỉ dùng image encoder hoặc đóng băng một phần. IRRA fine-tune toàn bộ CLIP và bổ sung tương tác chỉ trong huấn luyện.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Câu hỏi trung tâm là học quan hệ chi tiết mà không phải giữ chi phí local matching lúc truy hồi. Chữ implicit không có nghĩa là không dùng local token; local visual token và local textual token vẫn tương tác trong train. Implicit nghĩa là không cần nhãn bộ phận hay correspondence tường minh ở đầu ra. Ba đóng góp là IRR, SDM và chuyển giao toàn bộ CLIP.</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Ảnh và câu gốc đi qua hai encoder CLIP để tạo global embedding, được tối ưu bởi SDM và ID loss. Một bản sao câu bị che đi qua text encoder; hidden state của nó làm query, visual token làm key và value trong multimodal interaction encoder. MLM head dự đoán lại từ bị che. Hệ thống train end-to-end, nhưng các nhánh nét đứt bị bỏ khi test; khi đó chỉ còn hai encoder và cosine similarity.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Ảnh 384 nhân 128 với patch 16 tạo 192 patch token, cộng thêm CLS. Qua 12 Transformer blocks, CLS sau phép chiếu là vector ảnh toàn cục. Văn bản được lowercase, BPE tokenize, kẹp giữa SOS và EOS, tối đa 77 token; hidden state tại EOS là vector câu. Local token không trực tiếp tính điểm lúc test nhưng được giữ để huấn luyện IRR.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Bên trong image encoder, ảnh trước hết được chia thành patch 16 nhân 16 và chiếu thành token 768 chiều; token CLS và positional embedding được thêm vào. Mỗi residual block của CLIP ViT dùng kiến trúc pre-LayerNorm: chuẩn hóa rồi multi-head self-attention, cộng residual; sau đó chuẩn hóa rồi MLP hai lớp với QuickGELU, lại cộng residual. Self-attention cho phép mỗi patch nhìn mọi patch khác và token CLS, vì vậy CLS dần tổng hợp ngữ cảnh toàn ảnh. Sau 12 block, toàn bộ token đi qua LayerNorm và phép chiếu vào joint embedding space; token đầu tiên trở thành f-v toàn cục. IRRA không đóng băng nhánh này: gradient từ SDM, ID và MLM đều có thể cập nhật ViT.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Text encoder có cùng cấu trúc residual block pre-LN, nhưng self-attention dùng causal mask: token ở vị trí i chỉ nhìn được các vị trí từ đầu câu đến i. Câu được BPE tokenize, thêm SOS, EOS và positional embedding rồi đi qua 12 block. Vì EOS đứng cuối phần nội dung nên hidden state tại EOS đã tổng hợp toàn bộ câu; sau LayerNorm và text projection, nó trở thành f-t toàn cục. Khi huấn luyện IRRA, text encoder được chạy cho câu gốc để tạo f-t cho SDM và ID, đồng thời chạy cho câu bị mask để tạo token hidden state cho nhánh MLM; hai lượt dùng chung tham số nên gradient được cộng vào cùng text encoder.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Để đoán white trước purse, mô hình phải tìm tín hiệu màu trắng ở đúng vùng ảnh và kết hợp với ngữ cảnh câu. MLM vì vậy tạo giám sát cục bộ mà không cần nhãn thủ công đây là túi hay đây là giày. Tác giả mô tả embedding tĩnh của từ thật như mỏ neo, giúp representation ảnh và câu trong cùng ngữ cảnh tiến về đúng token. 15 phần trăm token được chọn theo quy tắc 80–10–10 của BERT.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MLM head tạo logits trên toàn vocabulary, nhưng cross-entropy chỉ tính ở các vị trí được chọn để dự đoán; vị trí khác có label zero và bị ignore trong code. Loss được lấy trung bình trên các token hợp lệ. Nhánh này học ba thứ: token văn bản theo ngữ cảnh, vùng ảnh liên quan đến từ bị che, và representation đa phương thức đủ để khôi phục từ. Gradient đi từ MLM head qua bốn Transformer tương tác, qua cross-attention rồi về cả visual tokens và masked-text tokens; vì vậy image encoder và text encoder dùng chung cũng được cập nhật. Đây không phải loss đặt trực tiếp lên CLS hay EOS, nên cách nói chính xác là nó gián tiếp cải thiện global embedding thông qua việc fine-tune các encoder dùng chung.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Text token chủ động hỏi ảnh: query đến từ câu bị che, key và value đến từ visual token. Kết quả cross-attention được đưa qua bốn Transformer blocks để tiếp tục self-attention và feed-forward. So với co-attention, IRRA không duy trì hai nhánh transformer song song. So với merged attention, nó không nối toàn bộ token thành một chuỗi dài. Thiết kế một chiều tập trung đúng nhu cầu của MLM.</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Với mỗi ảnh i, softmax các cosine similarity tạo phân phối dự đoán p. Nhãn y bằng một cho mọi câu cùng identity; chuẩn hóa theo hàng tạo phân phối đích q. SDM tối thiểu KL theo cả hai chiều ảnh sang chữ và chữ sang ảnh. Vì tối ưu toàn bộ phân phối, loss cũng tác động lên hard negative. Temperature tau bằng 0.02 được giữ cố định. Ba công thức trên là native PowerPoint equations; LaTeX nguồn được lưu trong alt text của từng equation.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 loss áp dụng cùng một linear classifier W lên global image feature và global text feature. Code lấy trung bình cross-entropy của hai modality. Loss học global feature phân biệt theo identity và các prototype lớp dùng chung; gradient chỉ đi vào classifier và hai CLIP encoder. Classifier bị bỏ khi test. Đây là auxiliary objective: ablation cho thấy ID loss một mình không thay thế được SDM và IRR. Công thức là native PowerPoint equation; LaTeX nguồn được lưu trong alt text.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 loss phân loại cả embedding ảnh và văn bản theo identity để gom mẫu cùng người. Ba loss được cộng; code đặt trọng số mặc định MLM và ID bằng một. Đóng góp hệ thống là train nặng nhưng inference gọn. Gradient từ IRR đã cập nhật hai encoder, nên khi bỏ interaction branch, kiến thức alignment vẫn nằm trong global representation. Paper chưa benchmark vector database thật nhưng kiến trúc phù hợp tiền mã hóa gallery.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CUHK-PEDES là benchmark đầu tiên và lớn nhất về số mô tả. ICFG-PEDES có nhiều ảnh nhưng chỉ một câu cho mỗi ảnh. RSTPReid nhấn mạnh multi-camera: mỗi identity có năm ảnh và hai mô tả trên mỗi ảnh. Các tập chia theo danh tính, nên test yêu cầu khái quát hóa sang người chưa thấy khi train, không phải ghi nhớ danh tính huấn luyện.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Rank-1 là tỷ lệ ảnh đúng xuất hiện ngay vị trí đầu; Rank-5 và Rank-10 chấp nhận danh sách ngắn. mAP đánh giá toàn bộ ảnh đúng trong bảng xếp hạng. mINP tập trung positive nằm xa nhất nên phản ánh mẫu khó. Huấn luyện có flip ngang, random crop, random erasing; 60 epoch với cosine decay, warm-up năm epoch và một RTX 3090. Repository chính thức dùng batch size 64, dù paper không nêu trong implementation details.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Ở thời điểm CVPR 2023, IRRA đứng đầu trên cả ba benchmark: Rank-1 là 73.38 trên CUHK, 63.46 trên ICFG và 60.20 trên RSTPReid. So với CFine, mức tăng là 3.81, 2.63 và 9.65 điểm phần trăm. Full CLIP fine-tune trực tiếp đã là baseline mạnh; trên RSTP baseline 54.05 còn cao hơn CFine 50.55. IRRA tiếp tục tăng so với CLIP baseline lần lượt 5.19, 6.72 và 6.15 điểm.</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IRR một mình tăng Rank-1 nhiều hơn SDM một mình trên cả ba dataset. Mô hình đầy đủ tăng từ 5.19 đến 6.72 điểm, cho thấy hai thành phần bổ sung. ID loss một mình làm Rank-1 giảm trên CUHK và ICFG, vì vậy không nên nói mọi loss độc lập đều có lợi; ID phát huy khi alignment đã tốt hơn. CMPM cũng yếu trong cấu hình CLIP, ví dụ CUHK chỉ 59.31 trong khi SDM đạt 70.42.</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Interaction module của IRRA có số tham số gần merged attention nhưng thời gian 6.42 ms, khoảng một phần ba; so với co-attention nhanh hơn khoảng 3.8 lần. Paper không mô tả đầy đủ giao thức đo, nên đây là so sánh nội bộ, không phải latency production. Ở kết quả định tính, IRRA đưa nhiều ảnh đúng lên Top-10 hơn nhờ khai thác thuộc tính màu quần áo, giày và túi. Khi test, module tương tác vẫn được bỏ.</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Tác giả thừa nhận random-mask token đơn khiến mô hình hiểu từ tốt hơn cụm từ; span masking có thể phù hợp hơn. Ba ý sau là đánh giá thêm: mINP thấp trên ICFG cho thấy khó tìm toàn bộ positive; thử nghiệm chỉ within-dataset và tiếng Anh; chưa có đánh giá chỉ mục vector, gallery production, footprint hoặc latency end-to-end. Ứng dụng person search cũng cần quản trị quyền truy cập, mục đích sử dụng, lưu vết và đánh giá bias.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Thông điệp cốt lõi của IRRA là đưa chi tiết vào quá trình học mà không đưa chi phí chi tiết đó vào quá trình truy hồi. IRR giúp token ảnh và chữ tương tác qua bài toán điền từ; SDM uốn cả phân phối similarity; CLIP dual encoder giữ triển khai đơn giản. Nếu phát triển cuối kỳ, có thể thử phrase masking, truy vấn tiếng Việt hoặc tích hợp vector database để đo latency và recall thật.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dự phòng. SDM biến toàn bộ hàng và cột similarity thành phân phối, dùng nhãn identity nên có thể có nhiều positive trong batch. Paper dùng KL(p||q) và thêm epsilon để tránh log zero.</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dự phòng chứa toàn bộ chỉ số. Bản arXiv v1 có vài sai khác nhỏ: CUHK Rank-5 89.93 ở Table 1 nhưng 89.83 ở Table 4; README chính thức dùng 89.93. ICFG cũng có sai khác làm tròn 80.24/80.25.</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dự phòng cho phần hỏi đáp. Câu trả lời chi tiết hơn nằm trong file IRRA-presentation-notes-vi.md.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678804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9/15/2026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9/15/2026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9/15/2026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9/15/2026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9/15/2026</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313388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9/15/2026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9/15/2026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9/15/2026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9/15/2026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9/15/2026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83" r:id="rId7"/>
    <p:sldLayoutId id="2147483676" r:id="rId8"/>
    <p:sldLayoutId id="2147483679" r:id="rId9"/>
    <p:sldLayoutId id="2147483680" r:id="rId10"/>
    <p:sldLayoutId id="2147483681" r:id="rId11"/>
    <p:sldLayoutId id="2147483682" r:id="rId12"/>
    <p:sldLayoutId id="2147483678"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xml"/><Relationship Id="rId1" Type="http://schemas.openxmlformats.org/officeDocument/2006/relationships/slideLayout" Target="../slideLayouts/slideLayout9.xml"/><Relationship Id="rId4" Type="http://schemas.openxmlformats.org/officeDocument/2006/relationships/image" Target="../media/image15.jp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9.xml"/><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image" Target="../media/image32.jp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ust_logo.png"/>
          <p:cNvPicPr>
            <a:picLocks noChangeAspect="1"/>
          </p:cNvPicPr>
          <p:nvPr/>
        </p:nvPicPr>
        <p:blipFill>
          <a:blip r:embed="rId3"/>
          <a:stretch>
            <a:fillRect/>
          </a:stretch>
        </p:blipFill>
        <p:spPr>
          <a:xfrm>
            <a:off x="438912" y="390661"/>
            <a:ext cx="2331720" cy="700004"/>
          </a:xfrm>
          <a:prstGeom prst="rect">
            <a:avLst/>
          </a:prstGeom>
        </p:spPr>
      </p:pic>
      <p:sp>
        <p:nvSpPr>
          <p:cNvPr id="3" name="Rounded Rectangle 2"/>
          <p:cNvSpPr/>
          <p:nvPr/>
        </p:nvSpPr>
        <p:spPr>
          <a:xfrm>
            <a:off x="502920" y="1353312"/>
            <a:ext cx="3063240" cy="329184"/>
          </a:xfrm>
          <a:prstGeom prst="roundRect">
            <a:avLst/>
          </a:prstGeom>
          <a:solidFill>
            <a:srgbClr val="C5162B"/>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362456"/>
            <a:ext cx="3063240" cy="292608"/>
          </a:xfrm>
          <a:prstGeom prst="rect">
            <a:avLst/>
          </a:prstGeom>
          <a:noFill/>
        </p:spPr>
        <p:txBody>
          <a:bodyPr wrap="square" lIns="36576" tIns="36576" rIns="36576" bIns="36576" anchor="ctr">
            <a:spAutoFit/>
          </a:bodyPr>
          <a:lstStyle/>
          <a:p>
            <a:pPr algn="ctr"/>
            <a:r>
              <a:rPr sz="1100" b="1" i="0">
                <a:solidFill>
                  <a:srgbClr val="FFFFFF"/>
                </a:solidFill>
                <a:latin typeface="Arial"/>
              </a:rPr>
              <a:t>MULTIMEDIA DATABASE</a:t>
            </a:r>
          </a:p>
        </p:txBody>
      </p:sp>
      <p:sp>
        <p:nvSpPr>
          <p:cNvPr id="5" name="TextBox 4"/>
          <p:cNvSpPr txBox="1"/>
          <p:nvPr/>
        </p:nvSpPr>
        <p:spPr>
          <a:xfrm>
            <a:off x="512064" y="1874519"/>
            <a:ext cx="8001000" cy="2057400"/>
          </a:xfrm>
          <a:prstGeom prst="rect">
            <a:avLst/>
          </a:prstGeom>
          <a:noFill/>
        </p:spPr>
        <p:txBody>
          <a:bodyPr wrap="square" lIns="0" tIns="0" rIns="0" bIns="0" anchor="ctr">
            <a:spAutoFit/>
          </a:bodyPr>
          <a:lstStyle/>
          <a:p>
            <a:pPr algn="l"/>
            <a:r>
              <a:rPr sz="2700" b="1" i="0">
                <a:solidFill>
                  <a:srgbClr val="990014"/>
                </a:solidFill>
                <a:latin typeface="Arial"/>
              </a:rPr>
              <a:t>Cross-Modal Implicit Relation Reasoning
and Aligning for Text-to-Image
Person Retrieval</a:t>
            </a:r>
          </a:p>
        </p:txBody>
      </p:sp>
      <p:sp>
        <p:nvSpPr>
          <p:cNvPr id="6" name="TextBox 5"/>
          <p:cNvSpPr txBox="1"/>
          <p:nvPr/>
        </p:nvSpPr>
        <p:spPr>
          <a:xfrm>
            <a:off x="530352" y="4096512"/>
            <a:ext cx="4389120" cy="411480"/>
          </a:xfrm>
          <a:prstGeom prst="rect">
            <a:avLst/>
          </a:prstGeom>
          <a:noFill/>
        </p:spPr>
        <p:txBody>
          <a:bodyPr wrap="square" lIns="0" tIns="0" rIns="0" bIns="0" anchor="t">
            <a:spAutoFit/>
          </a:bodyPr>
          <a:lstStyle/>
          <a:p>
            <a:pPr algn="l"/>
            <a:r>
              <a:rPr sz="2000" b="1" i="0">
                <a:solidFill>
                  <a:srgbClr val="EBA300"/>
                </a:solidFill>
                <a:latin typeface="Arial"/>
              </a:rPr>
              <a:t>IRRA • CVPR 2023</a:t>
            </a:r>
          </a:p>
        </p:txBody>
      </p:sp>
      <p:sp>
        <p:nvSpPr>
          <p:cNvPr id="7" name="TextBox 6"/>
          <p:cNvSpPr txBox="1"/>
          <p:nvPr/>
        </p:nvSpPr>
        <p:spPr>
          <a:xfrm>
            <a:off x="530352" y="4590288"/>
            <a:ext cx="4114800" cy="320040"/>
          </a:xfrm>
          <a:prstGeom prst="rect">
            <a:avLst/>
          </a:prstGeom>
          <a:noFill/>
        </p:spPr>
        <p:txBody>
          <a:bodyPr wrap="square" lIns="0" tIns="0" rIns="0" bIns="0" anchor="t">
            <a:spAutoFit/>
          </a:bodyPr>
          <a:lstStyle/>
          <a:p>
            <a:pPr algn="l"/>
            <a:r>
              <a:rPr sz="1500" b="0" i="0">
                <a:solidFill>
                  <a:srgbClr val="434343"/>
                </a:solidFill>
                <a:latin typeface="Arial"/>
              </a:rPr>
              <a:t>Ding Jiang, Mang Ye</a:t>
            </a:r>
          </a:p>
        </p:txBody>
      </p:sp>
      <p:sp>
        <p:nvSpPr>
          <p:cNvPr id="8" name="TextBox 7"/>
          <p:cNvSpPr txBox="1"/>
          <p:nvPr/>
        </p:nvSpPr>
        <p:spPr>
          <a:xfrm>
            <a:off x="530352" y="5074920"/>
            <a:ext cx="6217920" cy="329184"/>
          </a:xfrm>
          <a:prstGeom prst="rect">
            <a:avLst/>
          </a:prstGeom>
          <a:noFill/>
        </p:spPr>
        <p:txBody>
          <a:bodyPr wrap="square" lIns="0" tIns="0" rIns="0" bIns="0" anchor="t">
            <a:spAutoFit/>
          </a:bodyPr>
          <a:lstStyle/>
          <a:p>
            <a:pPr algn="l"/>
            <a:r>
              <a:rPr sz="1400" b="1" i="0">
                <a:solidFill>
                  <a:srgbClr val="232323"/>
                </a:solidFill>
                <a:latin typeface="Arial"/>
              </a:rPr>
              <a:t>Presented by: [FULL NAME – STUDENT ID – GROUP]</a:t>
            </a:r>
          </a:p>
        </p:txBody>
      </p:sp>
      <p:sp>
        <p:nvSpPr>
          <p:cNvPr id="9" name="TextBox 8"/>
          <p:cNvSpPr txBox="1"/>
          <p:nvPr/>
        </p:nvSpPr>
        <p:spPr>
          <a:xfrm>
            <a:off x="530352" y="5440680"/>
            <a:ext cx="2743200" cy="256032"/>
          </a:xfrm>
          <a:prstGeom prst="rect">
            <a:avLst/>
          </a:prstGeom>
          <a:noFill/>
        </p:spPr>
        <p:txBody>
          <a:bodyPr wrap="square" lIns="0" tIns="0" rIns="0" bIns="0" anchor="t">
            <a:spAutoFit/>
          </a:bodyPr>
          <a:lstStyle/>
          <a:p>
            <a:pPr algn="l"/>
            <a:r>
              <a:rPr sz="1200" b="0" i="0">
                <a:solidFill>
                  <a:srgbClr val="696969"/>
                </a:solidFill>
                <a:latin typeface="Arial"/>
              </a:rPr>
              <a:t>Hanoi,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300" b="1" i="0">
                <a:solidFill>
                  <a:srgbClr val="FFFFFF"/>
                </a:solidFill>
                <a:latin typeface="Arial"/>
              </a:rPr>
              <a:t>I. Introduction — From Description to Top-k</a:t>
            </a:r>
          </a:p>
        </p:txBody>
      </p:sp>
      <p:sp>
        <p:nvSpPr>
          <p:cNvPr id="3" name="TextBox 2"/>
          <p:cNvSpPr txBox="1"/>
          <p:nvPr/>
        </p:nvSpPr>
        <p:spPr>
          <a:xfrm>
            <a:off x="658368" y="6236208"/>
            <a:ext cx="7726679" cy="182880"/>
          </a:xfrm>
          <a:prstGeom prst="rect">
            <a:avLst/>
          </a:prstGeom>
          <a:noFill/>
        </p:spPr>
        <p:txBody>
          <a:bodyPr wrap="square" lIns="0" tIns="0" rIns="0" bIns="0" anchor="t">
            <a:spAutoFit/>
          </a:bodyPr>
          <a:lstStyle/>
          <a:p>
            <a:pPr algn="l"/>
            <a:r>
              <a:rPr sz="750" b="0" i="1">
                <a:solidFill>
                  <a:srgbClr val="696969"/>
                </a:solidFill>
                <a:latin typeface="Arial"/>
              </a:rPr>
              <a:t>Figure source: Jiang &amp; Ye, CVPR 2023, Fig. 5</a:t>
            </a:r>
          </a:p>
        </p:txBody>
      </p:sp>
      <p:sp>
        <p:nvSpPr>
          <p:cNvPr id="4" name="TextBox 3"/>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2</a:t>
            </a:r>
          </a:p>
        </p:txBody>
      </p:sp>
      <p:sp>
        <p:nvSpPr>
          <p:cNvPr id="5" name="Rounded Rectangle 4"/>
          <p:cNvSpPr/>
          <p:nvPr/>
        </p:nvSpPr>
        <p:spPr>
          <a:xfrm>
            <a:off x="475488" y="969264"/>
            <a:ext cx="2103120" cy="4526280"/>
          </a:xfrm>
          <a:prstGeom prst="roundRect">
            <a:avLst/>
          </a:prstGeom>
          <a:solidFill>
            <a:srgbClr val="FDEBEB"/>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49808" y="1225296"/>
            <a:ext cx="1536192" cy="329184"/>
          </a:xfrm>
          <a:prstGeom prst="roundRect">
            <a:avLst/>
          </a:prstGeom>
          <a:solidFill>
            <a:srgbClr val="C5162B"/>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9808" y="1234440"/>
            <a:ext cx="1536192" cy="292608"/>
          </a:xfrm>
          <a:prstGeom prst="rect">
            <a:avLst/>
          </a:prstGeom>
          <a:noFill/>
        </p:spPr>
        <p:txBody>
          <a:bodyPr wrap="square" lIns="36576" tIns="36576" rIns="36576" bIns="36576" anchor="ctr">
            <a:spAutoFit/>
          </a:bodyPr>
          <a:lstStyle/>
          <a:p>
            <a:pPr algn="ctr"/>
            <a:r>
              <a:rPr sz="1200" b="1" i="0">
                <a:solidFill>
                  <a:srgbClr val="FFFFFF"/>
                </a:solidFill>
                <a:latin typeface="Arial"/>
              </a:rPr>
              <a:t>TEXT QUERY</a:t>
            </a:r>
          </a:p>
        </p:txBody>
      </p:sp>
      <p:sp>
        <p:nvSpPr>
          <p:cNvPr id="8" name="TextBox 7"/>
          <p:cNvSpPr txBox="1"/>
          <p:nvPr/>
        </p:nvSpPr>
        <p:spPr>
          <a:xfrm>
            <a:off x="704088" y="1810512"/>
            <a:ext cx="1664208" cy="1508760"/>
          </a:xfrm>
          <a:prstGeom prst="rect">
            <a:avLst/>
          </a:prstGeom>
          <a:noFill/>
        </p:spPr>
        <p:txBody>
          <a:bodyPr wrap="square" lIns="36576" tIns="36576" rIns="36576" bIns="36576" anchor="ctr">
            <a:spAutoFit/>
          </a:bodyPr>
          <a:lstStyle/>
          <a:p>
            <a:pPr algn="ctr"/>
            <a:r>
              <a:rPr sz="1700" b="1" i="0">
                <a:solidFill>
                  <a:srgbClr val="990014"/>
                </a:solidFill>
                <a:latin typeface="Arial"/>
              </a:rPr>
              <a:t>“A man wearing a white-and-gray striped shirt, green pants, and shoes.”</a:t>
            </a:r>
          </a:p>
        </p:txBody>
      </p:sp>
      <p:sp>
        <p:nvSpPr>
          <p:cNvPr id="9" name="TextBox 8"/>
          <p:cNvSpPr txBox="1"/>
          <p:nvPr/>
        </p:nvSpPr>
        <p:spPr>
          <a:xfrm>
            <a:off x="749808" y="3529584"/>
            <a:ext cx="1572768" cy="685800"/>
          </a:xfrm>
          <a:prstGeom prst="rect">
            <a:avLst/>
          </a:prstGeom>
          <a:noFill/>
        </p:spPr>
        <p:txBody>
          <a:bodyPr wrap="square" lIns="36576" tIns="36576" rIns="36576" bIns="36576" anchor="t">
            <a:spAutoFit/>
          </a:bodyPr>
          <a:lstStyle/>
          <a:p>
            <a:pPr algn="ctr"/>
            <a:r>
              <a:rPr sz="1400" b="1" i="0">
                <a:solidFill>
                  <a:srgbClr val="434343"/>
                </a:solidFill>
                <a:latin typeface="Arial"/>
              </a:rPr>
              <a:t>INPUT
Natural-language description</a:t>
            </a:r>
          </a:p>
        </p:txBody>
      </p:sp>
      <p:sp>
        <p:nvSpPr>
          <p:cNvPr id="10" name="TextBox 9"/>
          <p:cNvSpPr txBox="1"/>
          <p:nvPr/>
        </p:nvSpPr>
        <p:spPr>
          <a:xfrm>
            <a:off x="749808" y="4407408"/>
            <a:ext cx="1572768" cy="685800"/>
          </a:xfrm>
          <a:prstGeom prst="rect">
            <a:avLst/>
          </a:prstGeom>
          <a:noFill/>
        </p:spPr>
        <p:txBody>
          <a:bodyPr wrap="square" lIns="36576" tIns="36576" rIns="36576" bIns="36576" anchor="t">
            <a:spAutoFit/>
          </a:bodyPr>
          <a:lstStyle/>
          <a:p>
            <a:pPr algn="ctr"/>
            <a:r>
              <a:rPr sz="1400" b="1" i="0">
                <a:solidFill>
                  <a:srgbClr val="434343"/>
                </a:solidFill>
                <a:latin typeface="Arial"/>
              </a:rPr>
              <a:t>OUTPUT
Ranked image list</a:t>
            </a:r>
          </a:p>
        </p:txBody>
      </p:sp>
      <p:sp>
        <p:nvSpPr>
          <p:cNvPr id="11" name="Chevron 10"/>
          <p:cNvSpPr/>
          <p:nvPr/>
        </p:nvSpPr>
        <p:spPr>
          <a:xfrm>
            <a:off x="2724912" y="2852928"/>
            <a:ext cx="384048" cy="658368"/>
          </a:xfrm>
          <a:prstGeom prst="chevron">
            <a:avLst/>
          </a:prstGeom>
          <a:solidFill>
            <a:srgbClr val="C5162B"/>
          </a:solidFill>
          <a:ln>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154680" y="1152144"/>
            <a:ext cx="914400" cy="274320"/>
          </a:xfrm>
          <a:prstGeom prst="rect">
            <a:avLst/>
          </a:prstGeom>
          <a:noFill/>
        </p:spPr>
        <p:txBody>
          <a:bodyPr wrap="square" lIns="0" tIns="0" rIns="0" bIns="0" anchor="t">
            <a:spAutoFit/>
          </a:bodyPr>
          <a:lstStyle/>
          <a:p>
            <a:pPr algn="l"/>
            <a:r>
              <a:rPr sz="1200" b="1" i="0">
                <a:solidFill>
                  <a:srgbClr val="434343"/>
                </a:solidFill>
                <a:latin typeface="Arial"/>
              </a:rPr>
              <a:t>Baseline</a:t>
            </a:r>
          </a:p>
        </p:txBody>
      </p:sp>
      <p:pic>
        <p:nvPicPr>
          <p:cNvPr id="13" name="Picture 12" descr="result_strip_1.jpeg"/>
          <p:cNvPicPr>
            <a:picLocks noChangeAspect="1"/>
          </p:cNvPicPr>
          <p:nvPr/>
        </p:nvPicPr>
        <p:blipFill>
          <a:blip r:embed="rId3"/>
          <a:stretch>
            <a:fillRect/>
          </a:stretch>
        </p:blipFill>
        <p:spPr>
          <a:xfrm>
            <a:off x="3127248" y="1458606"/>
            <a:ext cx="5532120" cy="941554"/>
          </a:xfrm>
          <a:prstGeom prst="rect">
            <a:avLst/>
          </a:prstGeom>
        </p:spPr>
      </p:pic>
      <p:sp>
        <p:nvSpPr>
          <p:cNvPr id="14" name="TextBox 13"/>
          <p:cNvSpPr txBox="1"/>
          <p:nvPr/>
        </p:nvSpPr>
        <p:spPr>
          <a:xfrm>
            <a:off x="3154680" y="2770632"/>
            <a:ext cx="914400" cy="274320"/>
          </a:xfrm>
          <a:prstGeom prst="rect">
            <a:avLst/>
          </a:prstGeom>
          <a:noFill/>
        </p:spPr>
        <p:txBody>
          <a:bodyPr wrap="square" lIns="0" tIns="0" rIns="0" bIns="0" anchor="t">
            <a:spAutoFit/>
          </a:bodyPr>
          <a:lstStyle/>
          <a:p>
            <a:pPr algn="l"/>
            <a:r>
              <a:rPr sz="1200" b="1" i="0">
                <a:solidFill>
                  <a:srgbClr val="C5162B"/>
                </a:solidFill>
                <a:latin typeface="Arial"/>
              </a:rPr>
              <a:t>IRRA</a:t>
            </a:r>
          </a:p>
        </p:txBody>
      </p:sp>
      <p:pic>
        <p:nvPicPr>
          <p:cNvPr id="15" name="Picture 14" descr="result_strip_2.jpeg"/>
          <p:cNvPicPr>
            <a:picLocks noChangeAspect="1"/>
          </p:cNvPicPr>
          <p:nvPr/>
        </p:nvPicPr>
        <p:blipFill>
          <a:blip r:embed="rId4"/>
          <a:stretch>
            <a:fillRect/>
          </a:stretch>
        </p:blipFill>
        <p:spPr>
          <a:xfrm>
            <a:off x="3127248" y="3077094"/>
            <a:ext cx="5532120" cy="941554"/>
          </a:xfrm>
          <a:prstGeom prst="rect">
            <a:avLst/>
          </a:prstGeom>
        </p:spPr>
      </p:pic>
      <p:sp>
        <p:nvSpPr>
          <p:cNvPr id="16" name="Rounded Rectangle 15"/>
          <p:cNvSpPr/>
          <p:nvPr/>
        </p:nvSpPr>
        <p:spPr>
          <a:xfrm>
            <a:off x="3127248" y="4434840"/>
            <a:ext cx="5532120" cy="1005840"/>
          </a:xfrm>
          <a:prstGeom prst="roundRect">
            <a:avLst/>
          </a:prstGeom>
          <a:solidFill>
            <a:srgbClr val="F3F4F6"/>
          </a:solidFill>
          <a:ln w="12700">
            <a:solidFill>
              <a:srgbClr val="E0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37560" y="4590288"/>
            <a:ext cx="2011680" cy="256032"/>
          </a:xfrm>
          <a:prstGeom prst="rect">
            <a:avLst/>
          </a:prstGeom>
          <a:noFill/>
        </p:spPr>
        <p:txBody>
          <a:bodyPr wrap="square" lIns="0" tIns="0" rIns="0" bIns="0" anchor="t">
            <a:spAutoFit/>
          </a:bodyPr>
          <a:lstStyle/>
          <a:p>
            <a:pPr algn="l"/>
            <a:r>
              <a:rPr sz="1500" b="1" i="0">
                <a:solidFill>
                  <a:srgbClr val="990014"/>
                </a:solidFill>
                <a:latin typeface="Arial"/>
              </a:rPr>
              <a:t>Cross-modal retrieval</a:t>
            </a:r>
          </a:p>
        </p:txBody>
      </p:sp>
      <p:sp>
        <p:nvSpPr>
          <p:cNvPr id="18" name="TextBox 17"/>
          <p:cNvSpPr txBox="1"/>
          <p:nvPr/>
        </p:nvSpPr>
        <p:spPr>
          <a:xfrm>
            <a:off x="3337560" y="4901184"/>
            <a:ext cx="4846320" cy="274320"/>
          </a:xfrm>
          <a:prstGeom prst="rect">
            <a:avLst/>
          </a:prstGeom>
          <a:noFill/>
        </p:spPr>
        <p:txBody>
          <a:bodyPr wrap="square" lIns="0" tIns="0" rIns="0" bIns="0" anchor="t">
            <a:spAutoFit/>
          </a:bodyPr>
          <a:lstStyle/>
          <a:p>
            <a:pPr algn="l"/>
            <a:r>
              <a:rPr sz="1400" b="0" i="0">
                <a:solidFill>
                  <a:srgbClr val="434343"/>
                </a:solidFill>
                <a:latin typeface="Arial"/>
              </a:rPr>
              <a:t>query = text  →  gallery = images  →  retrieve Top-k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000" b="1" i="0">
                <a:solidFill>
                  <a:srgbClr val="FFFFFF"/>
                </a:solidFill>
                <a:latin typeface="Arial"/>
              </a:rPr>
              <a:t>I. Introduction — Multimedia Database Perspective</a:t>
            </a:r>
          </a:p>
        </p:txBody>
      </p:sp>
      <p:sp>
        <p:nvSpPr>
          <p:cNvPr id="3" name="TextBox 2"/>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3</a:t>
            </a:r>
          </a:p>
        </p:txBody>
      </p:sp>
      <p:sp>
        <p:nvSpPr>
          <p:cNvPr id="4" name="Rounded Rectangle 3"/>
          <p:cNvSpPr/>
          <p:nvPr/>
        </p:nvSpPr>
        <p:spPr>
          <a:xfrm>
            <a:off x="1170432" y="920267"/>
            <a:ext cx="2788920" cy="329184"/>
          </a:xfrm>
          <a:prstGeom prst="roundRect">
            <a:avLst/>
          </a:prstGeom>
          <a:solidFill>
            <a:srgbClr val="206CAA"/>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70432" y="929411"/>
            <a:ext cx="2788920" cy="292608"/>
          </a:xfrm>
          <a:prstGeom prst="rect">
            <a:avLst/>
          </a:prstGeom>
          <a:noFill/>
        </p:spPr>
        <p:txBody>
          <a:bodyPr wrap="square" lIns="36576" tIns="36576" rIns="36576" bIns="36576" anchor="ctr">
            <a:spAutoFit/>
          </a:bodyPr>
          <a:lstStyle/>
          <a:p>
            <a:pPr algn="ctr"/>
            <a:r>
              <a:rPr sz="1100" b="1" i="0" dirty="0">
                <a:solidFill>
                  <a:srgbClr val="FFFFFF"/>
                </a:solidFill>
                <a:latin typeface="Arial"/>
              </a:rPr>
              <a:t>OFFLINE • GALLERY INDEXING</a:t>
            </a:r>
          </a:p>
        </p:txBody>
      </p:sp>
      <p:sp>
        <p:nvSpPr>
          <p:cNvPr id="17" name="Rounded Rectangle 16"/>
          <p:cNvSpPr/>
          <p:nvPr/>
        </p:nvSpPr>
        <p:spPr>
          <a:xfrm>
            <a:off x="1170432" y="3273553"/>
            <a:ext cx="2487168" cy="329184"/>
          </a:xfrm>
          <a:prstGeom prst="roundRect">
            <a:avLst/>
          </a:prstGeom>
          <a:solidFill>
            <a:srgbClr val="C5162B"/>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70432" y="3282696"/>
            <a:ext cx="2487168" cy="292608"/>
          </a:xfrm>
          <a:prstGeom prst="rect">
            <a:avLst/>
          </a:prstGeom>
          <a:noFill/>
        </p:spPr>
        <p:txBody>
          <a:bodyPr wrap="square" lIns="36576" tIns="36576" rIns="36576" bIns="36576" anchor="ctr">
            <a:spAutoFit/>
          </a:bodyPr>
          <a:lstStyle/>
          <a:p>
            <a:pPr algn="ctr"/>
            <a:r>
              <a:rPr sz="1100" b="1" i="0" dirty="0">
                <a:solidFill>
                  <a:srgbClr val="FFFFFF"/>
                </a:solidFill>
                <a:latin typeface="Arial"/>
              </a:rPr>
              <a:t>ONLINE • QUERY PROCESSING</a:t>
            </a:r>
          </a:p>
        </p:txBody>
      </p:sp>
      <p:pic>
        <p:nvPicPr>
          <p:cNvPr id="37" name="Picture 36">
            <a:extLst>
              <a:ext uri="{FF2B5EF4-FFF2-40B4-BE49-F238E27FC236}">
                <a16:creationId xmlns:a16="http://schemas.microsoft.com/office/drawing/2014/main" id="{17FBBC82-1B90-D6F7-59B4-309BC5E817DC}"/>
              </a:ext>
            </a:extLst>
          </p:cNvPr>
          <p:cNvPicPr>
            <a:picLocks noChangeAspect="1"/>
          </p:cNvPicPr>
          <p:nvPr/>
        </p:nvPicPr>
        <p:blipFill>
          <a:blip r:embed="rId3"/>
          <a:stretch>
            <a:fillRect/>
          </a:stretch>
        </p:blipFill>
        <p:spPr>
          <a:xfrm>
            <a:off x="1143000" y="1371782"/>
            <a:ext cx="6858000" cy="1755344"/>
          </a:xfrm>
          <a:prstGeom prst="rect">
            <a:avLst/>
          </a:prstGeom>
        </p:spPr>
      </p:pic>
      <p:pic>
        <p:nvPicPr>
          <p:cNvPr id="38" name="Picture 37">
            <a:extLst>
              <a:ext uri="{FF2B5EF4-FFF2-40B4-BE49-F238E27FC236}">
                <a16:creationId xmlns:a16="http://schemas.microsoft.com/office/drawing/2014/main" id="{47573135-CA77-7B1D-EE29-FEDACA03E37A}"/>
              </a:ext>
            </a:extLst>
          </p:cNvPr>
          <p:cNvPicPr>
            <a:picLocks noChangeAspect="1"/>
          </p:cNvPicPr>
          <p:nvPr/>
        </p:nvPicPr>
        <p:blipFill>
          <a:blip r:embed="rId4"/>
          <a:stretch>
            <a:fillRect/>
          </a:stretch>
        </p:blipFill>
        <p:spPr>
          <a:xfrm>
            <a:off x="1143000" y="3699921"/>
            <a:ext cx="6858000" cy="22527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300" b="1" i="0">
                <a:solidFill>
                  <a:srgbClr val="FFFFFF"/>
                </a:solidFill>
                <a:latin typeface="Arial"/>
              </a:rPr>
              <a:t>I. Introduction — Why Is the Task Difficult?</a:t>
            </a:r>
          </a:p>
        </p:txBody>
      </p:sp>
      <p:sp>
        <p:nvSpPr>
          <p:cNvPr id="3" name="TextBox 2"/>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4</a:t>
            </a:r>
          </a:p>
        </p:txBody>
      </p:sp>
      <p:sp>
        <p:nvSpPr>
          <p:cNvPr id="4" name="Rounded Rectangle 3"/>
          <p:cNvSpPr/>
          <p:nvPr/>
        </p:nvSpPr>
        <p:spPr>
          <a:xfrm>
            <a:off x="566928" y="1005840"/>
            <a:ext cx="3794760" cy="1993392"/>
          </a:xfrm>
          <a:prstGeom prst="roundRect">
            <a:avLst/>
          </a:prstGeom>
          <a:solidFill>
            <a:srgbClr val="F3F4F6"/>
          </a:solidFill>
          <a:ln w="12700">
            <a:solidFill>
              <a:srgbClr val="E0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95528" y="1252728"/>
            <a:ext cx="411480" cy="411480"/>
          </a:xfrm>
          <a:prstGeom prst="ellipse">
            <a:avLst/>
          </a:prstGeom>
          <a:solidFill>
            <a:srgbClr val="C5162B"/>
          </a:solidFill>
          <a:ln>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5528" y="1252728"/>
            <a:ext cx="411480" cy="411480"/>
          </a:xfrm>
          <a:prstGeom prst="rect">
            <a:avLst/>
          </a:prstGeom>
          <a:noFill/>
        </p:spPr>
        <p:txBody>
          <a:bodyPr wrap="square" lIns="0" tIns="0" rIns="0" bIns="0" anchor="ctr">
            <a:spAutoFit/>
          </a:bodyPr>
          <a:lstStyle/>
          <a:p>
            <a:pPr algn="ctr"/>
            <a:r>
              <a:rPr sz="1500" b="1" i="0">
                <a:solidFill>
                  <a:srgbClr val="FFFFFF"/>
                </a:solidFill>
                <a:latin typeface="Arial"/>
              </a:rPr>
              <a:t>1</a:t>
            </a:r>
          </a:p>
        </p:txBody>
      </p:sp>
      <p:sp>
        <p:nvSpPr>
          <p:cNvPr id="7" name="TextBox 6"/>
          <p:cNvSpPr txBox="1"/>
          <p:nvPr/>
        </p:nvSpPr>
        <p:spPr>
          <a:xfrm>
            <a:off x="1371600" y="1234440"/>
            <a:ext cx="2724912" cy="493776"/>
          </a:xfrm>
          <a:prstGeom prst="rect">
            <a:avLst/>
          </a:prstGeom>
          <a:noFill/>
        </p:spPr>
        <p:txBody>
          <a:bodyPr wrap="square" lIns="0" tIns="0" rIns="0" bIns="0" anchor="ctr">
            <a:spAutoFit/>
          </a:bodyPr>
          <a:lstStyle/>
          <a:p>
            <a:pPr algn="l"/>
            <a:r>
              <a:rPr sz="1600" b="1" i="0">
                <a:solidFill>
                  <a:srgbClr val="990014"/>
                </a:solidFill>
                <a:latin typeface="Arial"/>
              </a:rPr>
              <a:t>Large intra-identity variation</a:t>
            </a:r>
          </a:p>
        </p:txBody>
      </p:sp>
      <p:sp>
        <p:nvSpPr>
          <p:cNvPr id="8" name="TextBox 7"/>
          <p:cNvSpPr txBox="1"/>
          <p:nvPr/>
        </p:nvSpPr>
        <p:spPr>
          <a:xfrm>
            <a:off x="841247" y="1993392"/>
            <a:ext cx="3246120" cy="640080"/>
          </a:xfrm>
          <a:prstGeom prst="rect">
            <a:avLst/>
          </a:prstGeom>
          <a:noFill/>
        </p:spPr>
        <p:txBody>
          <a:bodyPr wrap="square" lIns="0" tIns="0" rIns="0" bIns="0" anchor="ctr">
            <a:spAutoFit/>
          </a:bodyPr>
          <a:lstStyle/>
          <a:p>
            <a:pPr algn="ctr"/>
            <a:r>
              <a:rPr sz="1400" b="0" i="0">
                <a:solidFill>
                  <a:srgbClr val="434343"/>
                </a:solidFill>
                <a:latin typeface="Arial"/>
              </a:rPr>
              <a:t>Viewpoint • pose • lighting • occlusion</a:t>
            </a:r>
          </a:p>
        </p:txBody>
      </p:sp>
      <p:sp>
        <p:nvSpPr>
          <p:cNvPr id="9" name="Rounded Rectangle 8"/>
          <p:cNvSpPr/>
          <p:nvPr/>
        </p:nvSpPr>
        <p:spPr>
          <a:xfrm>
            <a:off x="4617720" y="1005840"/>
            <a:ext cx="3794760" cy="1993392"/>
          </a:xfrm>
          <a:prstGeom prst="roundRect">
            <a:avLst/>
          </a:prstGeom>
          <a:solidFill>
            <a:srgbClr val="F3F4F6"/>
          </a:solidFill>
          <a:ln w="12700">
            <a:solidFill>
              <a:srgbClr val="E0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46320" y="1252728"/>
            <a:ext cx="411480" cy="411480"/>
          </a:xfrm>
          <a:prstGeom prst="ellipse">
            <a:avLst/>
          </a:prstGeom>
          <a:solidFill>
            <a:srgbClr val="206CAA"/>
          </a:solidFill>
          <a:ln>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46320" y="1252728"/>
            <a:ext cx="411480" cy="411480"/>
          </a:xfrm>
          <a:prstGeom prst="rect">
            <a:avLst/>
          </a:prstGeom>
          <a:noFill/>
        </p:spPr>
        <p:txBody>
          <a:bodyPr wrap="square" lIns="0" tIns="0" rIns="0" bIns="0" anchor="ctr">
            <a:spAutoFit/>
          </a:bodyPr>
          <a:lstStyle/>
          <a:p>
            <a:pPr algn="ctr"/>
            <a:r>
              <a:rPr sz="1500" b="1" i="0">
                <a:solidFill>
                  <a:srgbClr val="FFFFFF"/>
                </a:solidFill>
                <a:latin typeface="Arial"/>
              </a:rPr>
              <a:t>2</a:t>
            </a:r>
          </a:p>
        </p:txBody>
      </p:sp>
      <p:sp>
        <p:nvSpPr>
          <p:cNvPr id="12" name="TextBox 11"/>
          <p:cNvSpPr txBox="1"/>
          <p:nvPr/>
        </p:nvSpPr>
        <p:spPr>
          <a:xfrm>
            <a:off x="5422392" y="1234440"/>
            <a:ext cx="2724912" cy="493776"/>
          </a:xfrm>
          <a:prstGeom prst="rect">
            <a:avLst/>
          </a:prstGeom>
          <a:noFill/>
        </p:spPr>
        <p:txBody>
          <a:bodyPr wrap="square" lIns="0" tIns="0" rIns="0" bIns="0" anchor="ctr">
            <a:spAutoFit/>
          </a:bodyPr>
          <a:lstStyle/>
          <a:p>
            <a:pPr algn="l"/>
            <a:r>
              <a:rPr sz="1600" b="1" i="0">
                <a:solidFill>
                  <a:srgbClr val="990014"/>
                </a:solidFill>
                <a:latin typeface="Arial"/>
              </a:rPr>
              <a:t>Modality heterogeneity</a:t>
            </a:r>
          </a:p>
        </p:txBody>
      </p:sp>
      <p:sp>
        <p:nvSpPr>
          <p:cNvPr id="13" name="TextBox 12"/>
          <p:cNvSpPr txBox="1"/>
          <p:nvPr/>
        </p:nvSpPr>
        <p:spPr>
          <a:xfrm>
            <a:off x="4892040" y="1993392"/>
            <a:ext cx="3246120" cy="640080"/>
          </a:xfrm>
          <a:prstGeom prst="rect">
            <a:avLst/>
          </a:prstGeom>
          <a:noFill/>
        </p:spPr>
        <p:txBody>
          <a:bodyPr wrap="square" lIns="0" tIns="0" rIns="0" bIns="0" anchor="ctr">
            <a:spAutoFit/>
          </a:bodyPr>
          <a:lstStyle/>
          <a:p>
            <a:pPr algn="ctr"/>
            <a:r>
              <a:rPr sz="1400" b="0" i="0">
                <a:solidFill>
                  <a:srgbClr val="434343"/>
                </a:solidFill>
                <a:latin typeface="Arial"/>
              </a:rPr>
              <a:t>Pixels/patches ↔ tokens and word order</a:t>
            </a:r>
          </a:p>
        </p:txBody>
      </p:sp>
      <p:sp>
        <p:nvSpPr>
          <p:cNvPr id="14" name="Rounded Rectangle 13"/>
          <p:cNvSpPr/>
          <p:nvPr/>
        </p:nvSpPr>
        <p:spPr>
          <a:xfrm>
            <a:off x="566928" y="3401568"/>
            <a:ext cx="3794760" cy="1993392"/>
          </a:xfrm>
          <a:prstGeom prst="roundRect">
            <a:avLst/>
          </a:prstGeom>
          <a:solidFill>
            <a:srgbClr val="F3F4F6"/>
          </a:solidFill>
          <a:ln w="12700">
            <a:solidFill>
              <a:srgbClr val="E0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95528" y="3648456"/>
            <a:ext cx="411480" cy="411480"/>
          </a:xfrm>
          <a:prstGeom prst="ellipse">
            <a:avLst/>
          </a:prstGeom>
          <a:solidFill>
            <a:srgbClr val="EBA300"/>
          </a:solidFill>
          <a:ln>
            <a:solidFill>
              <a:srgbClr val="EB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5528" y="3648456"/>
            <a:ext cx="411480" cy="411480"/>
          </a:xfrm>
          <a:prstGeom prst="rect">
            <a:avLst/>
          </a:prstGeom>
          <a:noFill/>
        </p:spPr>
        <p:txBody>
          <a:bodyPr wrap="square" lIns="0" tIns="0" rIns="0" bIns="0" anchor="ctr">
            <a:spAutoFit/>
          </a:bodyPr>
          <a:lstStyle/>
          <a:p>
            <a:pPr algn="ctr"/>
            <a:r>
              <a:rPr sz="1500" b="1" i="0">
                <a:solidFill>
                  <a:srgbClr val="FFFFFF"/>
                </a:solidFill>
                <a:latin typeface="Arial"/>
              </a:rPr>
              <a:t>3</a:t>
            </a:r>
          </a:p>
        </p:txBody>
      </p:sp>
      <p:sp>
        <p:nvSpPr>
          <p:cNvPr id="17" name="TextBox 16"/>
          <p:cNvSpPr txBox="1"/>
          <p:nvPr/>
        </p:nvSpPr>
        <p:spPr>
          <a:xfrm>
            <a:off x="1371600" y="3630168"/>
            <a:ext cx="2724912" cy="493776"/>
          </a:xfrm>
          <a:prstGeom prst="rect">
            <a:avLst/>
          </a:prstGeom>
          <a:noFill/>
        </p:spPr>
        <p:txBody>
          <a:bodyPr wrap="square" lIns="0" tIns="0" rIns="0" bIns="0" anchor="ctr">
            <a:spAutoFit/>
          </a:bodyPr>
          <a:lstStyle/>
          <a:p>
            <a:pPr algn="l"/>
            <a:r>
              <a:rPr sz="1600" b="1" i="0">
                <a:solidFill>
                  <a:srgbClr val="990014"/>
                </a:solidFill>
                <a:latin typeface="Arial"/>
              </a:rPr>
              <a:t>Subtle discriminative details</a:t>
            </a:r>
          </a:p>
        </p:txBody>
      </p:sp>
      <p:sp>
        <p:nvSpPr>
          <p:cNvPr id="18" name="TextBox 17"/>
          <p:cNvSpPr txBox="1"/>
          <p:nvPr/>
        </p:nvSpPr>
        <p:spPr>
          <a:xfrm>
            <a:off x="841247" y="4389120"/>
            <a:ext cx="3246120" cy="640080"/>
          </a:xfrm>
          <a:prstGeom prst="rect">
            <a:avLst/>
          </a:prstGeom>
          <a:noFill/>
        </p:spPr>
        <p:txBody>
          <a:bodyPr wrap="square" lIns="0" tIns="0" rIns="0" bIns="0" anchor="ctr">
            <a:spAutoFit/>
          </a:bodyPr>
          <a:lstStyle/>
          <a:p>
            <a:pPr algn="ctr"/>
            <a:r>
              <a:rPr sz="1400" b="0" i="0">
                <a:solidFill>
                  <a:srgbClr val="434343"/>
                </a:solidFill>
                <a:latin typeface="Arial"/>
              </a:rPr>
              <a:t>White/black bag • striped/plain shirt • shoes</a:t>
            </a:r>
          </a:p>
        </p:txBody>
      </p:sp>
      <p:sp>
        <p:nvSpPr>
          <p:cNvPr id="19" name="Rounded Rectangle 18"/>
          <p:cNvSpPr/>
          <p:nvPr/>
        </p:nvSpPr>
        <p:spPr>
          <a:xfrm>
            <a:off x="4617720" y="3401568"/>
            <a:ext cx="3794760" cy="1993392"/>
          </a:xfrm>
          <a:prstGeom prst="roundRect">
            <a:avLst/>
          </a:prstGeom>
          <a:solidFill>
            <a:srgbClr val="F3F4F6"/>
          </a:solidFill>
          <a:ln w="12700">
            <a:solidFill>
              <a:srgbClr val="E0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846320" y="3648456"/>
            <a:ext cx="411480" cy="411480"/>
          </a:xfrm>
          <a:prstGeom prst="ellipse">
            <a:avLst/>
          </a:prstGeom>
          <a:solidFill>
            <a:srgbClr val="318F87"/>
          </a:solidFill>
          <a:ln>
            <a:solidFill>
              <a:srgbClr val="31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46320" y="3648456"/>
            <a:ext cx="411480" cy="411480"/>
          </a:xfrm>
          <a:prstGeom prst="rect">
            <a:avLst/>
          </a:prstGeom>
          <a:noFill/>
        </p:spPr>
        <p:txBody>
          <a:bodyPr wrap="square" lIns="0" tIns="0" rIns="0" bIns="0" anchor="ctr">
            <a:spAutoFit/>
          </a:bodyPr>
          <a:lstStyle/>
          <a:p>
            <a:pPr algn="ctr"/>
            <a:r>
              <a:rPr sz="1500" b="1" i="0">
                <a:solidFill>
                  <a:srgbClr val="FFFFFF"/>
                </a:solidFill>
                <a:latin typeface="Arial"/>
              </a:rPr>
              <a:t>4</a:t>
            </a:r>
          </a:p>
        </p:txBody>
      </p:sp>
      <p:sp>
        <p:nvSpPr>
          <p:cNvPr id="22" name="TextBox 21"/>
          <p:cNvSpPr txBox="1"/>
          <p:nvPr/>
        </p:nvSpPr>
        <p:spPr>
          <a:xfrm>
            <a:off x="5422392" y="3630168"/>
            <a:ext cx="2724912" cy="493776"/>
          </a:xfrm>
          <a:prstGeom prst="rect">
            <a:avLst/>
          </a:prstGeom>
          <a:noFill/>
        </p:spPr>
        <p:txBody>
          <a:bodyPr wrap="square" lIns="0" tIns="0" rIns="0" bIns="0" anchor="ctr">
            <a:spAutoFit/>
          </a:bodyPr>
          <a:lstStyle/>
          <a:p>
            <a:pPr algn="l"/>
            <a:r>
              <a:rPr sz="1600" b="1" i="0">
                <a:solidFill>
                  <a:srgbClr val="990014"/>
                </a:solidFill>
                <a:latin typeface="Arial"/>
              </a:rPr>
              <a:t>Language ambiguity</a:t>
            </a:r>
          </a:p>
        </p:txBody>
      </p:sp>
      <p:sp>
        <p:nvSpPr>
          <p:cNvPr id="23" name="TextBox 22"/>
          <p:cNvSpPr txBox="1"/>
          <p:nvPr/>
        </p:nvSpPr>
        <p:spPr>
          <a:xfrm>
            <a:off x="4892040" y="4389120"/>
            <a:ext cx="3246120" cy="640080"/>
          </a:xfrm>
          <a:prstGeom prst="rect">
            <a:avLst/>
          </a:prstGeom>
          <a:noFill/>
        </p:spPr>
        <p:txBody>
          <a:bodyPr wrap="square" lIns="0" tIns="0" rIns="0" bIns="0" anchor="ctr">
            <a:spAutoFit/>
          </a:bodyPr>
          <a:lstStyle/>
          <a:p>
            <a:pPr algn="ctr"/>
            <a:r>
              <a:rPr sz="1400" b="0" i="0">
                <a:solidFill>
                  <a:srgbClr val="434343"/>
                </a:solidFill>
                <a:latin typeface="Arial"/>
              </a:rPr>
              <a:t>Arbitrary order • missing attributes • synonyms</a:t>
            </a:r>
          </a:p>
        </p:txBody>
      </p:sp>
      <p:sp>
        <p:nvSpPr>
          <p:cNvPr id="24" name="TextBox 23"/>
          <p:cNvSpPr txBox="1"/>
          <p:nvPr/>
        </p:nvSpPr>
        <p:spPr>
          <a:xfrm>
            <a:off x="1097280" y="5705856"/>
            <a:ext cx="6949440" cy="292608"/>
          </a:xfrm>
          <a:prstGeom prst="rect">
            <a:avLst/>
          </a:prstGeom>
          <a:noFill/>
        </p:spPr>
        <p:txBody>
          <a:bodyPr wrap="square" lIns="0" tIns="0" rIns="0" bIns="0" anchor="t">
            <a:spAutoFit/>
          </a:bodyPr>
          <a:lstStyle/>
          <a:p>
            <a:pPr algn="ctr"/>
            <a:r>
              <a:rPr sz="1400" b="1" i="0">
                <a:solidFill>
                  <a:srgbClr val="990014"/>
                </a:solidFill>
                <a:latin typeface="Arial"/>
              </a:rPr>
              <a:t>Learn fine-grained local cues while retaining efficient global retrieval.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300" b="1" i="0">
                <a:solidFill>
                  <a:srgbClr val="FFFFFF"/>
                </a:solidFill>
                <a:latin typeface="Arial"/>
              </a:rPr>
              <a:t>I. Background — Three Matching Paradigms</a:t>
            </a:r>
          </a:p>
        </p:txBody>
      </p:sp>
      <p:sp>
        <p:nvSpPr>
          <p:cNvPr id="3" name="TextBox 2"/>
          <p:cNvSpPr txBox="1"/>
          <p:nvPr/>
        </p:nvSpPr>
        <p:spPr>
          <a:xfrm>
            <a:off x="658368" y="6236208"/>
            <a:ext cx="7726679" cy="182880"/>
          </a:xfrm>
          <a:prstGeom prst="rect">
            <a:avLst/>
          </a:prstGeom>
          <a:noFill/>
        </p:spPr>
        <p:txBody>
          <a:bodyPr wrap="square" lIns="0" tIns="0" rIns="0" bIns="0" anchor="t">
            <a:spAutoFit/>
          </a:bodyPr>
          <a:lstStyle/>
          <a:p>
            <a:pPr algn="l"/>
            <a:r>
              <a:rPr sz="750" b="0" i="1">
                <a:solidFill>
                  <a:srgbClr val="696969"/>
                </a:solidFill>
                <a:latin typeface="Arial"/>
              </a:rPr>
              <a:t>Source: Jiang &amp; Ye, CVPR 2023, Fig. 1</a:t>
            </a:r>
          </a:p>
        </p:txBody>
      </p:sp>
      <p:sp>
        <p:nvSpPr>
          <p:cNvPr id="4" name="TextBox 3"/>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5</a:t>
            </a:r>
          </a:p>
        </p:txBody>
      </p:sp>
      <p:sp>
        <p:nvSpPr>
          <p:cNvPr id="5" name="Rounded Rectangle 4"/>
          <p:cNvSpPr/>
          <p:nvPr/>
        </p:nvSpPr>
        <p:spPr>
          <a:xfrm>
            <a:off x="484632" y="1060704"/>
            <a:ext cx="3794760" cy="1243584"/>
          </a:xfrm>
          <a:prstGeom prst="roundRect">
            <a:avLst/>
          </a:prstGeom>
          <a:solidFill>
            <a:srgbClr val="F3F4F6"/>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94944" y="1243584"/>
            <a:ext cx="1335024" cy="329184"/>
          </a:xfrm>
          <a:prstGeom prst="roundRect">
            <a:avLst/>
          </a:prstGeom>
          <a:solidFill>
            <a:srgbClr val="206CAA"/>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4944" y="1252728"/>
            <a:ext cx="1335024" cy="292608"/>
          </a:xfrm>
          <a:prstGeom prst="rect">
            <a:avLst/>
          </a:prstGeom>
          <a:noFill/>
        </p:spPr>
        <p:txBody>
          <a:bodyPr wrap="square" lIns="36576" tIns="36576" rIns="36576" bIns="36576" anchor="ctr">
            <a:spAutoFit/>
          </a:bodyPr>
          <a:lstStyle/>
          <a:p>
            <a:pPr algn="ctr"/>
            <a:r>
              <a:rPr sz="1050" b="1" i="0">
                <a:solidFill>
                  <a:srgbClr val="FFFFFF"/>
                </a:solidFill>
                <a:latin typeface="Arial"/>
              </a:rPr>
              <a:t>GLOBAL</a:t>
            </a:r>
          </a:p>
        </p:txBody>
      </p:sp>
      <p:sp>
        <p:nvSpPr>
          <p:cNvPr id="8" name="TextBox 7"/>
          <p:cNvSpPr txBox="1"/>
          <p:nvPr/>
        </p:nvSpPr>
        <p:spPr>
          <a:xfrm>
            <a:off x="2212848" y="1207007"/>
            <a:ext cx="1810512" cy="402336"/>
          </a:xfrm>
          <a:prstGeom prst="rect">
            <a:avLst/>
          </a:prstGeom>
          <a:noFill/>
        </p:spPr>
        <p:txBody>
          <a:bodyPr wrap="square" lIns="0" tIns="0" rIns="0" bIns="0" anchor="t">
            <a:spAutoFit/>
          </a:bodyPr>
          <a:lstStyle/>
          <a:p>
            <a:pPr algn="l"/>
            <a:r>
              <a:rPr sz="1400" b="1" i="0">
                <a:solidFill>
                  <a:srgbClr val="990014"/>
                </a:solidFill>
                <a:latin typeface="Arial"/>
              </a:rPr>
              <a:t>One image vector ↔ one text vector</a:t>
            </a:r>
          </a:p>
        </p:txBody>
      </p:sp>
      <p:sp>
        <p:nvSpPr>
          <p:cNvPr id="9" name="TextBox 8"/>
          <p:cNvSpPr txBox="1"/>
          <p:nvPr/>
        </p:nvSpPr>
        <p:spPr>
          <a:xfrm>
            <a:off x="2212848" y="1673352"/>
            <a:ext cx="1792224" cy="438912"/>
          </a:xfrm>
          <a:prstGeom prst="rect">
            <a:avLst/>
          </a:prstGeom>
          <a:noFill/>
        </p:spPr>
        <p:txBody>
          <a:bodyPr wrap="square" lIns="0" tIns="0" rIns="0" bIns="0" anchor="t">
            <a:spAutoFit/>
          </a:bodyPr>
          <a:lstStyle/>
          <a:p>
            <a:pPr algn="l"/>
            <a:r>
              <a:rPr sz="1250" b="0" i="0">
                <a:solidFill>
                  <a:srgbClr val="434343"/>
                </a:solidFill>
                <a:latin typeface="Arial"/>
              </a:rPr>
              <a:t>Fast, but misses fine details</a:t>
            </a:r>
          </a:p>
        </p:txBody>
      </p:sp>
      <p:sp>
        <p:nvSpPr>
          <p:cNvPr id="10" name="Rounded Rectangle 9"/>
          <p:cNvSpPr/>
          <p:nvPr/>
        </p:nvSpPr>
        <p:spPr>
          <a:xfrm>
            <a:off x="484632" y="2578608"/>
            <a:ext cx="3794760" cy="1243584"/>
          </a:xfrm>
          <a:prstGeom prst="roundRect">
            <a:avLst/>
          </a:prstGeom>
          <a:solidFill>
            <a:srgbClr val="F3F4F6"/>
          </a:solidFill>
          <a:ln w="12700">
            <a:solidFill>
              <a:srgbClr val="EB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94944" y="2761488"/>
            <a:ext cx="1335024" cy="329184"/>
          </a:xfrm>
          <a:prstGeom prst="roundRect">
            <a:avLst/>
          </a:prstGeom>
          <a:solidFill>
            <a:srgbClr val="EBA300"/>
          </a:solidFill>
          <a:ln w="12700">
            <a:solidFill>
              <a:srgbClr val="EB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4944" y="2770632"/>
            <a:ext cx="1335024" cy="292608"/>
          </a:xfrm>
          <a:prstGeom prst="rect">
            <a:avLst/>
          </a:prstGeom>
          <a:noFill/>
        </p:spPr>
        <p:txBody>
          <a:bodyPr wrap="square" lIns="36576" tIns="36576" rIns="36576" bIns="36576" anchor="ctr">
            <a:spAutoFit/>
          </a:bodyPr>
          <a:lstStyle/>
          <a:p>
            <a:pPr algn="ctr"/>
            <a:r>
              <a:rPr sz="1050" b="1" i="0">
                <a:solidFill>
                  <a:srgbClr val="FFFFFF"/>
                </a:solidFill>
                <a:latin typeface="Arial"/>
              </a:rPr>
              <a:t>EXPLICIT LOCAL</a:t>
            </a:r>
          </a:p>
        </p:txBody>
      </p:sp>
      <p:sp>
        <p:nvSpPr>
          <p:cNvPr id="13" name="TextBox 12"/>
          <p:cNvSpPr txBox="1"/>
          <p:nvPr/>
        </p:nvSpPr>
        <p:spPr>
          <a:xfrm>
            <a:off x="2212848" y="2724912"/>
            <a:ext cx="1810512" cy="402336"/>
          </a:xfrm>
          <a:prstGeom prst="rect">
            <a:avLst/>
          </a:prstGeom>
          <a:noFill/>
        </p:spPr>
        <p:txBody>
          <a:bodyPr wrap="square" lIns="0" tIns="0" rIns="0" bIns="0" anchor="t">
            <a:spAutoFit/>
          </a:bodyPr>
          <a:lstStyle/>
          <a:p>
            <a:pPr algn="l"/>
            <a:r>
              <a:rPr sz="1400" b="1" i="0">
                <a:solidFill>
                  <a:srgbClr val="990014"/>
                </a:solidFill>
                <a:latin typeface="Arial"/>
              </a:rPr>
              <a:t>Body parts ↔ textual phrases</a:t>
            </a:r>
          </a:p>
        </p:txBody>
      </p:sp>
      <p:sp>
        <p:nvSpPr>
          <p:cNvPr id="14" name="TextBox 13"/>
          <p:cNvSpPr txBox="1"/>
          <p:nvPr/>
        </p:nvSpPr>
        <p:spPr>
          <a:xfrm>
            <a:off x="2212848" y="3191256"/>
            <a:ext cx="1792224" cy="438912"/>
          </a:xfrm>
          <a:prstGeom prst="rect">
            <a:avLst/>
          </a:prstGeom>
          <a:noFill/>
        </p:spPr>
        <p:txBody>
          <a:bodyPr wrap="square" lIns="0" tIns="0" rIns="0" bIns="0" anchor="t">
            <a:spAutoFit/>
          </a:bodyPr>
          <a:lstStyle/>
          <a:p>
            <a:pPr algn="l"/>
            <a:r>
              <a:rPr sz="1250" b="0" i="0">
                <a:solidFill>
                  <a:srgbClr val="434343"/>
                </a:solidFill>
                <a:latin typeface="Arial"/>
              </a:rPr>
              <a:t>Noisy priors; multiple vectors to store and compare</a:t>
            </a:r>
          </a:p>
        </p:txBody>
      </p:sp>
      <p:sp>
        <p:nvSpPr>
          <p:cNvPr id="15" name="Rounded Rectangle 14"/>
          <p:cNvSpPr/>
          <p:nvPr/>
        </p:nvSpPr>
        <p:spPr>
          <a:xfrm>
            <a:off x="484632" y="4096511"/>
            <a:ext cx="3794760" cy="1243584"/>
          </a:xfrm>
          <a:prstGeom prst="roundRect">
            <a:avLst/>
          </a:prstGeom>
          <a:solidFill>
            <a:srgbClr val="F3F4F6"/>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94944" y="4279392"/>
            <a:ext cx="1335024" cy="329184"/>
          </a:xfrm>
          <a:prstGeom prst="roundRect">
            <a:avLst/>
          </a:prstGeom>
          <a:solidFill>
            <a:srgbClr val="C5162B"/>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4944" y="4288536"/>
            <a:ext cx="1335024" cy="292608"/>
          </a:xfrm>
          <a:prstGeom prst="rect">
            <a:avLst/>
          </a:prstGeom>
          <a:noFill/>
        </p:spPr>
        <p:txBody>
          <a:bodyPr wrap="square" lIns="36576" tIns="36576" rIns="36576" bIns="36576" anchor="ctr">
            <a:spAutoFit/>
          </a:bodyPr>
          <a:lstStyle/>
          <a:p>
            <a:pPr algn="ctr"/>
            <a:r>
              <a:rPr sz="1050" b="1" i="0">
                <a:solidFill>
                  <a:srgbClr val="FFFFFF"/>
                </a:solidFill>
                <a:latin typeface="Arial"/>
              </a:rPr>
              <a:t>IRRA</a:t>
            </a:r>
          </a:p>
        </p:txBody>
      </p:sp>
      <p:sp>
        <p:nvSpPr>
          <p:cNvPr id="18" name="TextBox 17"/>
          <p:cNvSpPr txBox="1"/>
          <p:nvPr/>
        </p:nvSpPr>
        <p:spPr>
          <a:xfrm>
            <a:off x="2212848" y="4242816"/>
            <a:ext cx="2066544" cy="430887"/>
          </a:xfrm>
          <a:prstGeom prst="rect">
            <a:avLst/>
          </a:prstGeom>
          <a:noFill/>
        </p:spPr>
        <p:txBody>
          <a:bodyPr wrap="square" lIns="0" tIns="0" rIns="0" bIns="0" anchor="t">
            <a:spAutoFit/>
          </a:bodyPr>
          <a:lstStyle/>
          <a:p>
            <a:pPr algn="l"/>
            <a:r>
              <a:rPr sz="1400" b="1" i="0" dirty="0">
                <a:solidFill>
                  <a:srgbClr val="990014"/>
                </a:solidFill>
                <a:latin typeface="Arial"/>
              </a:rPr>
              <a:t>Implicit local learning during training</a:t>
            </a:r>
          </a:p>
        </p:txBody>
      </p:sp>
      <p:sp>
        <p:nvSpPr>
          <p:cNvPr id="19" name="TextBox 18"/>
          <p:cNvSpPr txBox="1"/>
          <p:nvPr/>
        </p:nvSpPr>
        <p:spPr>
          <a:xfrm>
            <a:off x="2212848" y="4709159"/>
            <a:ext cx="1792224" cy="438912"/>
          </a:xfrm>
          <a:prstGeom prst="rect">
            <a:avLst/>
          </a:prstGeom>
          <a:noFill/>
        </p:spPr>
        <p:txBody>
          <a:bodyPr wrap="square" lIns="0" tIns="0" rIns="0" bIns="0" anchor="t">
            <a:spAutoFit/>
          </a:bodyPr>
          <a:lstStyle/>
          <a:p>
            <a:pPr algn="l"/>
            <a:r>
              <a:rPr sz="1250" b="0" i="0">
                <a:solidFill>
                  <a:srgbClr val="434343"/>
                </a:solidFill>
                <a:latin typeface="Arial"/>
              </a:rPr>
              <a:t>Global embeddings at inference</a:t>
            </a:r>
          </a:p>
        </p:txBody>
      </p:sp>
      <p:sp>
        <p:nvSpPr>
          <p:cNvPr id="20" name="Rounded Rectangle 19"/>
          <p:cNvSpPr/>
          <p:nvPr/>
        </p:nvSpPr>
        <p:spPr>
          <a:xfrm>
            <a:off x="4507992" y="1005840"/>
            <a:ext cx="4142232" cy="4809744"/>
          </a:xfrm>
          <a:prstGeom prst="roundRect">
            <a:avLst/>
          </a:prstGeom>
          <a:solidFill>
            <a:srgbClr val="FFFFFF"/>
          </a:solidFill>
          <a:ln w="12700">
            <a:solidFill>
              <a:srgbClr val="E1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fig1.png"/>
          <p:cNvPicPr>
            <a:picLocks noChangeAspect="1"/>
          </p:cNvPicPr>
          <p:nvPr/>
        </p:nvPicPr>
        <p:blipFill>
          <a:blip r:embed="rId3"/>
          <a:stretch>
            <a:fillRect/>
          </a:stretch>
        </p:blipFill>
        <p:spPr>
          <a:xfrm>
            <a:off x="4626864" y="1632752"/>
            <a:ext cx="3895344" cy="342790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300" b="1" i="0">
                <a:solidFill>
                  <a:srgbClr val="FFFFFF"/>
                </a:solidFill>
                <a:latin typeface="Arial"/>
              </a:rPr>
              <a:t>I. Background — Dual-Stream Models and CLIP</a:t>
            </a:r>
          </a:p>
        </p:txBody>
      </p:sp>
      <p:sp>
        <p:nvSpPr>
          <p:cNvPr id="3" name="TextBox 2"/>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6</a:t>
            </a:r>
          </a:p>
        </p:txBody>
      </p:sp>
      <p:sp>
        <p:nvSpPr>
          <p:cNvPr id="4" name="Rounded Rectangle 3"/>
          <p:cNvSpPr/>
          <p:nvPr/>
        </p:nvSpPr>
        <p:spPr>
          <a:xfrm>
            <a:off x="502920" y="1005840"/>
            <a:ext cx="3840480" cy="4526280"/>
          </a:xfrm>
          <a:prstGeom prst="roundRect">
            <a:avLst/>
          </a:prstGeom>
          <a:solidFill>
            <a:srgbClr val="F3F4F6"/>
          </a:solidFill>
          <a:ln w="12700">
            <a:solidFill>
              <a:srgbClr val="E0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234440" y="1261872"/>
            <a:ext cx="2331720" cy="329184"/>
          </a:xfrm>
          <a:prstGeom prst="roundRect">
            <a:avLst/>
          </a:prstGeom>
          <a:solidFill>
            <a:srgbClr val="434343"/>
          </a:solidFill>
          <a:ln w="12700">
            <a:solidFill>
              <a:srgbClr val="43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34440" y="1271016"/>
            <a:ext cx="2331720" cy="292608"/>
          </a:xfrm>
          <a:prstGeom prst="rect">
            <a:avLst/>
          </a:prstGeom>
          <a:noFill/>
        </p:spPr>
        <p:txBody>
          <a:bodyPr wrap="square" lIns="36576" tIns="36576" rIns="36576" bIns="36576" anchor="ctr">
            <a:spAutoFit/>
          </a:bodyPr>
          <a:lstStyle/>
          <a:p>
            <a:pPr algn="ctr"/>
            <a:r>
              <a:rPr sz="1200" b="1" i="0">
                <a:solidFill>
                  <a:srgbClr val="FFFFFF"/>
                </a:solidFill>
                <a:latin typeface="Arial"/>
              </a:rPr>
              <a:t>SINGLE-STREAM</a:t>
            </a:r>
          </a:p>
        </p:txBody>
      </p:sp>
      <p:sp>
        <p:nvSpPr>
          <p:cNvPr id="7" name="TextBox 6"/>
          <p:cNvSpPr txBox="1"/>
          <p:nvPr/>
        </p:nvSpPr>
        <p:spPr>
          <a:xfrm>
            <a:off x="960120" y="1865376"/>
            <a:ext cx="2907792" cy="347472"/>
          </a:xfrm>
          <a:prstGeom prst="rect">
            <a:avLst/>
          </a:prstGeom>
          <a:noFill/>
        </p:spPr>
        <p:txBody>
          <a:bodyPr wrap="square" lIns="0" tIns="0" rIns="0" bIns="0" anchor="t">
            <a:spAutoFit/>
          </a:bodyPr>
          <a:lstStyle/>
          <a:p>
            <a:pPr algn="ctr"/>
            <a:r>
              <a:rPr sz="1500" b="1" i="0">
                <a:solidFill>
                  <a:srgbClr val="434343"/>
                </a:solidFill>
                <a:latin typeface="Arial"/>
              </a:rPr>
              <a:t>[ image tokens + text tokens ]</a:t>
            </a:r>
          </a:p>
        </p:txBody>
      </p:sp>
      <p:sp>
        <p:nvSpPr>
          <p:cNvPr id="8" name="Chevron 7"/>
          <p:cNvSpPr/>
          <p:nvPr/>
        </p:nvSpPr>
        <p:spPr>
          <a:xfrm>
            <a:off x="2249424" y="2350008"/>
            <a:ext cx="329184" cy="475488"/>
          </a:xfrm>
          <a:prstGeom prst="chevron">
            <a:avLst/>
          </a:prstGeom>
          <a:solidFill>
            <a:srgbClr val="434343"/>
          </a:solidFill>
          <a:ln>
            <a:solidFill>
              <a:srgbClr val="43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179576" y="3017520"/>
            <a:ext cx="2487168" cy="786384"/>
          </a:xfrm>
          <a:prstGeom prst="roundRect">
            <a:avLst/>
          </a:prstGeom>
          <a:solidFill>
            <a:srgbClr val="FFFFFF"/>
          </a:solidFill>
          <a:ln w="12700">
            <a:solidFill>
              <a:srgbClr val="43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80160" y="3218688"/>
            <a:ext cx="2286000" cy="292608"/>
          </a:xfrm>
          <a:prstGeom prst="rect">
            <a:avLst/>
          </a:prstGeom>
          <a:noFill/>
        </p:spPr>
        <p:txBody>
          <a:bodyPr wrap="square" lIns="0" tIns="0" rIns="0" bIns="0" anchor="t">
            <a:spAutoFit/>
          </a:bodyPr>
          <a:lstStyle/>
          <a:p>
            <a:pPr algn="ctr"/>
            <a:r>
              <a:rPr sz="1400" b="1" i="0">
                <a:solidFill>
                  <a:srgbClr val="434343"/>
                </a:solidFill>
                <a:latin typeface="Arial"/>
              </a:rPr>
              <a:t>JOINT TRANSFORMER</a:t>
            </a:r>
          </a:p>
        </p:txBody>
      </p:sp>
      <p:sp>
        <p:nvSpPr>
          <p:cNvPr id="11" name="TextBox 10"/>
          <p:cNvSpPr txBox="1"/>
          <p:nvPr/>
        </p:nvSpPr>
        <p:spPr>
          <a:xfrm>
            <a:off x="960120" y="4233672"/>
            <a:ext cx="2907792" cy="749808"/>
          </a:xfrm>
          <a:prstGeom prst="rect">
            <a:avLst/>
          </a:prstGeom>
          <a:noFill/>
        </p:spPr>
        <p:txBody>
          <a:bodyPr wrap="square" lIns="0" tIns="0" rIns="0" bIns="0" anchor="t">
            <a:spAutoFit/>
          </a:bodyPr>
          <a:lstStyle/>
          <a:p>
            <a:pPr algn="ctr"/>
            <a:r>
              <a:rPr sz="1400" b="0" i="0">
                <a:solidFill>
                  <a:srgbClr val="434343"/>
                </a:solidFill>
                <a:latin typeface="Arial"/>
              </a:rPr>
              <a:t>+ Strong cross-modal interaction
− Recomputed for every image–text pair</a:t>
            </a:r>
          </a:p>
        </p:txBody>
      </p:sp>
      <p:sp>
        <p:nvSpPr>
          <p:cNvPr id="12" name="Rounded Rectangle 11"/>
          <p:cNvSpPr/>
          <p:nvPr/>
        </p:nvSpPr>
        <p:spPr>
          <a:xfrm>
            <a:off x="4617720" y="1005840"/>
            <a:ext cx="4005072" cy="4526280"/>
          </a:xfrm>
          <a:prstGeom prst="roundRect">
            <a:avLst/>
          </a:prstGeom>
          <a:solidFill>
            <a:srgbClr val="FDEBEB"/>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413248" y="1261872"/>
            <a:ext cx="2423160" cy="329184"/>
          </a:xfrm>
          <a:prstGeom prst="roundRect">
            <a:avLst/>
          </a:prstGeom>
          <a:solidFill>
            <a:srgbClr val="C5162B"/>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13248" y="1271016"/>
            <a:ext cx="2423160" cy="292608"/>
          </a:xfrm>
          <a:prstGeom prst="rect">
            <a:avLst/>
          </a:prstGeom>
          <a:noFill/>
        </p:spPr>
        <p:txBody>
          <a:bodyPr wrap="square" lIns="36576" tIns="36576" rIns="36576" bIns="36576" anchor="ctr">
            <a:spAutoFit/>
          </a:bodyPr>
          <a:lstStyle/>
          <a:p>
            <a:pPr algn="ctr"/>
            <a:r>
              <a:rPr sz="1200" b="1" i="0">
                <a:solidFill>
                  <a:srgbClr val="FFFFFF"/>
                </a:solidFill>
                <a:latin typeface="Arial"/>
              </a:rPr>
              <a:t>DUAL-STREAM • CLIP</a:t>
            </a:r>
          </a:p>
        </p:txBody>
      </p:sp>
      <p:sp>
        <p:nvSpPr>
          <p:cNvPr id="15" name="Rounded Rectangle 14"/>
          <p:cNvSpPr/>
          <p:nvPr/>
        </p:nvSpPr>
        <p:spPr>
          <a:xfrm>
            <a:off x="4983480" y="1993392"/>
            <a:ext cx="1316736" cy="804672"/>
          </a:xfrm>
          <a:prstGeom prst="roundRect">
            <a:avLst/>
          </a:prstGeom>
          <a:solidFill>
            <a:srgbClr val="E8F1F9"/>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74920" y="2148840"/>
            <a:ext cx="1133856" cy="457200"/>
          </a:xfrm>
          <a:prstGeom prst="rect">
            <a:avLst/>
          </a:prstGeom>
          <a:noFill/>
        </p:spPr>
        <p:txBody>
          <a:bodyPr wrap="square" lIns="0" tIns="0" rIns="0" bIns="0" anchor="t">
            <a:spAutoFit/>
          </a:bodyPr>
          <a:lstStyle/>
          <a:p>
            <a:pPr algn="ctr"/>
            <a:r>
              <a:rPr sz="1200" b="1" i="0">
                <a:solidFill>
                  <a:srgbClr val="206CAA"/>
                </a:solidFill>
                <a:latin typeface="Arial"/>
              </a:rPr>
              <a:t>IMAGE
ENCODER</a:t>
            </a:r>
          </a:p>
        </p:txBody>
      </p:sp>
      <p:sp>
        <p:nvSpPr>
          <p:cNvPr id="17" name="Rounded Rectangle 16"/>
          <p:cNvSpPr/>
          <p:nvPr/>
        </p:nvSpPr>
        <p:spPr>
          <a:xfrm>
            <a:off x="6949440" y="1993392"/>
            <a:ext cx="1316736" cy="804672"/>
          </a:xfrm>
          <a:prstGeom prst="roundRect">
            <a:avLst/>
          </a:prstGeom>
          <a:solidFill>
            <a:srgbClr val="FDEBEB"/>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040880" y="2148840"/>
            <a:ext cx="1133856" cy="457200"/>
          </a:xfrm>
          <a:prstGeom prst="rect">
            <a:avLst/>
          </a:prstGeom>
          <a:noFill/>
        </p:spPr>
        <p:txBody>
          <a:bodyPr wrap="square" lIns="0" tIns="0" rIns="0" bIns="0" anchor="t">
            <a:spAutoFit/>
          </a:bodyPr>
          <a:lstStyle/>
          <a:p>
            <a:pPr algn="ctr"/>
            <a:r>
              <a:rPr sz="1200" b="1" i="0">
                <a:solidFill>
                  <a:srgbClr val="C5162B"/>
                </a:solidFill>
                <a:latin typeface="Arial"/>
              </a:rPr>
              <a:t>TEXT
ENCODER</a:t>
            </a:r>
          </a:p>
        </p:txBody>
      </p:sp>
      <p:cxnSp>
        <p:nvCxnSpPr>
          <p:cNvPr id="19" name="Connector 18"/>
          <p:cNvCxnSpPr/>
          <p:nvPr/>
        </p:nvCxnSpPr>
        <p:spPr>
          <a:xfrm>
            <a:off x="6300216" y="2395728"/>
            <a:ext cx="649224" cy="0"/>
          </a:xfrm>
          <a:prstGeom prst="line">
            <a:avLst/>
          </a:prstGeom>
          <a:ln w="25400">
            <a:solidFill>
              <a:srgbClr val="99001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907024" y="2962656"/>
            <a:ext cx="1463040" cy="320040"/>
          </a:xfrm>
          <a:prstGeom prst="rect">
            <a:avLst/>
          </a:prstGeom>
          <a:noFill/>
        </p:spPr>
        <p:txBody>
          <a:bodyPr wrap="square" lIns="0" tIns="0" rIns="0" bIns="0" anchor="t">
            <a:spAutoFit/>
          </a:bodyPr>
          <a:lstStyle/>
          <a:p>
            <a:pPr algn="ctr"/>
            <a:r>
              <a:rPr sz="1100" b="1" i="0">
                <a:solidFill>
                  <a:srgbClr val="990014"/>
                </a:solidFill>
                <a:latin typeface="Arial"/>
              </a:rPr>
              <a:t>joint embedding space</a:t>
            </a:r>
          </a:p>
        </p:txBody>
      </p:sp>
      <p:sp>
        <p:nvSpPr>
          <p:cNvPr id="21" name="TextBox 20"/>
          <p:cNvSpPr txBox="1"/>
          <p:nvPr/>
        </p:nvSpPr>
        <p:spPr>
          <a:xfrm>
            <a:off x="5138928" y="3749039"/>
            <a:ext cx="2999232" cy="1051560"/>
          </a:xfrm>
          <a:prstGeom prst="rect">
            <a:avLst/>
          </a:prstGeom>
          <a:noFill/>
        </p:spPr>
        <p:txBody>
          <a:bodyPr wrap="square" lIns="0" tIns="0" rIns="0" bIns="0" anchor="t">
            <a:spAutoFit/>
          </a:bodyPr>
          <a:lstStyle/>
          <a:p>
            <a:pPr algn="ctr"/>
            <a:r>
              <a:rPr sz="1400" b="0" i="0">
                <a:solidFill>
                  <a:srgbClr val="434343"/>
                </a:solidFill>
                <a:latin typeface="Arial"/>
              </a:rPr>
              <a:t>+ Precomputed gallery embeddings
+ Image–text pre-training
− Limited fine-grained interaction</a:t>
            </a:r>
          </a:p>
        </p:txBody>
      </p:sp>
      <p:sp>
        <p:nvSpPr>
          <p:cNvPr id="22" name="Rounded Rectangle 21"/>
          <p:cNvSpPr/>
          <p:nvPr/>
        </p:nvSpPr>
        <p:spPr>
          <a:xfrm>
            <a:off x="2011680" y="5650992"/>
            <a:ext cx="5120640" cy="329184"/>
          </a:xfrm>
          <a:prstGeom prst="roundRect">
            <a:avLst/>
          </a:prstGeom>
          <a:solidFill>
            <a:srgbClr val="990014"/>
          </a:solidFill>
          <a:ln w="12700">
            <a:solidFill>
              <a:srgbClr val="9900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011680" y="5660136"/>
            <a:ext cx="5120640" cy="292608"/>
          </a:xfrm>
          <a:prstGeom prst="rect">
            <a:avLst/>
          </a:prstGeom>
          <a:noFill/>
        </p:spPr>
        <p:txBody>
          <a:bodyPr wrap="square" lIns="36576" tIns="36576" rIns="36576" bIns="36576" anchor="ctr">
            <a:spAutoFit/>
          </a:bodyPr>
          <a:lstStyle/>
          <a:p>
            <a:pPr algn="ctr"/>
            <a:r>
              <a:rPr sz="1300" b="1" i="0">
                <a:solidFill>
                  <a:srgbClr val="FFFFFF"/>
                </a:solidFill>
                <a:latin typeface="Arial"/>
              </a:rPr>
              <a:t>IRRA = full CLIP + interaction only during TRAINING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300" b="1" i="0">
                <a:solidFill>
                  <a:srgbClr val="FFFFFF"/>
                </a:solidFill>
                <a:latin typeface="Arial"/>
              </a:rPr>
              <a:t>II. Proposed Method — Research Question</a:t>
            </a:r>
          </a:p>
        </p:txBody>
      </p:sp>
      <p:sp>
        <p:nvSpPr>
          <p:cNvPr id="3" name="TextBox 2"/>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7</a:t>
            </a:r>
          </a:p>
        </p:txBody>
      </p:sp>
      <p:sp>
        <p:nvSpPr>
          <p:cNvPr id="4" name="Rounded Rectangle 3"/>
          <p:cNvSpPr/>
          <p:nvPr/>
        </p:nvSpPr>
        <p:spPr>
          <a:xfrm>
            <a:off x="603504" y="960120"/>
            <a:ext cx="7955279" cy="1371600"/>
          </a:xfrm>
          <a:prstGeom prst="roundRect">
            <a:avLst/>
          </a:prstGeom>
          <a:solidFill>
            <a:srgbClr val="FDEBEB"/>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2688" y="1188720"/>
            <a:ext cx="7206377" cy="553998"/>
          </a:xfrm>
          <a:prstGeom prst="rect">
            <a:avLst/>
          </a:prstGeom>
          <a:noFill/>
        </p:spPr>
        <p:txBody>
          <a:bodyPr wrap="square" lIns="0" tIns="0" rIns="0" bIns="0" anchor="t">
            <a:spAutoFit/>
          </a:bodyPr>
          <a:lstStyle/>
          <a:p>
            <a:pPr algn="ctr"/>
            <a:r>
              <a:rPr sz="1800" b="1" i="0" dirty="0">
                <a:solidFill>
                  <a:srgbClr val="990014"/>
                </a:solidFill>
                <a:latin typeface="Arial"/>
              </a:rPr>
              <a:t>How can fine-grained image–word relations improve global embeddings</a:t>
            </a:r>
          </a:p>
        </p:txBody>
      </p:sp>
      <p:sp>
        <p:nvSpPr>
          <p:cNvPr id="6" name="TextBox 5"/>
          <p:cNvSpPr txBox="1"/>
          <p:nvPr/>
        </p:nvSpPr>
        <p:spPr>
          <a:xfrm>
            <a:off x="932688" y="1645920"/>
            <a:ext cx="7296912" cy="347472"/>
          </a:xfrm>
          <a:prstGeom prst="rect">
            <a:avLst/>
          </a:prstGeom>
          <a:noFill/>
        </p:spPr>
        <p:txBody>
          <a:bodyPr wrap="square" lIns="0" tIns="0" rIns="0" bIns="0" anchor="t">
            <a:spAutoFit/>
          </a:bodyPr>
          <a:lstStyle/>
          <a:p>
            <a:pPr algn="ctr"/>
            <a:r>
              <a:rPr sz="1700" b="1" i="0" dirty="0">
                <a:solidFill>
                  <a:srgbClr val="434343"/>
                </a:solidFill>
                <a:latin typeface="Arial"/>
              </a:rPr>
              <a:t>without part-level supervision or additional retrieval cost?</a:t>
            </a:r>
          </a:p>
        </p:txBody>
      </p:sp>
      <p:sp>
        <p:nvSpPr>
          <p:cNvPr id="7" name="Rounded Rectangle 6"/>
          <p:cNvSpPr/>
          <p:nvPr/>
        </p:nvSpPr>
        <p:spPr>
          <a:xfrm>
            <a:off x="612648" y="2770632"/>
            <a:ext cx="2441448" cy="2468880"/>
          </a:xfrm>
          <a:prstGeom prst="roundRect">
            <a:avLst/>
          </a:prstGeom>
          <a:solidFill>
            <a:srgbClr val="F3F4F6"/>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627632" y="3035808"/>
            <a:ext cx="411480" cy="411480"/>
          </a:xfrm>
          <a:prstGeom prst="ellipse">
            <a:avLst/>
          </a:prstGeom>
          <a:solidFill>
            <a:srgbClr val="C5162B"/>
          </a:solidFill>
          <a:ln>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27632" y="3035808"/>
            <a:ext cx="411480" cy="411480"/>
          </a:xfrm>
          <a:prstGeom prst="rect">
            <a:avLst/>
          </a:prstGeom>
          <a:noFill/>
        </p:spPr>
        <p:txBody>
          <a:bodyPr wrap="square" lIns="0" tIns="0" rIns="0" bIns="0" anchor="ctr">
            <a:spAutoFit/>
          </a:bodyPr>
          <a:lstStyle/>
          <a:p>
            <a:pPr algn="ctr"/>
            <a:r>
              <a:rPr sz="1500" b="1" i="0">
                <a:solidFill>
                  <a:srgbClr val="FFFFFF"/>
                </a:solidFill>
                <a:latin typeface="Arial"/>
              </a:rPr>
              <a:t>1</a:t>
            </a:r>
          </a:p>
        </p:txBody>
      </p:sp>
      <p:sp>
        <p:nvSpPr>
          <p:cNvPr id="10" name="TextBox 9"/>
          <p:cNvSpPr txBox="1"/>
          <p:nvPr/>
        </p:nvSpPr>
        <p:spPr>
          <a:xfrm>
            <a:off x="841248" y="3675887"/>
            <a:ext cx="1984248" cy="365760"/>
          </a:xfrm>
          <a:prstGeom prst="rect">
            <a:avLst/>
          </a:prstGeom>
          <a:noFill/>
        </p:spPr>
        <p:txBody>
          <a:bodyPr wrap="square" lIns="0" tIns="0" rIns="0" bIns="0" anchor="t">
            <a:spAutoFit/>
          </a:bodyPr>
          <a:lstStyle/>
          <a:p>
            <a:pPr algn="ctr"/>
            <a:r>
              <a:rPr sz="1700" b="1" i="0">
                <a:solidFill>
                  <a:srgbClr val="990014"/>
                </a:solidFill>
                <a:latin typeface="Arial"/>
              </a:rPr>
              <a:t>IRR / MLM</a:t>
            </a:r>
          </a:p>
        </p:txBody>
      </p:sp>
      <p:sp>
        <p:nvSpPr>
          <p:cNvPr id="11" name="TextBox 10"/>
          <p:cNvSpPr txBox="1"/>
          <p:nvPr/>
        </p:nvSpPr>
        <p:spPr>
          <a:xfrm>
            <a:off x="886968" y="4187952"/>
            <a:ext cx="1892807" cy="713232"/>
          </a:xfrm>
          <a:prstGeom prst="rect">
            <a:avLst/>
          </a:prstGeom>
          <a:noFill/>
        </p:spPr>
        <p:txBody>
          <a:bodyPr wrap="square" lIns="0" tIns="0" rIns="0" bIns="0" anchor="t">
            <a:spAutoFit/>
          </a:bodyPr>
          <a:lstStyle/>
          <a:p>
            <a:pPr algn="ctr"/>
            <a:r>
              <a:rPr sz="1350" b="0" i="0">
                <a:solidFill>
                  <a:srgbClr val="434343"/>
                </a:solidFill>
                <a:latin typeface="Arial"/>
              </a:rPr>
              <a:t>Implicitly learns fine-grained image–text relations</a:t>
            </a:r>
          </a:p>
        </p:txBody>
      </p:sp>
      <p:sp>
        <p:nvSpPr>
          <p:cNvPr id="12" name="Rounded Rectangle 11"/>
          <p:cNvSpPr/>
          <p:nvPr/>
        </p:nvSpPr>
        <p:spPr>
          <a:xfrm>
            <a:off x="3355848" y="2770632"/>
            <a:ext cx="2441448" cy="2468880"/>
          </a:xfrm>
          <a:prstGeom prst="roundRect">
            <a:avLst/>
          </a:prstGeom>
          <a:solidFill>
            <a:srgbClr val="F3F4F6"/>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370832" y="3035808"/>
            <a:ext cx="411480" cy="411480"/>
          </a:xfrm>
          <a:prstGeom prst="ellipse">
            <a:avLst/>
          </a:prstGeom>
          <a:solidFill>
            <a:srgbClr val="206CAA"/>
          </a:solidFill>
          <a:ln>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70832" y="3035808"/>
            <a:ext cx="411480" cy="411480"/>
          </a:xfrm>
          <a:prstGeom prst="rect">
            <a:avLst/>
          </a:prstGeom>
          <a:noFill/>
        </p:spPr>
        <p:txBody>
          <a:bodyPr wrap="square" lIns="0" tIns="0" rIns="0" bIns="0" anchor="ctr">
            <a:spAutoFit/>
          </a:bodyPr>
          <a:lstStyle/>
          <a:p>
            <a:pPr algn="ctr"/>
            <a:r>
              <a:rPr sz="1500" b="1" i="0">
                <a:solidFill>
                  <a:srgbClr val="FFFFFF"/>
                </a:solidFill>
                <a:latin typeface="Arial"/>
              </a:rPr>
              <a:t>2</a:t>
            </a:r>
          </a:p>
        </p:txBody>
      </p:sp>
      <p:sp>
        <p:nvSpPr>
          <p:cNvPr id="15" name="TextBox 14"/>
          <p:cNvSpPr txBox="1"/>
          <p:nvPr/>
        </p:nvSpPr>
        <p:spPr>
          <a:xfrm>
            <a:off x="3584448" y="3675887"/>
            <a:ext cx="1984248" cy="365760"/>
          </a:xfrm>
          <a:prstGeom prst="rect">
            <a:avLst/>
          </a:prstGeom>
          <a:noFill/>
        </p:spPr>
        <p:txBody>
          <a:bodyPr wrap="square" lIns="0" tIns="0" rIns="0" bIns="0" anchor="t">
            <a:spAutoFit/>
          </a:bodyPr>
          <a:lstStyle/>
          <a:p>
            <a:pPr algn="ctr"/>
            <a:r>
              <a:rPr sz="1700" b="1" i="0">
                <a:solidFill>
                  <a:srgbClr val="990014"/>
                </a:solidFill>
                <a:latin typeface="Arial"/>
              </a:rPr>
              <a:t>SDM</a:t>
            </a:r>
          </a:p>
        </p:txBody>
      </p:sp>
      <p:sp>
        <p:nvSpPr>
          <p:cNvPr id="16" name="TextBox 15"/>
          <p:cNvSpPr txBox="1"/>
          <p:nvPr/>
        </p:nvSpPr>
        <p:spPr>
          <a:xfrm>
            <a:off x="3630168" y="4187952"/>
            <a:ext cx="1892807" cy="713232"/>
          </a:xfrm>
          <a:prstGeom prst="rect">
            <a:avLst/>
          </a:prstGeom>
          <a:noFill/>
        </p:spPr>
        <p:txBody>
          <a:bodyPr wrap="square" lIns="0" tIns="0" rIns="0" bIns="0" anchor="t">
            <a:spAutoFit/>
          </a:bodyPr>
          <a:lstStyle/>
          <a:p>
            <a:pPr algn="ctr"/>
            <a:r>
              <a:rPr sz="1350" b="0" i="0">
                <a:solidFill>
                  <a:srgbClr val="434343"/>
                </a:solidFill>
                <a:latin typeface="Arial"/>
              </a:rPr>
              <a:t>Matches similarity distributions to label distributions</a:t>
            </a:r>
          </a:p>
        </p:txBody>
      </p:sp>
      <p:sp>
        <p:nvSpPr>
          <p:cNvPr id="17" name="Rounded Rectangle 16"/>
          <p:cNvSpPr/>
          <p:nvPr/>
        </p:nvSpPr>
        <p:spPr>
          <a:xfrm>
            <a:off x="6099048" y="2770632"/>
            <a:ext cx="2441448" cy="2468880"/>
          </a:xfrm>
          <a:prstGeom prst="roundRect">
            <a:avLst/>
          </a:prstGeom>
          <a:solidFill>
            <a:srgbClr val="F3F4F6"/>
          </a:solidFill>
          <a:ln w="12700">
            <a:solidFill>
              <a:srgbClr val="EB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114032" y="3035808"/>
            <a:ext cx="411480" cy="411480"/>
          </a:xfrm>
          <a:prstGeom prst="ellipse">
            <a:avLst/>
          </a:prstGeom>
          <a:solidFill>
            <a:srgbClr val="EBA300"/>
          </a:solidFill>
          <a:ln>
            <a:solidFill>
              <a:srgbClr val="EB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14032" y="3035808"/>
            <a:ext cx="411480" cy="411480"/>
          </a:xfrm>
          <a:prstGeom prst="rect">
            <a:avLst/>
          </a:prstGeom>
          <a:noFill/>
        </p:spPr>
        <p:txBody>
          <a:bodyPr wrap="square" lIns="0" tIns="0" rIns="0" bIns="0" anchor="ctr">
            <a:spAutoFit/>
          </a:bodyPr>
          <a:lstStyle/>
          <a:p>
            <a:pPr algn="ctr"/>
            <a:r>
              <a:rPr sz="1500" b="1" i="0">
                <a:solidFill>
                  <a:srgbClr val="FFFFFF"/>
                </a:solidFill>
                <a:latin typeface="Arial"/>
              </a:rPr>
              <a:t>3</a:t>
            </a:r>
          </a:p>
        </p:txBody>
      </p:sp>
      <p:sp>
        <p:nvSpPr>
          <p:cNvPr id="20" name="TextBox 19"/>
          <p:cNvSpPr txBox="1"/>
          <p:nvPr/>
        </p:nvSpPr>
        <p:spPr>
          <a:xfrm>
            <a:off x="6327648" y="3675887"/>
            <a:ext cx="1984248" cy="365760"/>
          </a:xfrm>
          <a:prstGeom prst="rect">
            <a:avLst/>
          </a:prstGeom>
          <a:noFill/>
        </p:spPr>
        <p:txBody>
          <a:bodyPr wrap="square" lIns="0" tIns="0" rIns="0" bIns="0" anchor="t">
            <a:spAutoFit/>
          </a:bodyPr>
          <a:lstStyle/>
          <a:p>
            <a:pPr algn="ctr"/>
            <a:r>
              <a:rPr sz="1700" b="1" i="0">
                <a:solidFill>
                  <a:srgbClr val="990014"/>
                </a:solidFill>
                <a:latin typeface="Arial"/>
              </a:rPr>
              <a:t>FULL CLIP</a:t>
            </a:r>
          </a:p>
        </p:txBody>
      </p:sp>
      <p:sp>
        <p:nvSpPr>
          <p:cNvPr id="21" name="TextBox 20"/>
          <p:cNvSpPr txBox="1"/>
          <p:nvPr/>
        </p:nvSpPr>
        <p:spPr>
          <a:xfrm>
            <a:off x="6373368" y="4187952"/>
            <a:ext cx="1892807" cy="713232"/>
          </a:xfrm>
          <a:prstGeom prst="rect">
            <a:avLst/>
          </a:prstGeom>
          <a:noFill/>
        </p:spPr>
        <p:txBody>
          <a:bodyPr wrap="square" lIns="0" tIns="0" rIns="0" bIns="0" anchor="t">
            <a:spAutoFit/>
          </a:bodyPr>
          <a:lstStyle/>
          <a:p>
            <a:pPr algn="ctr"/>
            <a:r>
              <a:rPr sz="1350" b="0" i="0">
                <a:solidFill>
                  <a:srgbClr val="434343"/>
                </a:solidFill>
                <a:latin typeface="Arial"/>
              </a:rPr>
              <a:t>Fine-tunes both image and text encoders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300" b="1" i="0">
                <a:solidFill>
                  <a:srgbClr val="FFFFFF"/>
                </a:solidFill>
                <a:latin typeface="Arial"/>
              </a:rPr>
              <a:t>II. Proposed Method — IRRA Overview</a:t>
            </a:r>
          </a:p>
        </p:txBody>
      </p:sp>
      <p:sp>
        <p:nvSpPr>
          <p:cNvPr id="3" name="TextBox 2"/>
          <p:cNvSpPr txBox="1"/>
          <p:nvPr/>
        </p:nvSpPr>
        <p:spPr>
          <a:xfrm>
            <a:off x="658368" y="6236208"/>
            <a:ext cx="7726679" cy="182880"/>
          </a:xfrm>
          <a:prstGeom prst="rect">
            <a:avLst/>
          </a:prstGeom>
          <a:noFill/>
        </p:spPr>
        <p:txBody>
          <a:bodyPr wrap="square" lIns="0" tIns="0" rIns="0" bIns="0" anchor="t">
            <a:spAutoFit/>
          </a:bodyPr>
          <a:lstStyle/>
          <a:p>
            <a:pPr algn="l"/>
            <a:r>
              <a:rPr sz="750" b="0" i="1">
                <a:solidFill>
                  <a:srgbClr val="696969"/>
                </a:solidFill>
                <a:latin typeface="Arial"/>
              </a:rPr>
              <a:t>Source: Jiang &amp; Ye, CVPR 2023, Fig. 2; official repository image</a:t>
            </a:r>
          </a:p>
        </p:txBody>
      </p:sp>
      <p:sp>
        <p:nvSpPr>
          <p:cNvPr id="4" name="TextBox 3"/>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8</a:t>
            </a:r>
          </a:p>
        </p:txBody>
      </p:sp>
      <p:sp>
        <p:nvSpPr>
          <p:cNvPr id="5" name="Rounded Rectangle 4"/>
          <p:cNvSpPr/>
          <p:nvPr/>
        </p:nvSpPr>
        <p:spPr>
          <a:xfrm>
            <a:off x="457200" y="877824"/>
            <a:ext cx="8229600" cy="4370832"/>
          </a:xfrm>
          <a:prstGeom prst="roundRect">
            <a:avLst/>
          </a:prstGeom>
          <a:solidFill>
            <a:srgbClr val="FFFFFF"/>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rchitecture.png"/>
          <p:cNvPicPr>
            <a:picLocks noChangeAspect="1"/>
          </p:cNvPicPr>
          <p:nvPr/>
        </p:nvPicPr>
        <p:blipFill>
          <a:blip r:embed="rId3"/>
          <a:stretch>
            <a:fillRect/>
          </a:stretch>
        </p:blipFill>
        <p:spPr>
          <a:xfrm>
            <a:off x="594360" y="1096495"/>
            <a:ext cx="7955279" cy="3878625"/>
          </a:xfrm>
          <a:prstGeom prst="rect">
            <a:avLst/>
          </a:prstGeom>
        </p:spPr>
      </p:pic>
      <p:sp>
        <p:nvSpPr>
          <p:cNvPr id="7" name="Rounded Rectangle 6"/>
          <p:cNvSpPr/>
          <p:nvPr/>
        </p:nvSpPr>
        <p:spPr>
          <a:xfrm>
            <a:off x="640080" y="5431536"/>
            <a:ext cx="2331720" cy="329184"/>
          </a:xfrm>
          <a:prstGeom prst="roundRect">
            <a:avLst/>
          </a:prstGeom>
          <a:solidFill>
            <a:srgbClr val="206CAA"/>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5440680"/>
            <a:ext cx="2331720" cy="292608"/>
          </a:xfrm>
          <a:prstGeom prst="rect">
            <a:avLst/>
          </a:prstGeom>
          <a:noFill/>
        </p:spPr>
        <p:txBody>
          <a:bodyPr wrap="square" lIns="36576" tIns="36576" rIns="36576" bIns="36576" anchor="ctr">
            <a:spAutoFit/>
          </a:bodyPr>
          <a:lstStyle/>
          <a:p>
            <a:pPr algn="ctr"/>
            <a:r>
              <a:rPr sz="1100" b="1" i="0">
                <a:solidFill>
                  <a:srgbClr val="FFFFFF"/>
                </a:solidFill>
                <a:latin typeface="Arial"/>
              </a:rPr>
              <a:t>1 • CLIP DUAL ENCODER</a:t>
            </a:r>
          </a:p>
        </p:txBody>
      </p:sp>
      <p:sp>
        <p:nvSpPr>
          <p:cNvPr id="9" name="Rounded Rectangle 8"/>
          <p:cNvSpPr/>
          <p:nvPr/>
        </p:nvSpPr>
        <p:spPr>
          <a:xfrm>
            <a:off x="3319272" y="5431536"/>
            <a:ext cx="1920240" cy="329184"/>
          </a:xfrm>
          <a:prstGeom prst="roundRect">
            <a:avLst/>
          </a:prstGeom>
          <a:solidFill>
            <a:srgbClr val="EBA300"/>
          </a:solidFill>
          <a:ln w="12700">
            <a:solidFill>
              <a:srgbClr val="EB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19272" y="5440680"/>
            <a:ext cx="1920240" cy="292608"/>
          </a:xfrm>
          <a:prstGeom prst="rect">
            <a:avLst/>
          </a:prstGeom>
          <a:noFill/>
        </p:spPr>
        <p:txBody>
          <a:bodyPr wrap="square" lIns="36576" tIns="36576" rIns="36576" bIns="36576" anchor="ctr">
            <a:spAutoFit/>
          </a:bodyPr>
          <a:lstStyle/>
          <a:p>
            <a:pPr algn="ctr"/>
            <a:r>
              <a:rPr sz="1100" b="1" i="0">
                <a:solidFill>
                  <a:srgbClr val="FFFFFF"/>
                </a:solidFill>
                <a:latin typeface="Arial"/>
              </a:rPr>
              <a:t>2 • SDM + ID</a:t>
            </a:r>
          </a:p>
        </p:txBody>
      </p:sp>
      <p:sp>
        <p:nvSpPr>
          <p:cNvPr id="11" name="Rounded Rectangle 10"/>
          <p:cNvSpPr/>
          <p:nvPr/>
        </p:nvSpPr>
        <p:spPr>
          <a:xfrm>
            <a:off x="5614416" y="5431536"/>
            <a:ext cx="2057400" cy="329184"/>
          </a:xfrm>
          <a:prstGeom prst="roundRect">
            <a:avLst/>
          </a:prstGeom>
          <a:solidFill>
            <a:srgbClr val="C5162B"/>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14416" y="5440680"/>
            <a:ext cx="2057400" cy="292608"/>
          </a:xfrm>
          <a:prstGeom prst="rect">
            <a:avLst/>
          </a:prstGeom>
          <a:noFill/>
        </p:spPr>
        <p:txBody>
          <a:bodyPr wrap="square" lIns="36576" tIns="36576" rIns="36576" bIns="36576" anchor="ctr">
            <a:spAutoFit/>
          </a:bodyPr>
          <a:lstStyle/>
          <a:p>
            <a:pPr algn="ctr"/>
            <a:r>
              <a:rPr sz="1100" b="1" i="0">
                <a:solidFill>
                  <a:srgbClr val="FFFFFF"/>
                </a:solidFill>
                <a:latin typeface="Arial"/>
              </a:rPr>
              <a:t>3 • IRR / MLM</a:t>
            </a:r>
          </a:p>
        </p:txBody>
      </p:sp>
      <p:sp>
        <p:nvSpPr>
          <p:cNvPr id="13" name="TextBox 12"/>
          <p:cNvSpPr txBox="1"/>
          <p:nvPr/>
        </p:nvSpPr>
        <p:spPr>
          <a:xfrm>
            <a:off x="6419088" y="5843016"/>
            <a:ext cx="1810512" cy="219456"/>
          </a:xfrm>
          <a:prstGeom prst="rect">
            <a:avLst/>
          </a:prstGeom>
          <a:noFill/>
        </p:spPr>
        <p:txBody>
          <a:bodyPr wrap="square" lIns="0" tIns="0" rIns="0" bIns="0" anchor="t">
            <a:spAutoFit/>
          </a:bodyPr>
          <a:lstStyle/>
          <a:p>
            <a:pPr algn="r"/>
            <a:r>
              <a:rPr sz="900" b="0" i="1">
                <a:solidFill>
                  <a:srgbClr val="696969"/>
                </a:solidFill>
                <a:latin typeface="Arial"/>
              </a:rPr>
              <a:t>Dashed modules: removed at inference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300" b="1" i="0" dirty="0">
                <a:solidFill>
                  <a:srgbClr val="FFFFFF"/>
                </a:solidFill>
                <a:latin typeface="Arial"/>
              </a:rPr>
              <a:t>II. Proposed Method — CLIP Dual Encoder</a:t>
            </a:r>
          </a:p>
        </p:txBody>
      </p:sp>
      <p:sp>
        <p:nvSpPr>
          <p:cNvPr id="3" name="TextBox 2"/>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9</a:t>
            </a:r>
          </a:p>
        </p:txBody>
      </p:sp>
      <p:sp>
        <p:nvSpPr>
          <p:cNvPr id="4" name="Rounded Rectangle 3"/>
          <p:cNvSpPr/>
          <p:nvPr/>
        </p:nvSpPr>
        <p:spPr>
          <a:xfrm>
            <a:off x="502920" y="987551"/>
            <a:ext cx="3831336" cy="4809091"/>
          </a:xfrm>
          <a:prstGeom prst="roundRect">
            <a:avLst/>
          </a:prstGeom>
          <a:solidFill>
            <a:srgbClr val="E8F1F9"/>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60120" y="1225296"/>
            <a:ext cx="2953512" cy="329184"/>
          </a:xfrm>
          <a:prstGeom prst="roundRect">
            <a:avLst/>
          </a:prstGeom>
          <a:solidFill>
            <a:srgbClr val="206CAA"/>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234440"/>
            <a:ext cx="2953512" cy="292608"/>
          </a:xfrm>
          <a:prstGeom prst="rect">
            <a:avLst/>
          </a:prstGeom>
          <a:noFill/>
        </p:spPr>
        <p:txBody>
          <a:bodyPr wrap="square" lIns="36576" tIns="36576" rIns="36576" bIns="36576" anchor="ctr">
            <a:spAutoFit/>
          </a:bodyPr>
          <a:lstStyle/>
          <a:p>
            <a:pPr algn="ctr"/>
            <a:r>
              <a:rPr sz="1200" b="1" i="0">
                <a:solidFill>
                  <a:srgbClr val="FFFFFF"/>
                </a:solidFill>
                <a:latin typeface="Arial"/>
              </a:rPr>
              <a:t>IMAGE ENCODER • ViT-B/16</a:t>
            </a:r>
          </a:p>
        </p:txBody>
      </p:sp>
      <p:sp>
        <p:nvSpPr>
          <p:cNvPr id="7" name="TextBox 6"/>
          <p:cNvSpPr txBox="1"/>
          <p:nvPr/>
        </p:nvSpPr>
        <p:spPr>
          <a:xfrm>
            <a:off x="1005840" y="1847088"/>
            <a:ext cx="2880360" cy="384048"/>
          </a:xfrm>
          <a:prstGeom prst="rect">
            <a:avLst/>
          </a:prstGeom>
          <a:noFill/>
        </p:spPr>
        <p:txBody>
          <a:bodyPr wrap="square" lIns="0" tIns="0" rIns="0" bIns="0" anchor="t">
            <a:spAutoFit/>
          </a:bodyPr>
          <a:lstStyle/>
          <a:p>
            <a:pPr algn="ctr"/>
            <a:r>
              <a:rPr sz="2400" b="1" i="0">
                <a:solidFill>
                  <a:srgbClr val="206CAA"/>
                </a:solidFill>
                <a:latin typeface="Arial"/>
              </a:rPr>
              <a:t>384 × 128</a:t>
            </a:r>
          </a:p>
        </p:txBody>
      </p:sp>
      <p:sp>
        <p:nvSpPr>
          <p:cNvPr id="8" name="TextBox 7"/>
          <p:cNvSpPr txBox="1"/>
          <p:nvPr/>
        </p:nvSpPr>
        <p:spPr>
          <a:xfrm>
            <a:off x="1005840" y="2322576"/>
            <a:ext cx="2880360" cy="292608"/>
          </a:xfrm>
          <a:prstGeom prst="rect">
            <a:avLst/>
          </a:prstGeom>
          <a:noFill/>
        </p:spPr>
        <p:txBody>
          <a:bodyPr wrap="square" lIns="0" tIns="0" rIns="0" bIns="0" anchor="t">
            <a:spAutoFit/>
          </a:bodyPr>
          <a:lstStyle/>
          <a:p>
            <a:pPr algn="ctr"/>
            <a:r>
              <a:rPr sz="1500" b="0" i="0">
                <a:solidFill>
                  <a:srgbClr val="434343"/>
                </a:solidFill>
                <a:latin typeface="Arial"/>
              </a:rPr>
              <a:t>patch 16 × 16</a:t>
            </a:r>
          </a:p>
        </p:txBody>
      </p:sp>
      <p:sp>
        <p:nvSpPr>
          <p:cNvPr id="9" name="TextBox 8"/>
          <p:cNvSpPr txBox="1"/>
          <p:nvPr/>
        </p:nvSpPr>
        <p:spPr>
          <a:xfrm>
            <a:off x="822960" y="2852928"/>
            <a:ext cx="3246120" cy="384048"/>
          </a:xfrm>
          <a:prstGeom prst="rect">
            <a:avLst/>
          </a:prstGeom>
          <a:noFill/>
        </p:spPr>
        <p:txBody>
          <a:bodyPr wrap="square" lIns="0" tIns="0" rIns="0" bIns="0" anchor="t">
            <a:spAutoFit/>
          </a:bodyPr>
          <a:lstStyle/>
          <a:p>
            <a:pPr algn="ctr"/>
            <a:r>
              <a:rPr sz="1700" b="1" i="0">
                <a:solidFill>
                  <a:srgbClr val="990014"/>
                </a:solidFill>
                <a:latin typeface="Arial"/>
              </a:rPr>
              <a:t>24 × 8 = 192 visual tokens</a:t>
            </a:r>
          </a:p>
        </p:txBody>
      </p:sp>
      <p:sp>
        <p:nvSpPr>
          <p:cNvPr id="10" name="Chevron 9"/>
          <p:cNvSpPr/>
          <p:nvPr/>
        </p:nvSpPr>
        <p:spPr>
          <a:xfrm>
            <a:off x="2267712" y="3401568"/>
            <a:ext cx="329184" cy="457200"/>
          </a:xfrm>
          <a:prstGeom prst="chevron">
            <a:avLst/>
          </a:prstGeom>
          <a:solidFill>
            <a:srgbClr val="206CAA"/>
          </a:solidFill>
          <a:ln>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243584" y="4005072"/>
            <a:ext cx="2331720" cy="640080"/>
          </a:xfrm>
          <a:prstGeom prst="roundRect">
            <a:avLst/>
          </a:prstGeom>
          <a:solidFill>
            <a:srgbClr val="FFFFFF"/>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71600" y="4169663"/>
            <a:ext cx="2084831" cy="274320"/>
          </a:xfrm>
          <a:prstGeom prst="rect">
            <a:avLst/>
          </a:prstGeom>
          <a:noFill/>
        </p:spPr>
        <p:txBody>
          <a:bodyPr wrap="square" lIns="0" tIns="0" rIns="0" bIns="0" anchor="t">
            <a:spAutoFit/>
          </a:bodyPr>
          <a:lstStyle/>
          <a:p>
            <a:pPr algn="ctr"/>
            <a:r>
              <a:rPr sz="1800" b="1" i="0">
                <a:solidFill>
                  <a:srgbClr val="206CAA"/>
                </a:solidFill>
                <a:latin typeface="Cambria Math"/>
              </a:rPr>
              <a:t>[CLS] → f_v</a:t>
            </a:r>
          </a:p>
        </p:txBody>
      </p:sp>
      <p:sp>
        <p:nvSpPr>
          <p:cNvPr id="13" name="TextBox 12"/>
          <p:cNvSpPr txBox="1"/>
          <p:nvPr/>
        </p:nvSpPr>
        <p:spPr>
          <a:xfrm>
            <a:off x="1005840" y="5010912"/>
            <a:ext cx="2880360" cy="274320"/>
          </a:xfrm>
          <a:prstGeom prst="rect">
            <a:avLst/>
          </a:prstGeom>
          <a:noFill/>
        </p:spPr>
        <p:txBody>
          <a:bodyPr wrap="square" lIns="0" tIns="0" rIns="0" bIns="0" anchor="t">
            <a:spAutoFit/>
          </a:bodyPr>
          <a:lstStyle/>
          <a:p>
            <a:pPr algn="ctr"/>
            <a:r>
              <a:rPr sz="1300" b="0" i="0">
                <a:solidFill>
                  <a:srgbClr val="696969"/>
                </a:solidFill>
                <a:latin typeface="Arial"/>
              </a:rPr>
              <a:t>12 Transformer blocks</a:t>
            </a:r>
          </a:p>
        </p:txBody>
      </p:sp>
      <p:sp>
        <p:nvSpPr>
          <p:cNvPr id="14" name="Rounded Rectangle 13"/>
          <p:cNvSpPr/>
          <p:nvPr/>
        </p:nvSpPr>
        <p:spPr>
          <a:xfrm>
            <a:off x="4681728" y="987552"/>
            <a:ext cx="3931920" cy="4709160"/>
          </a:xfrm>
          <a:prstGeom prst="roundRect">
            <a:avLst/>
          </a:prstGeom>
          <a:solidFill>
            <a:srgbClr val="FDEBEB"/>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102352" y="1225296"/>
            <a:ext cx="3063240" cy="329184"/>
          </a:xfrm>
          <a:prstGeom prst="roundRect">
            <a:avLst/>
          </a:prstGeom>
          <a:solidFill>
            <a:srgbClr val="C5162B"/>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02352" y="1234440"/>
            <a:ext cx="3063240" cy="292608"/>
          </a:xfrm>
          <a:prstGeom prst="rect">
            <a:avLst/>
          </a:prstGeom>
          <a:noFill/>
        </p:spPr>
        <p:txBody>
          <a:bodyPr wrap="square" lIns="36576" tIns="36576" rIns="36576" bIns="36576" anchor="ctr">
            <a:spAutoFit/>
          </a:bodyPr>
          <a:lstStyle/>
          <a:p>
            <a:pPr algn="ctr"/>
            <a:r>
              <a:rPr sz="1200" b="1" i="0">
                <a:solidFill>
                  <a:srgbClr val="FFFFFF"/>
                </a:solidFill>
                <a:latin typeface="Arial"/>
              </a:rPr>
              <a:t>TEXT ENCODER • Transformer</a:t>
            </a:r>
          </a:p>
        </p:txBody>
      </p:sp>
      <p:sp>
        <p:nvSpPr>
          <p:cNvPr id="17" name="TextBox 16"/>
          <p:cNvSpPr txBox="1"/>
          <p:nvPr/>
        </p:nvSpPr>
        <p:spPr>
          <a:xfrm>
            <a:off x="5303520" y="1865376"/>
            <a:ext cx="2651760" cy="292608"/>
          </a:xfrm>
          <a:prstGeom prst="rect">
            <a:avLst/>
          </a:prstGeom>
          <a:noFill/>
        </p:spPr>
        <p:txBody>
          <a:bodyPr wrap="square" lIns="0" tIns="0" rIns="0" bIns="0" anchor="t">
            <a:spAutoFit/>
          </a:bodyPr>
          <a:lstStyle/>
          <a:p>
            <a:pPr algn="ctr"/>
            <a:r>
              <a:rPr sz="1500" b="0" i="0">
                <a:solidFill>
                  <a:srgbClr val="434343"/>
                </a:solidFill>
                <a:latin typeface="Arial"/>
              </a:rPr>
              <a:t>BPE vocabulary</a:t>
            </a:r>
          </a:p>
        </p:txBody>
      </p:sp>
      <p:sp>
        <p:nvSpPr>
          <p:cNvPr id="18" name="TextBox 17"/>
          <p:cNvSpPr txBox="1"/>
          <p:nvPr/>
        </p:nvSpPr>
        <p:spPr>
          <a:xfrm>
            <a:off x="5303520" y="2221992"/>
            <a:ext cx="2651760" cy="384048"/>
          </a:xfrm>
          <a:prstGeom prst="rect">
            <a:avLst/>
          </a:prstGeom>
          <a:noFill/>
        </p:spPr>
        <p:txBody>
          <a:bodyPr wrap="square" lIns="0" tIns="0" rIns="0" bIns="0" anchor="t">
            <a:spAutoFit/>
          </a:bodyPr>
          <a:lstStyle/>
          <a:p>
            <a:pPr algn="ctr"/>
            <a:r>
              <a:rPr sz="2400" b="1" i="0">
                <a:solidFill>
                  <a:srgbClr val="C5162B"/>
                </a:solidFill>
                <a:latin typeface="Arial"/>
              </a:rPr>
              <a:t>49,152</a:t>
            </a:r>
          </a:p>
        </p:txBody>
      </p:sp>
      <p:sp>
        <p:nvSpPr>
          <p:cNvPr id="19" name="TextBox 18"/>
          <p:cNvSpPr txBox="1"/>
          <p:nvPr/>
        </p:nvSpPr>
        <p:spPr>
          <a:xfrm>
            <a:off x="4992624" y="2889504"/>
            <a:ext cx="3310128" cy="384048"/>
          </a:xfrm>
          <a:prstGeom prst="rect">
            <a:avLst/>
          </a:prstGeom>
          <a:noFill/>
        </p:spPr>
        <p:txBody>
          <a:bodyPr wrap="square" lIns="0" tIns="0" rIns="0" bIns="0" anchor="t">
            <a:spAutoFit/>
          </a:bodyPr>
          <a:lstStyle/>
          <a:p>
            <a:pPr algn="ctr"/>
            <a:r>
              <a:rPr sz="1600" b="1" i="0">
                <a:solidFill>
                  <a:srgbClr val="990014"/>
                </a:solidFill>
                <a:latin typeface="Arial"/>
              </a:rPr>
              <a:t>[SOS]  token₁ … token₇₇  [EOS]</a:t>
            </a:r>
          </a:p>
        </p:txBody>
      </p:sp>
      <p:sp>
        <p:nvSpPr>
          <p:cNvPr id="20" name="Chevron 19"/>
          <p:cNvSpPr/>
          <p:nvPr/>
        </p:nvSpPr>
        <p:spPr>
          <a:xfrm>
            <a:off x="6492240" y="3401568"/>
            <a:ext cx="329184" cy="457200"/>
          </a:xfrm>
          <a:prstGeom prst="chevron">
            <a:avLst/>
          </a:prstGeom>
          <a:solidFill>
            <a:srgbClr val="C5162B"/>
          </a:solidFill>
          <a:ln>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468112" y="4005072"/>
            <a:ext cx="2331720" cy="640080"/>
          </a:xfrm>
          <a:prstGeom prst="roundRect">
            <a:avLst/>
          </a:prstGeom>
          <a:solidFill>
            <a:srgbClr val="FFFFFF"/>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596128" y="4169663"/>
            <a:ext cx="2084831" cy="274320"/>
          </a:xfrm>
          <a:prstGeom prst="rect">
            <a:avLst/>
          </a:prstGeom>
          <a:noFill/>
        </p:spPr>
        <p:txBody>
          <a:bodyPr wrap="square" lIns="0" tIns="0" rIns="0" bIns="0" anchor="t">
            <a:spAutoFit/>
          </a:bodyPr>
          <a:lstStyle/>
          <a:p>
            <a:pPr algn="ctr"/>
            <a:r>
              <a:rPr sz="1800" b="1" i="0">
                <a:solidFill>
                  <a:srgbClr val="C5162B"/>
                </a:solidFill>
                <a:latin typeface="Cambria Math"/>
              </a:rPr>
              <a:t>[EOS] → f_t</a:t>
            </a:r>
          </a:p>
        </p:txBody>
      </p:sp>
      <p:sp>
        <p:nvSpPr>
          <p:cNvPr id="23" name="TextBox 22"/>
          <p:cNvSpPr txBox="1"/>
          <p:nvPr/>
        </p:nvSpPr>
        <p:spPr>
          <a:xfrm>
            <a:off x="5321808" y="5010912"/>
            <a:ext cx="2651760" cy="274320"/>
          </a:xfrm>
          <a:prstGeom prst="rect">
            <a:avLst/>
          </a:prstGeom>
          <a:noFill/>
        </p:spPr>
        <p:txBody>
          <a:bodyPr wrap="square" lIns="0" tIns="0" rIns="0" bIns="0" anchor="t">
            <a:spAutoFit/>
          </a:bodyPr>
          <a:lstStyle/>
          <a:p>
            <a:pPr algn="ctr"/>
            <a:r>
              <a:rPr sz="1300" b="0" i="0">
                <a:solidFill>
                  <a:srgbClr val="696969"/>
                </a:solidFill>
                <a:latin typeface="Arial"/>
              </a:rPr>
              <a:t>12 Transformer blocks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000" b="1" i="0">
                <a:solidFill>
                  <a:srgbClr val="FFFFFF"/>
                </a:solidFill>
                <a:latin typeface="Arial"/>
              </a:rPr>
              <a:t>II. Proposed Method — Inside the ViT Image Encoder</a:t>
            </a:r>
          </a:p>
        </p:txBody>
      </p:sp>
      <p:sp>
        <p:nvSpPr>
          <p:cNvPr id="3" name="TextBox 2"/>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10</a:t>
            </a:r>
          </a:p>
        </p:txBody>
      </p:sp>
      <p:sp>
        <p:nvSpPr>
          <p:cNvPr id="7" name="Rounded Rectangle 6"/>
          <p:cNvSpPr/>
          <p:nvPr/>
        </p:nvSpPr>
        <p:spPr>
          <a:xfrm>
            <a:off x="6272784" y="932688"/>
            <a:ext cx="2377440" cy="4873752"/>
          </a:xfrm>
          <a:prstGeom prst="roundRect">
            <a:avLst/>
          </a:prstGeom>
          <a:solidFill>
            <a:srgbClr val="E8F1F9"/>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solidFill>
            </a:endParaRPr>
          </a:p>
        </p:txBody>
      </p:sp>
      <p:sp>
        <p:nvSpPr>
          <p:cNvPr id="8" name="Rounded Rectangle 7"/>
          <p:cNvSpPr/>
          <p:nvPr/>
        </p:nvSpPr>
        <p:spPr>
          <a:xfrm>
            <a:off x="6473952" y="1197864"/>
            <a:ext cx="1975104" cy="329184"/>
          </a:xfrm>
          <a:prstGeom prst="roundRect">
            <a:avLst/>
          </a:prstGeom>
          <a:solidFill>
            <a:srgbClr val="206CAA"/>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73952" y="1207008"/>
            <a:ext cx="1975104" cy="292608"/>
          </a:xfrm>
          <a:prstGeom prst="rect">
            <a:avLst/>
          </a:prstGeom>
          <a:noFill/>
        </p:spPr>
        <p:txBody>
          <a:bodyPr wrap="square" lIns="36576" tIns="36576" rIns="36576" bIns="36576" anchor="ctr">
            <a:spAutoFit/>
          </a:bodyPr>
          <a:lstStyle/>
          <a:p>
            <a:pPr algn="ctr"/>
            <a:r>
              <a:rPr sz="1050" b="1" i="0" dirty="0" err="1">
                <a:solidFill>
                  <a:srgbClr val="FFFFFF"/>
                </a:solidFill>
                <a:latin typeface="Arial"/>
              </a:rPr>
              <a:t>ViT</a:t>
            </a:r>
            <a:r>
              <a:rPr sz="1050" b="1" i="0" dirty="0">
                <a:solidFill>
                  <a:srgbClr val="FFFFFF"/>
                </a:solidFill>
                <a:latin typeface="Arial"/>
              </a:rPr>
              <a:t>-B/16 • 12 BLOCKS</a:t>
            </a:r>
          </a:p>
        </p:txBody>
      </p:sp>
      <p:sp>
        <p:nvSpPr>
          <p:cNvPr id="10" name="TextBox 9"/>
          <p:cNvSpPr txBox="1"/>
          <p:nvPr/>
        </p:nvSpPr>
        <p:spPr>
          <a:xfrm>
            <a:off x="6510528" y="1874519"/>
            <a:ext cx="1883664" cy="2606040"/>
          </a:xfrm>
          <a:prstGeom prst="rect">
            <a:avLst/>
          </a:prstGeom>
          <a:noFill/>
        </p:spPr>
        <p:txBody>
          <a:bodyPr wrap="square" lIns="73152" tIns="73152" rIns="73152" bIns="73152" anchor="t">
            <a:spAutoFit/>
          </a:bodyPr>
          <a:lstStyle/>
          <a:p>
            <a:pPr algn="l">
              <a:spcBef>
                <a:spcPts val="0"/>
              </a:spcBef>
              <a:spcAft>
                <a:spcPts val="1100"/>
              </a:spcAft>
            </a:pPr>
            <a:r>
              <a:rPr sz="1350" b="1" i="0" dirty="0">
                <a:solidFill>
                  <a:srgbClr val="206CAA"/>
                </a:solidFill>
                <a:latin typeface="Arial"/>
              </a:rPr>
              <a:t>1  Patch embedding + position</a:t>
            </a:r>
          </a:p>
          <a:p>
            <a:pPr algn="l">
              <a:spcBef>
                <a:spcPts val="0"/>
              </a:spcBef>
              <a:spcAft>
                <a:spcPts val="1100"/>
              </a:spcAft>
            </a:pPr>
            <a:r>
              <a:rPr sz="1350" b="1" i="0" dirty="0">
                <a:solidFill>
                  <a:srgbClr val="434343"/>
                </a:solidFill>
                <a:latin typeface="Arial"/>
              </a:rPr>
              <a:t>2  Pre-LN multi-head self-attention</a:t>
            </a:r>
          </a:p>
          <a:p>
            <a:pPr algn="l">
              <a:spcBef>
                <a:spcPts val="0"/>
              </a:spcBef>
              <a:spcAft>
                <a:spcPts val="1100"/>
              </a:spcAft>
            </a:pPr>
            <a:r>
              <a:rPr sz="1350" b="1" i="0" dirty="0">
                <a:solidFill>
                  <a:srgbClr val="434343"/>
                </a:solidFill>
                <a:latin typeface="Arial"/>
              </a:rPr>
              <a:t>3  Residual connection</a:t>
            </a:r>
          </a:p>
          <a:p>
            <a:pPr algn="l">
              <a:spcBef>
                <a:spcPts val="0"/>
              </a:spcBef>
              <a:spcAft>
                <a:spcPts val="1100"/>
              </a:spcAft>
            </a:pPr>
            <a:r>
              <a:rPr sz="1350" b="1" i="0" dirty="0">
                <a:solidFill>
                  <a:srgbClr val="434343"/>
                </a:solidFill>
                <a:latin typeface="Arial"/>
              </a:rPr>
              <a:t>4  Pre-LN MLP: 768 → 3072 → 768</a:t>
            </a:r>
          </a:p>
          <a:p>
            <a:pPr algn="l">
              <a:spcBef>
                <a:spcPts val="0"/>
              </a:spcBef>
              <a:spcAft>
                <a:spcPts val="1100"/>
              </a:spcAft>
            </a:pPr>
            <a:r>
              <a:rPr sz="1350" b="1" i="0" dirty="0">
                <a:solidFill>
                  <a:srgbClr val="990014"/>
                </a:solidFill>
                <a:latin typeface="Arial"/>
              </a:rPr>
              <a:t>5  [CLS] collects global visual context</a:t>
            </a:r>
          </a:p>
        </p:txBody>
      </p:sp>
      <p:sp>
        <p:nvSpPr>
          <p:cNvPr id="11" name="Rounded Rectangle 10"/>
          <p:cNvSpPr/>
          <p:nvPr/>
        </p:nvSpPr>
        <p:spPr>
          <a:xfrm>
            <a:off x="6492240" y="4800600"/>
            <a:ext cx="1938528" cy="658368"/>
          </a:xfrm>
          <a:prstGeom prst="roundRect">
            <a:avLst/>
          </a:prstGeom>
          <a:solidFill>
            <a:srgbClr val="FFFFFF"/>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01968" y="4928616"/>
            <a:ext cx="1719072" cy="402336"/>
          </a:xfrm>
          <a:prstGeom prst="rect">
            <a:avLst/>
          </a:prstGeom>
          <a:noFill/>
        </p:spPr>
        <p:txBody>
          <a:bodyPr wrap="square" lIns="0" tIns="0" rIns="0" bIns="0" anchor="t">
            <a:spAutoFit/>
          </a:bodyPr>
          <a:lstStyle/>
          <a:p>
            <a:pPr algn="ctr"/>
            <a:r>
              <a:rPr sz="1150" b="1" i="0">
                <a:solidFill>
                  <a:srgbClr val="206CAA"/>
                </a:solidFill>
                <a:latin typeface="Cambria Math"/>
              </a:rPr>
              <a:t>x ← x + MSA(LN(x))
x ← x + MLP(LN(x))</a:t>
            </a:r>
          </a:p>
        </p:txBody>
      </p:sp>
      <p:pic>
        <p:nvPicPr>
          <p:cNvPr id="16" name="Picture 15">
            <a:extLst>
              <a:ext uri="{FF2B5EF4-FFF2-40B4-BE49-F238E27FC236}">
                <a16:creationId xmlns:a16="http://schemas.microsoft.com/office/drawing/2014/main" id="{0FF4A875-6FB0-E0CC-1444-C7FE2B7C154D}"/>
              </a:ext>
            </a:extLst>
          </p:cNvPr>
          <p:cNvPicPr>
            <a:picLocks noChangeAspect="1"/>
          </p:cNvPicPr>
          <p:nvPr/>
        </p:nvPicPr>
        <p:blipFill>
          <a:blip r:embed="rId3"/>
          <a:stretch>
            <a:fillRect/>
          </a:stretch>
        </p:blipFill>
        <p:spPr>
          <a:xfrm>
            <a:off x="1174653" y="797814"/>
            <a:ext cx="4158173"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000" b="1" i="0">
                <a:solidFill>
                  <a:srgbClr val="FFFFFF"/>
                </a:solidFill>
                <a:latin typeface="Arial"/>
              </a:rPr>
              <a:t>II. Proposed Method — Inside the CLIP Text Encoder</a:t>
            </a:r>
          </a:p>
        </p:txBody>
      </p:sp>
      <p:sp>
        <p:nvSpPr>
          <p:cNvPr id="3" name="TextBox 2"/>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11</a:t>
            </a:r>
          </a:p>
        </p:txBody>
      </p:sp>
      <p:sp>
        <p:nvSpPr>
          <p:cNvPr id="7" name="Rounded Rectangle 6"/>
          <p:cNvSpPr/>
          <p:nvPr/>
        </p:nvSpPr>
        <p:spPr>
          <a:xfrm>
            <a:off x="6272784" y="932688"/>
            <a:ext cx="2377440" cy="4873752"/>
          </a:xfrm>
          <a:prstGeom prst="roundRect">
            <a:avLst/>
          </a:prstGeom>
          <a:solidFill>
            <a:srgbClr val="FDEBEB"/>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565392" y="1197864"/>
            <a:ext cx="1792224" cy="329184"/>
          </a:xfrm>
          <a:prstGeom prst="roundRect">
            <a:avLst/>
          </a:prstGeom>
          <a:solidFill>
            <a:srgbClr val="C5162B"/>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65392" y="1207008"/>
            <a:ext cx="1792224" cy="292608"/>
          </a:xfrm>
          <a:prstGeom prst="rect">
            <a:avLst/>
          </a:prstGeom>
          <a:noFill/>
        </p:spPr>
        <p:txBody>
          <a:bodyPr wrap="square" lIns="36576" tIns="36576" rIns="36576" bIns="36576" anchor="ctr">
            <a:spAutoFit/>
          </a:bodyPr>
          <a:lstStyle/>
          <a:p>
            <a:pPr algn="ctr"/>
            <a:r>
              <a:rPr sz="1050" b="1" i="0">
                <a:solidFill>
                  <a:srgbClr val="FFFFFF"/>
                </a:solidFill>
                <a:latin typeface="Arial"/>
              </a:rPr>
              <a:t>TEXT • 12 BLOCKS</a:t>
            </a:r>
          </a:p>
        </p:txBody>
      </p:sp>
      <p:sp>
        <p:nvSpPr>
          <p:cNvPr id="10" name="TextBox 9"/>
          <p:cNvSpPr txBox="1"/>
          <p:nvPr/>
        </p:nvSpPr>
        <p:spPr>
          <a:xfrm>
            <a:off x="6510528" y="1874519"/>
            <a:ext cx="1938528" cy="2789482"/>
          </a:xfrm>
          <a:prstGeom prst="rect">
            <a:avLst/>
          </a:prstGeom>
          <a:noFill/>
        </p:spPr>
        <p:txBody>
          <a:bodyPr wrap="square" lIns="73152" tIns="73152" rIns="73152" bIns="73152" anchor="t">
            <a:spAutoFit/>
          </a:bodyPr>
          <a:lstStyle/>
          <a:p>
            <a:pPr algn="l">
              <a:spcBef>
                <a:spcPts val="0"/>
              </a:spcBef>
              <a:spcAft>
                <a:spcPts val="1100"/>
              </a:spcAft>
            </a:pPr>
            <a:r>
              <a:rPr sz="1350" b="1" i="0" dirty="0">
                <a:solidFill>
                  <a:srgbClr val="C5162B"/>
                </a:solidFill>
                <a:latin typeface="Arial"/>
              </a:rPr>
              <a:t>1  BPE token + position</a:t>
            </a:r>
          </a:p>
          <a:p>
            <a:pPr algn="l">
              <a:spcBef>
                <a:spcPts val="0"/>
              </a:spcBef>
              <a:spcAft>
                <a:spcPts val="1100"/>
              </a:spcAft>
            </a:pPr>
            <a:r>
              <a:rPr sz="1350" b="1" i="0" dirty="0">
                <a:solidFill>
                  <a:srgbClr val="434343"/>
                </a:solidFill>
                <a:latin typeface="Arial"/>
              </a:rPr>
              <a:t>2  Causal self-attention</a:t>
            </a:r>
          </a:p>
          <a:p>
            <a:pPr algn="l">
              <a:spcBef>
                <a:spcPts val="0"/>
              </a:spcBef>
              <a:spcAft>
                <a:spcPts val="1100"/>
              </a:spcAft>
            </a:pPr>
            <a:r>
              <a:rPr sz="1350" b="1" i="0" dirty="0">
                <a:solidFill>
                  <a:srgbClr val="434343"/>
                </a:solidFill>
                <a:latin typeface="Arial"/>
              </a:rPr>
              <a:t>3  Same Pre-LN residual block</a:t>
            </a:r>
          </a:p>
          <a:p>
            <a:pPr algn="l">
              <a:spcBef>
                <a:spcPts val="0"/>
              </a:spcBef>
              <a:spcAft>
                <a:spcPts val="1100"/>
              </a:spcAft>
            </a:pPr>
            <a:r>
              <a:rPr sz="1350" b="1" i="0" dirty="0">
                <a:solidFill>
                  <a:srgbClr val="990014"/>
                </a:solidFill>
                <a:latin typeface="Arial"/>
              </a:rPr>
              <a:t>4  [EOS] summarizes the prefix</a:t>
            </a:r>
          </a:p>
          <a:p>
            <a:pPr algn="l">
              <a:spcBef>
                <a:spcPts val="0"/>
              </a:spcBef>
              <a:spcAft>
                <a:spcPts val="1100"/>
              </a:spcAft>
            </a:pPr>
            <a:r>
              <a:rPr sz="1350" b="1" i="0" dirty="0">
                <a:solidFill>
                  <a:srgbClr val="990014"/>
                </a:solidFill>
                <a:latin typeface="Arial"/>
              </a:rPr>
              <a:t>5  Linear projection → </a:t>
            </a:r>
            <a:r>
              <a:rPr sz="1350" b="1" i="0" dirty="0" err="1">
                <a:solidFill>
                  <a:srgbClr val="990014"/>
                </a:solidFill>
                <a:latin typeface="Arial"/>
              </a:rPr>
              <a:t>f_t</a:t>
            </a:r>
            <a:endParaRPr sz="1350" b="1" i="0" dirty="0">
              <a:solidFill>
                <a:srgbClr val="990014"/>
              </a:solidFill>
              <a:latin typeface="Arial"/>
            </a:endParaRPr>
          </a:p>
        </p:txBody>
      </p:sp>
      <p:sp>
        <p:nvSpPr>
          <p:cNvPr id="11" name="Rounded Rectangle 10"/>
          <p:cNvSpPr/>
          <p:nvPr/>
        </p:nvSpPr>
        <p:spPr>
          <a:xfrm>
            <a:off x="6492240" y="4800600"/>
            <a:ext cx="1938528" cy="658368"/>
          </a:xfrm>
          <a:prstGeom prst="roundRect">
            <a:avLst/>
          </a:prstGeom>
          <a:solidFill>
            <a:srgbClr val="FFFFFF"/>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01968" y="4937760"/>
            <a:ext cx="1719072" cy="384048"/>
          </a:xfrm>
          <a:prstGeom prst="rect">
            <a:avLst/>
          </a:prstGeom>
          <a:noFill/>
        </p:spPr>
        <p:txBody>
          <a:bodyPr wrap="square" lIns="0" tIns="0" rIns="0" bIns="0" anchor="t">
            <a:spAutoFit/>
          </a:bodyPr>
          <a:lstStyle/>
          <a:p>
            <a:pPr algn="ctr"/>
            <a:r>
              <a:rPr sz="1150" b="1" i="0">
                <a:solidFill>
                  <a:srgbClr val="990014"/>
                </a:solidFill>
                <a:latin typeface="Arial"/>
              </a:rPr>
              <a:t>token i attends only
to positions ≤ i</a:t>
            </a:r>
          </a:p>
        </p:txBody>
      </p:sp>
      <p:pic>
        <p:nvPicPr>
          <p:cNvPr id="15" name="Picture 14">
            <a:extLst>
              <a:ext uri="{FF2B5EF4-FFF2-40B4-BE49-F238E27FC236}">
                <a16:creationId xmlns:a16="http://schemas.microsoft.com/office/drawing/2014/main" id="{6A26E076-206E-7254-4505-3DB2A2634CCD}"/>
              </a:ext>
            </a:extLst>
          </p:cNvPr>
          <p:cNvPicPr>
            <a:picLocks noChangeAspect="1"/>
          </p:cNvPicPr>
          <p:nvPr/>
        </p:nvPicPr>
        <p:blipFill>
          <a:blip r:embed="rId3"/>
          <a:stretch>
            <a:fillRect/>
          </a:stretch>
        </p:blipFill>
        <p:spPr>
          <a:xfrm>
            <a:off x="713232" y="797814"/>
            <a:ext cx="4720673"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300" b="1" i="0">
                <a:solidFill>
                  <a:srgbClr val="FFFFFF"/>
                </a:solidFill>
                <a:latin typeface="Arial"/>
              </a:rPr>
              <a:t>II. Proposed Method — IRR through MLM</a:t>
            </a:r>
          </a:p>
        </p:txBody>
      </p:sp>
      <p:sp>
        <p:nvSpPr>
          <p:cNvPr id="3" name="TextBox 2"/>
          <p:cNvSpPr txBox="1"/>
          <p:nvPr/>
        </p:nvSpPr>
        <p:spPr>
          <a:xfrm>
            <a:off x="658368" y="6236208"/>
            <a:ext cx="7726679" cy="182880"/>
          </a:xfrm>
          <a:prstGeom prst="rect">
            <a:avLst/>
          </a:prstGeom>
          <a:noFill/>
        </p:spPr>
        <p:txBody>
          <a:bodyPr wrap="square" lIns="0" tIns="0" rIns="0" bIns="0" anchor="t">
            <a:spAutoFit/>
          </a:bodyPr>
          <a:lstStyle/>
          <a:p>
            <a:pPr algn="l"/>
            <a:r>
              <a:rPr sz="750" b="0" i="1">
                <a:solidFill>
                  <a:srgbClr val="696969"/>
                </a:solidFill>
                <a:latin typeface="Arial"/>
              </a:rPr>
              <a:t>Figure source: Jiang &amp; Ye, CVPR 2023, Fig. 3</a:t>
            </a:r>
          </a:p>
        </p:txBody>
      </p:sp>
      <p:sp>
        <p:nvSpPr>
          <p:cNvPr id="4" name="TextBox 3"/>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12</a:t>
            </a:r>
          </a:p>
        </p:txBody>
      </p:sp>
      <p:sp>
        <p:nvSpPr>
          <p:cNvPr id="5" name="Rounded Rectangle 4"/>
          <p:cNvSpPr/>
          <p:nvPr/>
        </p:nvSpPr>
        <p:spPr>
          <a:xfrm>
            <a:off x="484632" y="987552"/>
            <a:ext cx="4663440" cy="4828032"/>
          </a:xfrm>
          <a:prstGeom prst="roundRect">
            <a:avLst/>
          </a:prstGeom>
          <a:solidFill>
            <a:srgbClr val="F3F4F6"/>
          </a:solidFill>
          <a:ln w="12700">
            <a:solidFill>
              <a:srgbClr val="E0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243584"/>
            <a:ext cx="1389888" cy="329184"/>
          </a:xfrm>
          <a:prstGeom prst="roundRect">
            <a:avLst/>
          </a:prstGeom>
          <a:solidFill>
            <a:srgbClr val="206CAA"/>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252728"/>
            <a:ext cx="1389888" cy="292608"/>
          </a:xfrm>
          <a:prstGeom prst="rect">
            <a:avLst/>
          </a:prstGeom>
          <a:noFill/>
        </p:spPr>
        <p:txBody>
          <a:bodyPr wrap="square" lIns="36576" tIns="36576" rIns="36576" bIns="36576" anchor="ctr">
            <a:spAutoFit/>
          </a:bodyPr>
          <a:lstStyle/>
          <a:p>
            <a:pPr algn="ctr"/>
            <a:r>
              <a:rPr sz="1050" b="1" i="0">
                <a:solidFill>
                  <a:srgbClr val="FFFFFF"/>
                </a:solidFill>
                <a:latin typeface="Arial"/>
              </a:rPr>
              <a:t>ORIGINAL TEXT</a:t>
            </a:r>
          </a:p>
        </p:txBody>
      </p:sp>
      <p:sp>
        <p:nvSpPr>
          <p:cNvPr id="8" name="TextBox 7"/>
          <p:cNvSpPr txBox="1"/>
          <p:nvPr/>
        </p:nvSpPr>
        <p:spPr>
          <a:xfrm>
            <a:off x="777240" y="1737360"/>
            <a:ext cx="4069080" cy="566928"/>
          </a:xfrm>
          <a:prstGeom prst="rect">
            <a:avLst/>
          </a:prstGeom>
          <a:noFill/>
        </p:spPr>
        <p:txBody>
          <a:bodyPr wrap="square" lIns="0" tIns="0" rIns="0" bIns="0" anchor="t">
            <a:spAutoFit/>
          </a:bodyPr>
          <a:lstStyle/>
          <a:p>
            <a:pPr algn="l"/>
            <a:r>
              <a:rPr sz="1600" b="1" i="0">
                <a:solidFill>
                  <a:srgbClr val="434343"/>
                </a:solidFill>
                <a:latin typeface="Arial"/>
              </a:rPr>
              <a:t>… gray shoes and a white purse around her waist.</a:t>
            </a:r>
          </a:p>
        </p:txBody>
      </p:sp>
      <p:sp>
        <p:nvSpPr>
          <p:cNvPr id="9" name="Rounded Rectangle 8"/>
          <p:cNvSpPr/>
          <p:nvPr/>
        </p:nvSpPr>
        <p:spPr>
          <a:xfrm>
            <a:off x="777240" y="2542032"/>
            <a:ext cx="1417320" cy="329184"/>
          </a:xfrm>
          <a:prstGeom prst="roundRect">
            <a:avLst/>
          </a:prstGeom>
          <a:solidFill>
            <a:srgbClr val="C5162B"/>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551175"/>
            <a:ext cx="1417320" cy="292608"/>
          </a:xfrm>
          <a:prstGeom prst="rect">
            <a:avLst/>
          </a:prstGeom>
          <a:noFill/>
        </p:spPr>
        <p:txBody>
          <a:bodyPr wrap="square" lIns="36576" tIns="36576" rIns="36576" bIns="36576" anchor="ctr">
            <a:spAutoFit/>
          </a:bodyPr>
          <a:lstStyle/>
          <a:p>
            <a:pPr algn="ctr"/>
            <a:r>
              <a:rPr sz="1100" b="1" i="0">
                <a:solidFill>
                  <a:srgbClr val="FFFFFF"/>
                </a:solidFill>
                <a:latin typeface="Arial"/>
              </a:rPr>
              <a:t>MASKED TEXT</a:t>
            </a:r>
          </a:p>
        </p:txBody>
      </p:sp>
      <p:sp>
        <p:nvSpPr>
          <p:cNvPr id="11" name="TextBox 10"/>
          <p:cNvSpPr txBox="1"/>
          <p:nvPr/>
        </p:nvSpPr>
        <p:spPr>
          <a:xfrm>
            <a:off x="777240" y="3035808"/>
            <a:ext cx="4069080" cy="612648"/>
          </a:xfrm>
          <a:prstGeom prst="rect">
            <a:avLst/>
          </a:prstGeom>
          <a:noFill/>
        </p:spPr>
        <p:txBody>
          <a:bodyPr wrap="square" lIns="0" tIns="0" rIns="0" bIns="0" anchor="t">
            <a:spAutoFit/>
          </a:bodyPr>
          <a:lstStyle/>
          <a:p>
            <a:pPr algn="l"/>
            <a:r>
              <a:rPr sz="1600" b="1" i="0">
                <a:solidFill>
                  <a:srgbClr val="990014"/>
                </a:solidFill>
                <a:latin typeface="Arial"/>
              </a:rPr>
              <a:t>… gray [MASK] and a [MASK] purse [MASK] her waist.</a:t>
            </a:r>
          </a:p>
        </p:txBody>
      </p:sp>
      <p:sp>
        <p:nvSpPr>
          <p:cNvPr id="12" name="TextBox 11"/>
          <p:cNvSpPr txBox="1"/>
          <p:nvPr/>
        </p:nvSpPr>
        <p:spPr>
          <a:xfrm>
            <a:off x="777240" y="3886200"/>
            <a:ext cx="3977639" cy="347472"/>
          </a:xfrm>
          <a:prstGeom prst="rect">
            <a:avLst/>
          </a:prstGeom>
          <a:noFill/>
        </p:spPr>
        <p:txBody>
          <a:bodyPr wrap="square" lIns="0" tIns="0" rIns="0" bIns="0" anchor="t">
            <a:spAutoFit/>
          </a:bodyPr>
          <a:lstStyle/>
          <a:p>
            <a:pPr algn="l"/>
            <a:r>
              <a:rPr sz="1500" b="1" i="0">
                <a:solidFill>
                  <a:srgbClr val="C5162B"/>
                </a:solidFill>
                <a:latin typeface="Arial"/>
              </a:rPr>
              <a:t>Predictions:  shoes  •  white  •  around</a:t>
            </a:r>
          </a:p>
        </p:txBody>
      </p:sp>
      <p:sp>
        <p:nvSpPr>
          <p:cNvPr id="13" name="Rounded Rectangle 12"/>
          <p:cNvSpPr/>
          <p:nvPr/>
        </p:nvSpPr>
        <p:spPr>
          <a:xfrm>
            <a:off x="777240" y="4434840"/>
            <a:ext cx="3977639" cy="850392"/>
          </a:xfrm>
          <a:prstGeom prst="roundRect">
            <a:avLst/>
          </a:prstGeom>
          <a:solidFill>
            <a:srgbClr val="FFFFFF"/>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2688" y="4590288"/>
            <a:ext cx="3657600" cy="512064"/>
          </a:xfrm>
          <a:prstGeom prst="rect">
            <a:avLst/>
          </a:prstGeom>
          <a:noFill/>
        </p:spPr>
        <p:txBody>
          <a:bodyPr wrap="square" lIns="0" tIns="0" rIns="0" bIns="0" anchor="t">
            <a:spAutoFit/>
          </a:bodyPr>
          <a:lstStyle/>
          <a:p>
            <a:pPr algn="ctr"/>
            <a:r>
              <a:rPr sz="1350" b="1" i="0">
                <a:solidFill>
                  <a:srgbClr val="434343"/>
                </a:solidFill>
                <a:latin typeface="Arial"/>
              </a:rPr>
              <a:t>Select 15% of tokens
80% [MASK]  •  10% random  •  10% unchanged</a:t>
            </a:r>
          </a:p>
        </p:txBody>
      </p:sp>
      <p:sp>
        <p:nvSpPr>
          <p:cNvPr id="15" name="Rounded Rectangle 14"/>
          <p:cNvSpPr/>
          <p:nvPr/>
        </p:nvSpPr>
        <p:spPr>
          <a:xfrm>
            <a:off x="5394960" y="987552"/>
            <a:ext cx="3273552" cy="3694176"/>
          </a:xfrm>
          <a:prstGeom prst="roundRect">
            <a:avLst/>
          </a:prstGeom>
          <a:solidFill>
            <a:srgbClr val="FFFFFF"/>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fig3.png"/>
          <p:cNvPicPr>
            <a:picLocks noChangeAspect="1"/>
          </p:cNvPicPr>
          <p:nvPr/>
        </p:nvPicPr>
        <p:blipFill>
          <a:blip r:embed="rId3"/>
          <a:stretch>
            <a:fillRect/>
          </a:stretch>
        </p:blipFill>
        <p:spPr>
          <a:xfrm>
            <a:off x="5513832" y="1853066"/>
            <a:ext cx="3035808" cy="1926570"/>
          </a:xfrm>
          <a:prstGeom prst="rect">
            <a:avLst/>
          </a:prstGeom>
        </p:spPr>
      </p:pic>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FAFFF239-D40C-DFF2-5CCB-86E68E80E3CB}"/>
                  </a:ext>
                </a:extLst>
              </p:cNvPr>
              <p:cNvSpPr txBox="1"/>
              <p:nvPr/>
            </p:nvSpPr>
            <p:spPr>
              <a:xfrm>
                <a:off x="5394960" y="4997998"/>
                <a:ext cx="3547574" cy="672235"/>
              </a:xfrm>
              <a:prstGeom prst="rect">
                <a:avLst/>
              </a:prstGeom>
              <a:noFill/>
            </p:spPr>
            <p:txBody>
              <a:bodyPr wrap="square" lIns="0" tIns="0" rIns="0" bIns="0" rtlCol="0">
                <a:spAutoFit/>
              </a:bodyPr>
              <a:lstStyle/>
              <a:p>
                <a14:m>
                  <m:oMathPara xmlns:m="http://schemas.openxmlformats.org/officeDocument/2006/math">
                    <m:oMath>
                      <m:sSub>
                        <m:sSubPr>
                          <m:ctrlPr>
                            <a:rPr lang="en-US">
                              <a:latin typeface="Cambria Math" panose="02040503050406030204" pitchFamily="18" charset="0"/>
                            </a:rPr>
                          </m:ctrlPr>
                        </m:sSubPr>
                        <m:e>
                          <m:r>
                            <a:rPr lang="en-US">
                              <a:latin typeface="Cambria Math" panose="02040503050406030204" pitchFamily="18" charset="0"/>
                            </a:rPr>
                            <m:t>ℒ</m:t>
                          </m:r>
                        </m:e>
                        <m:sub>
                          <m:r>
                            <m:rPr>
                              <m:sty m:val="p"/>
                            </m:rPr>
                            <a:rPr lang="en-US" i="0">
                              <a:latin typeface="Cambria Math" panose="02040503050406030204" pitchFamily="18" charset="0"/>
                            </a:rPr>
                            <m:t>MLM</m:t>
                          </m:r>
                        </m:sub>
                      </m:sSub>
                      <m:r>
                        <a:rPr lang="en-US" i="0">
                          <a:latin typeface="Cambria Math" panose="02040503050406030204" pitchFamily="18" charset="0"/>
                        </a:rPr>
                        <m:t>=−</m:t>
                      </m:r>
                      <m:f>
                        <m:fPr>
                          <m:ctrlPr>
                            <a:rPr lang="en-US" i="0">
                              <a:latin typeface="Cambria Math" panose="02040503050406030204" pitchFamily="18" charset="0"/>
                            </a:rPr>
                          </m:ctrlPr>
                        </m:fPr>
                        <m:num>
                          <m:r>
                            <a:rPr lang="en-US" i="0">
                              <a:latin typeface="Cambria Math" panose="02040503050406030204" pitchFamily="18" charset="0"/>
                            </a:rPr>
                            <m:t>1</m:t>
                          </m:r>
                        </m:num>
                        <m:den>
                          <m:d>
                            <m:dPr>
                              <m:begChr m:val="|"/>
                              <m:endChr m:val="|"/>
                              <m:ctrlPr>
                                <a:rPr lang="en-US" i="0">
                                  <a:latin typeface="Cambria Math" panose="02040503050406030204" pitchFamily="18" charset="0"/>
                                </a:rPr>
                              </m:ctrlPr>
                            </m:dPr>
                            <m:e>
                              <m:r>
                                <a:rPr lang="en-US" i="0">
                                  <a:latin typeface="Cambria Math" panose="02040503050406030204" pitchFamily="18" charset="0"/>
                                </a:rPr>
                                <m:t>ℳ</m:t>
                              </m:r>
                            </m:e>
                          </m:d>
                        </m:den>
                      </m:f>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𝑖</m:t>
                          </m:r>
                          <m:r>
                            <a:rPr lang="en-US" i="0">
                              <a:latin typeface="Cambria Math" panose="02040503050406030204" pitchFamily="18" charset="0"/>
                            </a:rPr>
                            <m:t>∈</m:t>
                          </m:r>
                          <m:r>
                            <a:rPr lang="en-US" i="0" smtClean="0">
                              <a:latin typeface="Cambria Math" panose="02040503050406030204" pitchFamily="18" charset="0"/>
                            </a:rPr>
                            <m:t>ℳ</m:t>
                          </m:r>
                        </m:sub>
                        <m:sup/>
                        <m:e>
                          <m:sSub>
                            <m:sSubPr>
                              <m:ctrlPr>
                                <a:rPr lang="en-US" i="1">
                                  <a:latin typeface="Cambria Math" panose="02040503050406030204" pitchFamily="18" charset="0"/>
                                </a:rPr>
                              </m:ctrlPr>
                            </m:sSubPr>
                            <m:e>
                              <m:func>
                                <m:funcPr>
                                  <m:ctrlPr>
                                    <a:rPr lang="en-US" i="0">
                                      <a:latin typeface="Cambria Math" panose="02040503050406030204" pitchFamily="18" charset="0"/>
                                    </a:rPr>
                                  </m:ctrlPr>
                                </m:funcPr>
                                <m:fName>
                                  <m:r>
                                    <m:rPr>
                                      <m:sty m:val="p"/>
                                    </m:rPr>
                                    <a:rPr lang="en-US" i="0">
                                      <a:latin typeface="Cambria Math" panose="02040503050406030204" pitchFamily="18" charset="0"/>
                                    </a:rPr>
                                    <m:t>log</m:t>
                                  </m:r>
                                </m:fName>
                                <m:e>
                                  <m:r>
                                    <a:rPr lang="en-US" i="1">
                                      <a:latin typeface="Cambria Math" panose="02040503050406030204" pitchFamily="18" charset="0"/>
                                    </a:rPr>
                                    <m:t>𝑝</m:t>
                                  </m:r>
                                </m:e>
                              </m:func>
                            </m:e>
                            <m:sub>
                              <m:r>
                                <a:rPr lang="en-US" i="1">
                                  <a:latin typeface="Cambria Math" panose="02040503050406030204" pitchFamily="18" charset="0"/>
                                </a:rPr>
                                <m:t>𝜃</m:t>
                              </m:r>
                            </m:sub>
                          </m:sSub>
                        </m:e>
                      </m:nary>
                      <m:r>
                        <a:rPr lang="en-US" i="0">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𝑖</m:t>
                              </m:r>
                            </m:sub>
                          </m:sSub>
                          <m:r>
                            <a:rPr lang="en-US" i="0">
                              <a:latin typeface="Cambria Math" panose="02040503050406030204" pitchFamily="18" charset="0"/>
                            </a:rPr>
                            <m:t>∣</m:t>
                          </m:r>
                          <m:acc>
                            <m:accPr>
                              <m:chr m:val="ˆ"/>
                              <m:ctrlPr>
                                <a:rPr lang="en-US" i="1">
                                  <a:latin typeface="Cambria Math" panose="02040503050406030204" pitchFamily="18" charset="0"/>
                                </a:rPr>
                              </m:ctrlPr>
                            </m:accPr>
                            <m:e>
                              <m:r>
                                <a:rPr lang="en-US" i="1">
                                  <a:latin typeface="Cambria Math" panose="02040503050406030204" pitchFamily="18" charset="0"/>
                                </a:rPr>
                                <m:t>𝑇</m:t>
                              </m:r>
                            </m:e>
                          </m:acc>
                          <m:r>
                            <a:rPr lang="en-US" i="0">
                              <a:latin typeface="Cambria Math" panose="02040503050406030204" pitchFamily="18" charset="0"/>
                            </a:rPr>
                            <m:t>,</m:t>
                          </m:r>
                          <m:r>
                            <a:rPr lang="en-US" i="1">
                              <a:latin typeface="Cambria Math" panose="02040503050406030204" pitchFamily="18" charset="0"/>
                            </a:rPr>
                            <m:t>𝐼</m:t>
                          </m:r>
                        </m:e>
                      </m:d>
                    </m:oMath>
                  </m:oMathPara>
                </a14:m>
              </a:p>
            </p:txBody>
          </p:sp>
        </mc:Choice>
        <mc:Fallback>
          <p:sp>
            <p:nvSpPr>
              <p:cNvPr id="19" name="TextBox 18">
                <a:extLst>
                  <a:ext uri="{FF2B5EF4-FFF2-40B4-BE49-F238E27FC236}">
                    <a16:creationId xmlns:a16="http://schemas.microsoft.com/office/drawing/2014/main" id="{FAFFF239-D40C-DFF2-5CCB-86E68E80E3CB}"/>
                  </a:ext>
                </a:extLst>
              </p:cNvPr>
              <p:cNvSpPr txBox="1">
                <a:spLocks noRot="1" noChangeAspect="1" noMove="1" noResize="1" noEditPoints="1" noAdjustHandles="1" noChangeArrowheads="1" noChangeShapeType="1" noTextEdit="1"/>
              </p:cNvSpPr>
              <p:nvPr/>
            </p:nvSpPr>
            <p:spPr>
              <a:xfrm>
                <a:off x="5394960" y="4997998"/>
                <a:ext cx="3547574" cy="672235"/>
              </a:xfrm>
              <a:prstGeom prst="rect">
                <a:avLst/>
              </a:prstGeom>
              <a:blipFill>
                <a:blip r:embed="rId4"/>
                <a:stretch>
                  <a:fillRect/>
                </a:stretch>
              </a:blipFill>
            </p:spPr>
            <p:txBody>
              <a:bodyPr/>
              <a:lstStyle/>
              <a:p>
                <a:r>
                  <a:rPr 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000" b="1" i="0">
                <a:solidFill>
                  <a:srgbClr val="FFFFFF"/>
                </a:solidFill>
                <a:latin typeface="Arial"/>
              </a:rPr>
              <a:t>II. Proposed Method — What Does the MLM Branch Learn?</a:t>
            </a:r>
          </a:p>
        </p:txBody>
      </p:sp>
      <p:sp>
        <p:nvSpPr>
          <p:cNvPr id="3" name="TextBox 2"/>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14</a:t>
            </a:r>
          </a:p>
        </p:txBody>
      </p:sp>
      <p:sp>
        <p:nvSpPr>
          <p:cNvPr id="7" name="Rounded Rectangle 6"/>
          <p:cNvSpPr/>
          <p:nvPr/>
        </p:nvSpPr>
        <p:spPr>
          <a:xfrm>
            <a:off x="6053328" y="932688"/>
            <a:ext cx="2596896" cy="1325880"/>
          </a:xfrm>
          <a:prstGeom prst="roundRect">
            <a:avLst/>
          </a:prstGeom>
          <a:solidFill>
            <a:srgbClr val="FDEBEB"/>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638544" y="1170432"/>
            <a:ext cx="1408176" cy="329184"/>
          </a:xfrm>
          <a:prstGeom prst="roundRect">
            <a:avLst/>
          </a:prstGeom>
          <a:solidFill>
            <a:srgbClr val="C5162B"/>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38544" y="1179576"/>
            <a:ext cx="1408176" cy="292608"/>
          </a:xfrm>
          <a:prstGeom prst="rect">
            <a:avLst/>
          </a:prstGeom>
          <a:noFill/>
        </p:spPr>
        <p:txBody>
          <a:bodyPr wrap="square" lIns="36576" tIns="36576" rIns="36576" bIns="36576" anchor="ctr">
            <a:spAutoFit/>
          </a:bodyPr>
          <a:lstStyle/>
          <a:p>
            <a:pPr algn="ctr"/>
            <a:r>
              <a:rPr sz="1050" b="1" i="0">
                <a:solidFill>
                  <a:srgbClr val="FFFFFF"/>
                </a:solidFill>
                <a:latin typeface="Arial"/>
              </a:rPr>
              <a:t>OBJECTIVE</a:t>
            </a:r>
          </a:p>
        </p:txBody>
      </p:sp>
      <p:sp>
        <p:nvSpPr>
          <p:cNvPr id="10" name="TextBox 9"/>
          <p:cNvSpPr txBox="1"/>
          <p:nvPr/>
        </p:nvSpPr>
        <p:spPr>
          <a:xfrm>
            <a:off x="6309360" y="1645920"/>
            <a:ext cx="2084831" cy="420624"/>
          </a:xfrm>
          <a:prstGeom prst="rect">
            <a:avLst/>
          </a:prstGeom>
          <a:noFill/>
        </p:spPr>
        <p:txBody>
          <a:bodyPr wrap="square" lIns="0" tIns="0" rIns="0" bIns="0" anchor="t">
            <a:spAutoFit/>
          </a:bodyPr>
          <a:lstStyle/>
          <a:p>
            <a:pPr algn="ctr"/>
            <a:r>
              <a:rPr sz="1300" b="1" i="0">
                <a:solidFill>
                  <a:srgbClr val="990014"/>
                </a:solidFill>
                <a:latin typeface="Arial"/>
              </a:rPr>
              <a:t>Cross-entropy only at
selected token positions</a:t>
            </a:r>
          </a:p>
        </p:txBody>
      </p:sp>
      <p:sp>
        <p:nvSpPr>
          <p:cNvPr id="11" name="Rounded Rectangle 10"/>
          <p:cNvSpPr/>
          <p:nvPr/>
        </p:nvSpPr>
        <p:spPr>
          <a:xfrm>
            <a:off x="6053328" y="2468880"/>
            <a:ext cx="2596896" cy="1444752"/>
          </a:xfrm>
          <a:prstGeom prst="roundRect">
            <a:avLst/>
          </a:prstGeom>
          <a:solidFill>
            <a:srgbClr val="F3F4F6"/>
          </a:solidFill>
          <a:ln w="12700">
            <a:solidFill>
              <a:srgbClr val="E0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36792" y="2706624"/>
            <a:ext cx="2029968" cy="329184"/>
          </a:xfrm>
          <a:prstGeom prst="roundRect">
            <a:avLst/>
          </a:prstGeom>
          <a:solidFill>
            <a:srgbClr val="206CAA"/>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36792" y="2715768"/>
            <a:ext cx="2029968" cy="292608"/>
          </a:xfrm>
          <a:prstGeom prst="rect">
            <a:avLst/>
          </a:prstGeom>
          <a:noFill/>
        </p:spPr>
        <p:txBody>
          <a:bodyPr wrap="square" lIns="36576" tIns="36576" rIns="36576" bIns="36576" anchor="ctr">
            <a:spAutoFit/>
          </a:bodyPr>
          <a:lstStyle/>
          <a:p>
            <a:pPr algn="ctr"/>
            <a:r>
              <a:rPr sz="1050" b="1" i="0">
                <a:solidFill>
                  <a:srgbClr val="FFFFFF"/>
                </a:solidFill>
                <a:latin typeface="Arial"/>
              </a:rPr>
              <a:t>LEARNED FEATURES</a:t>
            </a:r>
          </a:p>
        </p:txBody>
      </p:sp>
      <p:sp>
        <p:nvSpPr>
          <p:cNvPr id="14" name="TextBox 13"/>
          <p:cNvSpPr txBox="1"/>
          <p:nvPr/>
        </p:nvSpPr>
        <p:spPr>
          <a:xfrm>
            <a:off x="6291072" y="3145536"/>
            <a:ext cx="2121408" cy="612648"/>
          </a:xfrm>
          <a:prstGeom prst="rect">
            <a:avLst/>
          </a:prstGeom>
          <a:noFill/>
        </p:spPr>
        <p:txBody>
          <a:bodyPr wrap="square" lIns="0" tIns="0" rIns="0" bIns="0" anchor="t">
            <a:spAutoFit/>
          </a:bodyPr>
          <a:lstStyle/>
          <a:p>
            <a:pPr algn="ctr"/>
            <a:r>
              <a:rPr sz="1250" b="1" i="0">
                <a:solidFill>
                  <a:srgbClr val="434343"/>
                </a:solidFill>
                <a:latin typeface="Arial"/>
              </a:rPr>
              <a:t>word–region correspondence
contextual token features
fine-grained visual cues</a:t>
            </a:r>
          </a:p>
        </p:txBody>
      </p:sp>
      <p:sp>
        <p:nvSpPr>
          <p:cNvPr id="15" name="Rounded Rectangle 14"/>
          <p:cNvSpPr/>
          <p:nvPr/>
        </p:nvSpPr>
        <p:spPr>
          <a:xfrm>
            <a:off x="6053328" y="4123944"/>
            <a:ext cx="2596896" cy="1682496"/>
          </a:xfrm>
          <a:prstGeom prst="roundRect">
            <a:avLst/>
          </a:prstGeom>
          <a:solidFill>
            <a:srgbClr val="E8F1F9"/>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73952" y="4361688"/>
            <a:ext cx="1755648" cy="329184"/>
          </a:xfrm>
          <a:prstGeom prst="roundRect">
            <a:avLst/>
          </a:prstGeom>
          <a:solidFill>
            <a:srgbClr val="206CAA"/>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73952" y="4370831"/>
            <a:ext cx="1755648" cy="292608"/>
          </a:xfrm>
          <a:prstGeom prst="rect">
            <a:avLst/>
          </a:prstGeom>
          <a:noFill/>
        </p:spPr>
        <p:txBody>
          <a:bodyPr wrap="square" lIns="36576" tIns="36576" rIns="36576" bIns="36576" anchor="ctr">
            <a:spAutoFit/>
          </a:bodyPr>
          <a:lstStyle/>
          <a:p>
            <a:pPr algn="ctr"/>
            <a:r>
              <a:rPr sz="1050" b="1" i="0">
                <a:solidFill>
                  <a:srgbClr val="FFFFFF"/>
                </a:solidFill>
                <a:latin typeface="Arial"/>
              </a:rPr>
              <a:t>GRADIENT ROUTE</a:t>
            </a:r>
          </a:p>
        </p:txBody>
      </p:sp>
      <p:sp>
        <p:nvSpPr>
          <p:cNvPr id="18" name="TextBox 17"/>
          <p:cNvSpPr txBox="1"/>
          <p:nvPr/>
        </p:nvSpPr>
        <p:spPr>
          <a:xfrm>
            <a:off x="6309360" y="4791456"/>
            <a:ext cx="2084831" cy="795528"/>
          </a:xfrm>
          <a:prstGeom prst="rect">
            <a:avLst/>
          </a:prstGeom>
          <a:noFill/>
        </p:spPr>
        <p:txBody>
          <a:bodyPr wrap="square" lIns="0" tIns="0" rIns="0" bIns="0" anchor="t">
            <a:spAutoFit/>
          </a:bodyPr>
          <a:lstStyle/>
          <a:p>
            <a:pPr algn="ctr"/>
            <a:r>
              <a:rPr sz="1250" b="1" i="0">
                <a:solidFill>
                  <a:srgbClr val="434343"/>
                </a:solidFill>
                <a:latin typeface="Arial"/>
              </a:rPr>
              <a:t>MLM head
interaction encoder
image encoder
text encoder (masked pass)</a:t>
            </a:r>
          </a:p>
        </p:txBody>
      </p:sp>
      <p:pic>
        <p:nvPicPr>
          <p:cNvPr id="21" name="Picture 20">
            <a:extLst>
              <a:ext uri="{FF2B5EF4-FFF2-40B4-BE49-F238E27FC236}">
                <a16:creationId xmlns:a16="http://schemas.microsoft.com/office/drawing/2014/main" id="{287C2EB6-398C-18EF-2D72-E3AFEE4D85FF}"/>
              </a:ext>
            </a:extLst>
          </p:cNvPr>
          <p:cNvPicPr>
            <a:picLocks noChangeAspect="1"/>
          </p:cNvPicPr>
          <p:nvPr/>
        </p:nvPicPr>
        <p:blipFill>
          <a:blip r:embed="rId3"/>
          <a:stretch>
            <a:fillRect/>
          </a:stretch>
        </p:blipFill>
        <p:spPr>
          <a:xfrm>
            <a:off x="173736" y="1198548"/>
            <a:ext cx="5760720" cy="389397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300" b="1" i="0">
                <a:solidFill>
                  <a:srgbClr val="FFFFFF"/>
                </a:solidFill>
                <a:latin typeface="Arial"/>
              </a:rPr>
              <a:t>II. Proposed Method — Multimodal Interaction</a:t>
            </a:r>
          </a:p>
        </p:txBody>
      </p:sp>
      <p:sp>
        <p:nvSpPr>
          <p:cNvPr id="3" name="TextBox 2"/>
          <p:cNvSpPr txBox="1"/>
          <p:nvPr/>
        </p:nvSpPr>
        <p:spPr>
          <a:xfrm>
            <a:off x="658368" y="6236208"/>
            <a:ext cx="7726679" cy="182880"/>
          </a:xfrm>
          <a:prstGeom prst="rect">
            <a:avLst/>
          </a:prstGeom>
          <a:noFill/>
        </p:spPr>
        <p:txBody>
          <a:bodyPr wrap="square" lIns="0" tIns="0" rIns="0" bIns="0" anchor="t">
            <a:spAutoFit/>
          </a:bodyPr>
          <a:lstStyle/>
          <a:p>
            <a:pPr algn="l"/>
            <a:r>
              <a:rPr sz="750" b="0" i="1">
                <a:solidFill>
                  <a:srgbClr val="696969"/>
                </a:solidFill>
                <a:latin typeface="Arial"/>
              </a:rPr>
              <a:t>Source: Jiang &amp; Ye, CVPR 2023, Fig. 4</a:t>
            </a:r>
          </a:p>
        </p:txBody>
      </p:sp>
      <p:sp>
        <p:nvSpPr>
          <p:cNvPr id="4" name="TextBox 3"/>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13</a:t>
            </a:r>
          </a:p>
        </p:txBody>
      </p:sp>
      <p:sp>
        <p:nvSpPr>
          <p:cNvPr id="5" name="Rounded Rectangle 4"/>
          <p:cNvSpPr/>
          <p:nvPr/>
        </p:nvSpPr>
        <p:spPr>
          <a:xfrm>
            <a:off x="475488" y="932688"/>
            <a:ext cx="8193024" cy="2788920"/>
          </a:xfrm>
          <a:prstGeom prst="roundRect">
            <a:avLst/>
          </a:prstGeom>
          <a:solidFill>
            <a:srgbClr val="FFFFFF"/>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4.png"/>
          <p:cNvPicPr>
            <a:picLocks noChangeAspect="1"/>
          </p:cNvPicPr>
          <p:nvPr/>
        </p:nvPicPr>
        <p:blipFill>
          <a:blip r:embed="rId3"/>
          <a:stretch>
            <a:fillRect/>
          </a:stretch>
        </p:blipFill>
        <p:spPr>
          <a:xfrm>
            <a:off x="1766923" y="1060704"/>
            <a:ext cx="5610153" cy="2487168"/>
          </a:xfrm>
          <a:prstGeom prst="rect">
            <a:avLst/>
          </a:prstGeom>
        </p:spPr>
      </p:pic>
      <p:sp>
        <p:nvSpPr>
          <p:cNvPr id="7" name="Rounded Rectangle 6"/>
          <p:cNvSpPr/>
          <p:nvPr/>
        </p:nvSpPr>
        <p:spPr>
          <a:xfrm>
            <a:off x="640080" y="3968496"/>
            <a:ext cx="2926080" cy="1572768"/>
          </a:xfrm>
          <a:prstGeom prst="roundRect">
            <a:avLst/>
          </a:prstGeom>
          <a:solidFill>
            <a:srgbClr val="FDEBEB"/>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4233672"/>
            <a:ext cx="384048" cy="384048"/>
          </a:xfrm>
          <a:prstGeom prst="rect">
            <a:avLst/>
          </a:prstGeom>
          <a:noFill/>
        </p:spPr>
        <p:txBody>
          <a:bodyPr wrap="square" lIns="0" tIns="0" rIns="0" bIns="0" anchor="t">
            <a:spAutoFit/>
          </a:bodyPr>
          <a:lstStyle/>
          <a:p>
            <a:pPr algn="ctr"/>
            <a:r>
              <a:rPr sz="2200" b="1" i="0">
                <a:solidFill>
                  <a:srgbClr val="C5162B"/>
                </a:solidFill>
                <a:latin typeface="Cambria Math"/>
              </a:rPr>
              <a:t>Q</a:t>
            </a:r>
          </a:p>
        </p:txBody>
      </p:sp>
      <p:sp>
        <p:nvSpPr>
          <p:cNvPr id="9" name="TextBox 8"/>
          <p:cNvSpPr txBox="1"/>
          <p:nvPr/>
        </p:nvSpPr>
        <p:spPr>
          <a:xfrm>
            <a:off x="1353312" y="4270248"/>
            <a:ext cx="1874519" cy="274320"/>
          </a:xfrm>
          <a:prstGeom prst="rect">
            <a:avLst/>
          </a:prstGeom>
          <a:noFill/>
        </p:spPr>
        <p:txBody>
          <a:bodyPr wrap="square" lIns="0" tIns="0" rIns="0" bIns="0" anchor="t">
            <a:spAutoFit/>
          </a:bodyPr>
          <a:lstStyle/>
          <a:p>
            <a:pPr algn="l"/>
            <a:r>
              <a:rPr sz="1400" b="1" i="0">
                <a:solidFill>
                  <a:srgbClr val="434343"/>
                </a:solidFill>
                <a:latin typeface="Arial"/>
              </a:rPr>
              <a:t>masked text tokens</a:t>
            </a:r>
          </a:p>
        </p:txBody>
      </p:sp>
      <p:sp>
        <p:nvSpPr>
          <p:cNvPr id="10" name="TextBox 9"/>
          <p:cNvSpPr txBox="1"/>
          <p:nvPr/>
        </p:nvSpPr>
        <p:spPr>
          <a:xfrm>
            <a:off x="822960" y="4745736"/>
            <a:ext cx="621792" cy="329184"/>
          </a:xfrm>
          <a:prstGeom prst="rect">
            <a:avLst/>
          </a:prstGeom>
          <a:noFill/>
        </p:spPr>
        <p:txBody>
          <a:bodyPr wrap="square" lIns="0" tIns="0" rIns="0" bIns="0" anchor="t">
            <a:spAutoFit/>
          </a:bodyPr>
          <a:lstStyle/>
          <a:p>
            <a:pPr algn="ctr"/>
            <a:r>
              <a:rPr sz="2000" b="1" i="0">
                <a:solidFill>
                  <a:srgbClr val="206CAA"/>
                </a:solidFill>
                <a:latin typeface="Cambria Math"/>
              </a:rPr>
              <a:t>K, V</a:t>
            </a:r>
          </a:p>
        </p:txBody>
      </p:sp>
      <p:sp>
        <p:nvSpPr>
          <p:cNvPr id="11" name="TextBox 10"/>
          <p:cNvSpPr txBox="1"/>
          <p:nvPr/>
        </p:nvSpPr>
        <p:spPr>
          <a:xfrm>
            <a:off x="1508760" y="4773168"/>
            <a:ext cx="1627632" cy="274320"/>
          </a:xfrm>
          <a:prstGeom prst="rect">
            <a:avLst/>
          </a:prstGeom>
          <a:noFill/>
        </p:spPr>
        <p:txBody>
          <a:bodyPr wrap="square" lIns="0" tIns="0" rIns="0" bIns="0" anchor="t">
            <a:spAutoFit/>
          </a:bodyPr>
          <a:lstStyle/>
          <a:p>
            <a:pPr algn="l"/>
            <a:r>
              <a:rPr sz="1400" b="1" i="0">
                <a:solidFill>
                  <a:srgbClr val="434343"/>
                </a:solidFill>
                <a:latin typeface="Arial"/>
              </a:rPr>
              <a:t>visual tokens</a:t>
            </a:r>
          </a:p>
        </p:txBody>
      </p:sp>
      <p:sp>
        <p:nvSpPr>
          <p:cNvPr id="12" name="Rounded Rectangle 11"/>
          <p:cNvSpPr/>
          <p:nvPr/>
        </p:nvSpPr>
        <p:spPr>
          <a:xfrm>
            <a:off x="3822191" y="3968496"/>
            <a:ext cx="4663440" cy="1572768"/>
          </a:xfrm>
          <a:prstGeom prst="roundRect">
            <a:avLst/>
          </a:prstGeom>
          <a:solidFill>
            <a:srgbClr val="F3F4F6"/>
          </a:solidFill>
          <a:ln w="12700">
            <a:solidFill>
              <a:srgbClr val="E0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33087" y="4782312"/>
            <a:ext cx="4041648" cy="530352"/>
          </a:xfrm>
          <a:prstGeom prst="rect">
            <a:avLst/>
          </a:prstGeom>
          <a:noFill/>
        </p:spPr>
        <p:txBody>
          <a:bodyPr wrap="square" lIns="0" tIns="0" rIns="0" bIns="0" anchor="t">
            <a:spAutoFit/>
          </a:bodyPr>
          <a:lstStyle/>
          <a:p>
            <a:pPr algn="ctr"/>
            <a:r>
              <a:rPr sz="1350" b="0" i="0">
                <a:solidFill>
                  <a:srgbClr val="434343"/>
                </a:solidFill>
                <a:latin typeface="Arial"/>
              </a:rPr>
              <a:t>One-way cross-attention  →  4 Transformer blocks
hidden size = 512  •  8 heads</a:t>
            </a:r>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14B5D797-EE50-4CC1-B3CB-09698F457C23}"/>
                  </a:ext>
                </a:extLst>
              </p:cNvPr>
              <p:cNvSpPr txBox="1"/>
              <p:nvPr/>
            </p:nvSpPr>
            <p:spPr>
              <a:xfrm>
                <a:off x="4430618" y="4031452"/>
                <a:ext cx="3446585" cy="627416"/>
              </a:xfrm>
              <a:prstGeom prst="rect">
                <a:avLst/>
              </a:prstGeom>
              <a:noFill/>
            </p:spPr>
            <p:txBody>
              <a:bodyPr wrap="none" lIns="0" tIns="0" rIns="0" bIns="0" rtlCol="0">
                <a:spAutoFit/>
              </a:bodyPr>
              <a:lstStyle/>
              <a:p>
                <a14:m>
                  <m:oMathPara xmlns:m="http://schemas.openxmlformats.org/officeDocument/2006/math">
                    <m:oMath>
                      <m:func>
                        <m:funcPr>
                          <m:ctrlPr>
                            <a:rPr lang="en-US" i="0" dirty="0">
                              <a:latin typeface="Cambria Math" panose="02040503050406030204" pitchFamily="18" charset="0"/>
                            </a:rPr>
                          </m:ctrlPr>
                        </m:funcPr>
                        <m:fName>
                          <m:r>
                            <m:rPr>
                              <m:sty m:val="p"/>
                            </m:rPr>
                            <a:rPr lang="en-US" i="0" dirty="0">
                              <a:latin typeface="Cambria Math" panose="02040503050406030204" pitchFamily="18" charset="0"/>
                            </a:rPr>
                            <m:t>MCA</m:t>
                          </m:r>
                        </m:fName>
                        <m:e>
                          <m:d>
                            <m:dPr>
                              <m:ctrlPr>
                                <a:rPr lang="en-US" i="1" dirty="0">
                                  <a:latin typeface="Cambria Math" panose="02040503050406030204" pitchFamily="18" charset="0"/>
                                </a:rPr>
                              </m:ctrlPr>
                            </m:dPr>
                            <m:e>
                              <m:r>
                                <a:rPr lang="en-US" i="1" dirty="0">
                                  <a:latin typeface="Cambria Math" panose="02040503050406030204" pitchFamily="18" charset="0"/>
                                </a:rPr>
                                <m:t>𝑄</m:t>
                              </m:r>
                              <m:r>
                                <a:rPr lang="en-US" i="0" dirty="0">
                                  <a:latin typeface="Cambria Math" panose="02040503050406030204" pitchFamily="18" charset="0"/>
                                </a:rPr>
                                <m:t>,</m:t>
                              </m:r>
                              <m:r>
                                <a:rPr lang="en-US" i="1" dirty="0">
                                  <a:latin typeface="Cambria Math" panose="02040503050406030204" pitchFamily="18" charset="0"/>
                                </a:rPr>
                                <m:t>𝐾</m:t>
                              </m:r>
                              <m:r>
                                <a:rPr lang="en-US" i="0" dirty="0">
                                  <a:latin typeface="Cambria Math" panose="02040503050406030204" pitchFamily="18" charset="0"/>
                                </a:rPr>
                                <m:t>,</m:t>
                              </m:r>
                              <m:r>
                                <a:rPr lang="en-US" i="1" dirty="0">
                                  <a:latin typeface="Cambria Math" panose="02040503050406030204" pitchFamily="18" charset="0"/>
                                </a:rPr>
                                <m:t>𝑉</m:t>
                              </m:r>
                            </m:e>
                          </m:d>
                        </m:e>
                      </m:func>
                      <m:r>
                        <a:rPr lang="en-US" i="0" dirty="0">
                          <a:latin typeface="Cambria Math" panose="02040503050406030204" pitchFamily="18" charset="0"/>
                        </a:rPr>
                        <m:t>=</m:t>
                      </m:r>
                      <m:func>
                        <m:funcPr>
                          <m:ctrlPr>
                            <a:rPr lang="en-US" i="0" dirty="0">
                              <a:latin typeface="Cambria Math" panose="02040503050406030204" pitchFamily="18" charset="0"/>
                            </a:rPr>
                          </m:ctrlPr>
                        </m:funcPr>
                        <m:fName>
                          <m:r>
                            <m:rPr>
                              <m:sty m:val="p"/>
                            </m:rPr>
                            <a:rPr lang="en-US" i="0" dirty="0">
                              <a:latin typeface="Cambria Math" panose="02040503050406030204" pitchFamily="18" charset="0"/>
                            </a:rPr>
                            <m:t>softmax</m:t>
                          </m:r>
                        </m:fName>
                        <m:e>
                          <m:r>
                            <a:rPr lang="en-US" i="0" dirty="0">
                              <a:latin typeface="Cambria Math" panose="02040503050406030204" pitchFamily="18" charset="0"/>
                            </a:rPr>
                            <m:t>​</m:t>
                          </m:r>
                        </m:e>
                      </m:func>
                      <m:d>
                        <m:dPr>
                          <m:ctrlPr>
                            <a:rPr lang="en-US" i="1" dirty="0">
                              <a:latin typeface="Cambria Math" panose="02040503050406030204" pitchFamily="18" charset="0"/>
                            </a:rPr>
                          </m:ctrlPr>
                        </m:dPr>
                        <m:e>
                          <m:f>
                            <m:fPr>
                              <m:ctrlPr>
                                <a:rPr lang="en-US" i="1" dirty="0">
                                  <a:latin typeface="Cambria Math" panose="02040503050406030204" pitchFamily="18" charset="0"/>
                                </a:rPr>
                              </m:ctrlPr>
                            </m:fPr>
                            <m:num>
                              <m:r>
                                <a:rPr lang="en-US" i="1" dirty="0">
                                  <a:latin typeface="Cambria Math" panose="02040503050406030204" pitchFamily="18" charset="0"/>
                                </a:rPr>
                                <m:t>𝑄</m:t>
                              </m:r>
                              <m:sSup>
                                <m:sSupPr>
                                  <m:ctrlPr>
                                    <a:rPr lang="en-US" i="1" dirty="0">
                                      <a:latin typeface="Cambria Math" panose="02040503050406030204" pitchFamily="18" charset="0"/>
                                    </a:rPr>
                                  </m:ctrlPr>
                                </m:sSupPr>
                                <m:e>
                                  <m:r>
                                    <a:rPr lang="en-US" i="1" dirty="0">
                                      <a:latin typeface="Cambria Math" panose="02040503050406030204" pitchFamily="18" charset="0"/>
                                    </a:rPr>
                                    <m:t>𝐾</m:t>
                                  </m:r>
                                </m:e>
                                <m:sup>
                                  <m:r>
                                    <a:rPr lang="en-US" i="0" dirty="0">
                                      <a:latin typeface="Cambria Math" panose="02040503050406030204" pitchFamily="18" charset="0"/>
                                    </a:rPr>
                                    <m:t>⊤</m:t>
                                  </m:r>
                                </m:sup>
                              </m:sSup>
                            </m:num>
                            <m:den>
                              <m:rad>
                                <m:radPr>
                                  <m:degHide m:val="on"/>
                                  <m:ctrlPr>
                                    <a:rPr lang="en-US" i="1" dirty="0">
                                      <a:latin typeface="Cambria Math" panose="02040503050406030204" pitchFamily="18" charset="0"/>
                                    </a:rPr>
                                  </m:ctrlPr>
                                </m:radPr>
                                <m:deg/>
                                <m:e>
                                  <m:r>
                                    <a:rPr lang="en-US" i="1" dirty="0">
                                      <a:latin typeface="Cambria Math" panose="02040503050406030204" pitchFamily="18" charset="0"/>
                                    </a:rPr>
                                    <m:t>𝑑</m:t>
                                  </m:r>
                                </m:e>
                              </m:rad>
                            </m:den>
                          </m:f>
                        </m:e>
                      </m:d>
                      <m:r>
                        <a:rPr lang="en-US" i="1" dirty="0">
                          <a:latin typeface="Cambria Math" panose="02040503050406030204" pitchFamily="18" charset="0"/>
                        </a:rPr>
                        <m:t>𝑉</m:t>
                      </m:r>
                    </m:oMath>
                  </m:oMathPara>
                </a14:m>
                <a:endParaRPr lang="en-US" dirty="0"/>
              </a:p>
            </p:txBody>
          </p:sp>
        </mc:Choice>
        <mc:Fallback>
          <p:sp>
            <p:nvSpPr>
              <p:cNvPr id="15" name="TextBox 14">
                <a:extLst>
                  <a:ext uri="{FF2B5EF4-FFF2-40B4-BE49-F238E27FC236}">
                    <a16:creationId xmlns:a16="http://schemas.microsoft.com/office/drawing/2014/main" id="{14B5D797-EE50-4CC1-B3CB-09698F457C23}"/>
                  </a:ext>
                </a:extLst>
              </p:cNvPr>
              <p:cNvSpPr txBox="1">
                <a:spLocks noRot="1" noChangeAspect="1" noMove="1" noResize="1" noEditPoints="1" noAdjustHandles="1" noChangeArrowheads="1" noChangeShapeType="1" noTextEdit="1"/>
              </p:cNvSpPr>
              <p:nvPr/>
            </p:nvSpPr>
            <p:spPr>
              <a:xfrm>
                <a:off x="4430618" y="4031452"/>
                <a:ext cx="3446585" cy="627416"/>
              </a:xfrm>
              <a:prstGeom prst="rect">
                <a:avLst/>
              </a:prstGeom>
              <a:blipFill>
                <a:blip r:embed="rId4"/>
                <a:stretch>
                  <a:fillRect/>
                </a:stretch>
              </a:blipFill>
            </p:spPr>
            <p:txBody>
              <a:bodyPr/>
              <a:lstStyle/>
              <a:p>
                <a:r>
                  <a:rPr 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000" b="1" i="0">
                <a:solidFill>
                  <a:srgbClr val="FFFFFF"/>
                </a:solidFill>
                <a:latin typeface="Arial"/>
              </a:rPr>
              <a:t>II. Proposed Method — Similarity Distribution Matching</a:t>
            </a:r>
          </a:p>
        </p:txBody>
      </p:sp>
      <p:sp>
        <p:nvSpPr>
          <p:cNvPr id="3" name="TextBox 2"/>
          <p:cNvSpPr txBox="1"/>
          <p:nvPr/>
        </p:nvSpPr>
        <p:spPr>
          <a:xfrm>
            <a:off x="658368" y="6236208"/>
            <a:ext cx="7726679" cy="182880"/>
          </a:xfrm>
          <a:prstGeom prst="rect">
            <a:avLst/>
          </a:prstGeom>
          <a:noFill/>
        </p:spPr>
        <p:txBody>
          <a:bodyPr wrap="square" lIns="0" tIns="0" rIns="0" bIns="0" anchor="t">
            <a:spAutoFit/>
          </a:bodyPr>
          <a:lstStyle/>
          <a:p>
            <a:pPr algn="l"/>
            <a:r>
              <a:rPr sz="750" b="0" i="1">
                <a:solidFill>
                  <a:srgbClr val="696969"/>
                </a:solidFill>
                <a:latin typeface="Arial"/>
              </a:rPr>
              <a:t>Equations from Jiang &amp; Ye, CVPR 2023, Eq. (4)–(6)</a:t>
            </a:r>
          </a:p>
        </p:txBody>
      </p:sp>
      <p:sp>
        <p:nvSpPr>
          <p:cNvPr id="4" name="TextBox 3"/>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15</a:t>
            </a:r>
          </a:p>
        </p:txBody>
      </p:sp>
      <p:sp>
        <p:nvSpPr>
          <p:cNvPr id="5" name="TextBox 4"/>
          <p:cNvSpPr txBox="1"/>
          <p:nvPr/>
        </p:nvSpPr>
        <p:spPr>
          <a:xfrm>
            <a:off x="658368" y="822960"/>
            <a:ext cx="7827264" cy="310896"/>
          </a:xfrm>
          <a:prstGeom prst="rect">
            <a:avLst/>
          </a:prstGeom>
          <a:noFill/>
        </p:spPr>
        <p:txBody>
          <a:bodyPr wrap="square" lIns="0" tIns="0" rIns="0" bIns="0" anchor="t">
            <a:spAutoFit/>
          </a:bodyPr>
          <a:lstStyle/>
          <a:p>
            <a:pPr algn="ctr"/>
            <a:r>
              <a:rPr sz="1300" b="1" i="0">
                <a:solidFill>
                  <a:srgbClr val="434343"/>
                </a:solidFill>
                <a:latin typeface="Arial"/>
              </a:rPr>
              <a:t>For a mini-batch of N pairs:  sim(·,·) = cosine similarity;  yᵢⱼ = 1 iff the identities match</a:t>
            </a:r>
          </a:p>
        </p:txBody>
      </p:sp>
      <p:sp>
        <p:nvSpPr>
          <p:cNvPr id="6" name="Rounded Rectangle 5"/>
          <p:cNvSpPr/>
          <p:nvPr/>
        </p:nvSpPr>
        <p:spPr>
          <a:xfrm>
            <a:off x="502920" y="1298448"/>
            <a:ext cx="8138160" cy="1207008"/>
          </a:xfrm>
          <a:prstGeom prst="roundRect">
            <a:avLst/>
          </a:prstGeom>
          <a:solidFill>
            <a:srgbClr val="FDEBEB"/>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719072"/>
            <a:ext cx="1417320" cy="329184"/>
          </a:xfrm>
          <a:prstGeom prst="roundRect">
            <a:avLst/>
          </a:prstGeom>
          <a:solidFill>
            <a:srgbClr val="C5162B"/>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728216"/>
            <a:ext cx="1417320" cy="292608"/>
          </a:xfrm>
          <a:prstGeom prst="rect">
            <a:avLst/>
          </a:prstGeom>
          <a:noFill/>
        </p:spPr>
        <p:txBody>
          <a:bodyPr wrap="square" lIns="36576" tIns="36576" rIns="36576" bIns="36576" anchor="ctr">
            <a:spAutoFit/>
          </a:bodyPr>
          <a:lstStyle/>
          <a:p>
            <a:pPr algn="ctr"/>
            <a:r>
              <a:rPr sz="1050" b="1" i="0">
                <a:solidFill>
                  <a:srgbClr val="FFFFFF"/>
                </a:solidFill>
                <a:latin typeface="Arial"/>
              </a:rPr>
              <a:t>1 • PREDICTION</a:t>
            </a:r>
          </a:p>
        </p:txBody>
      </p:sp>
      <mc:AlternateContent xmlns:mc="http://schemas.openxmlformats.org/markup-compatibility/2006">
        <mc:Choice xmlns:a14="http://schemas.microsoft.com/office/drawing/2010/main" Requires="a14">
          <p:sp>
            <p:nvSpPr>
              <p:cNvPr id="9" name="TextBox 8" descr="LaTeX: p_{i,j}^{i\rightarrow t}=\frac{\exp(\operatorname{sim}(f_i^v,f_j^t)/\tau)}{\sum_{k=1}^{N}\exp(\operatorname{sim}(f_i^v,f_k^t)/\tau)}"/>
              <p:cNvSpPr txBox="1"/>
              <p:nvPr/>
            </p:nvSpPr>
            <p:spPr>
              <a:xfrm>
                <a:off x="2267712" y="1417320"/>
                <a:ext cx="6053328" cy="987552"/>
              </a:xfrm>
              <a:prstGeom prst="rect">
                <a:avLst/>
              </a:prstGeom>
              <a:noFill/>
            </p:spPr>
            <p:txBody>
              <a:bodyPr wrap="none" lIns="18288" tIns="18288" rIns="18288" bIns="18288" anchor="ctr">
                <a:spAutoFit/>
              </a:bodyPr>
              <a:lstStyle/>
              <a:p>
                <a:pPr/>
                <a14:m>
                  <m:oMathPara xmlns:m="http://schemas.openxmlformats.org/officeDocument/2006/math">
                    <m:oMath>
                      <m:r>
                        <a:rPr lang="en-US" sz="1750">
                          <a:latin typeface="Cambria Math"/>
                        </a:rPr>
                        <m:t>𝑝</m:t>
                      </m:r>
                      <m:r>
                        <a:rPr lang="en-US" sz="1750">
                          <a:latin typeface="Cambria Math"/>
                        </a:rPr>
                        <m:t>ⁱ→ᵗᵢ,ⱼ = </m:t>
                      </m:r>
                      <m:f>
                        <m:fPr>
                          <m:ctrlPr>
                            <a:rPr lang="en-US" sz="1750">
                              <a:latin typeface="Cambria Math"/>
                            </a:rPr>
                          </m:ctrlPr>
                        </m:fPr>
                        <m:num>
                          <m:r>
                            <a:rPr lang="en-US" sz="1750">
                              <a:latin typeface="Cambria Math"/>
                            </a:rPr>
                            <m:t>𝑒𝑥𝑝</m:t>
                          </m:r>
                          <m:r>
                            <a:rPr lang="en-US" sz="1750">
                              <a:latin typeface="Cambria Math"/>
                            </a:rPr>
                            <m:t>(</m:t>
                          </m:r>
                          <m:r>
                            <a:rPr lang="en-US" sz="1750">
                              <a:latin typeface="Cambria Math"/>
                            </a:rPr>
                            <m:t>𝑠𝑖𝑚</m:t>
                          </m:r>
                          <m:r>
                            <a:rPr lang="en-US" sz="1750">
                              <a:latin typeface="Cambria Math"/>
                            </a:rPr>
                            <m:t>(</m:t>
                          </m:r>
                          <m:r>
                            <a:rPr lang="en-US" sz="1750">
                              <a:latin typeface="Cambria Math"/>
                            </a:rPr>
                            <m:t>𝑓</m:t>
                          </m:r>
                          <m:r>
                            <a:rPr lang="en-US" sz="1750">
                              <a:latin typeface="Cambria Math"/>
                            </a:rPr>
                            <m:t>ᵛᵢ,</m:t>
                          </m:r>
                          <m:r>
                            <a:rPr lang="en-US" sz="1750">
                              <a:latin typeface="Cambria Math"/>
                            </a:rPr>
                            <m:t>𝑓</m:t>
                          </m:r>
                          <m:r>
                            <a:rPr lang="en-US" sz="1750">
                              <a:latin typeface="Cambria Math"/>
                            </a:rPr>
                            <m:t>ᵗⱼ)/</m:t>
                          </m:r>
                          <m:r>
                            <a:rPr lang="en-US" sz="1750">
                              <a:latin typeface="Cambria Math"/>
                            </a:rPr>
                            <m:t>𝜏</m:t>
                          </m:r>
                          <m:r>
                            <a:rPr lang="en-US" sz="1750">
                              <a:latin typeface="Cambria Math"/>
                            </a:rPr>
                            <m:t>)</m:t>
                          </m:r>
                        </m:num>
                        <m:den>
                          <m:r>
                            <a:rPr lang="en-US" sz="1750">
                              <a:latin typeface="Cambria Math"/>
                            </a:rPr>
                            <m:t>∑ₖ₌₁ᴺ </m:t>
                          </m:r>
                          <m:r>
                            <a:rPr lang="en-US" sz="1750">
                              <a:latin typeface="Cambria Math"/>
                            </a:rPr>
                            <m:t>𝑒𝑥𝑝</m:t>
                          </m:r>
                          <m:r>
                            <a:rPr lang="en-US" sz="1750">
                              <a:latin typeface="Cambria Math"/>
                            </a:rPr>
                            <m:t>(</m:t>
                          </m:r>
                          <m:r>
                            <a:rPr lang="en-US" sz="1750">
                              <a:latin typeface="Cambria Math"/>
                            </a:rPr>
                            <m:t>𝑠𝑖𝑚</m:t>
                          </m:r>
                          <m:r>
                            <a:rPr lang="en-US" sz="1750">
                              <a:latin typeface="Cambria Math"/>
                            </a:rPr>
                            <m:t>(</m:t>
                          </m:r>
                          <m:r>
                            <a:rPr lang="en-US" sz="1750">
                              <a:latin typeface="Cambria Math"/>
                            </a:rPr>
                            <m:t>𝑓</m:t>
                          </m:r>
                          <m:r>
                            <a:rPr lang="en-US" sz="1750">
                              <a:latin typeface="Cambria Math"/>
                            </a:rPr>
                            <m:t>ᵛᵢ,</m:t>
                          </m:r>
                          <m:r>
                            <a:rPr lang="en-US" sz="1750">
                              <a:latin typeface="Cambria Math"/>
                            </a:rPr>
                            <m:t>𝑓</m:t>
                          </m:r>
                          <m:r>
                            <a:rPr lang="en-US" sz="1750">
                              <a:latin typeface="Cambria Math"/>
                            </a:rPr>
                            <m:t>ᵗₖ)/</m:t>
                          </m:r>
                          <m:r>
                            <a:rPr lang="en-US" sz="1750">
                              <a:latin typeface="Cambria Math"/>
                            </a:rPr>
                            <m:t>𝜏</m:t>
                          </m:r>
                          <m:r>
                            <a:rPr lang="en-US" sz="1750">
                              <a:latin typeface="Cambria Math"/>
                            </a:rPr>
                            <m:t>)</m:t>
                          </m:r>
                        </m:den>
                      </m:f>
                    </m:oMath>
                  </m:oMathPara>
                </a14:m>
                <a:endParaRPr/>
              </a:p>
            </p:txBody>
          </p:sp>
        </mc:Choice>
        <mc:Fallback>
          <p:sp>
            <p:nvSpPr>
              <p:cNvPr id="9" name="TextBox 8" descr="LaTeX: p_{i,j}^{i\rightarrow t}=\frac{\exp(\operatorname{sim}(f_i^v,f_j^t)/\tau)}{\sum_{k=1}^{N}\exp(\operatorname{sim}(f_i^v,f_k^t)/\tau)}"/>
              <p:cNvSpPr txBox="1">
                <a:spLocks noRot="1" noChangeAspect="1" noMove="1" noResize="1" noEditPoints="1" noAdjustHandles="1" noChangeArrowheads="1" noChangeShapeType="1" noTextEdit="1"/>
              </p:cNvSpPr>
              <p:nvPr/>
            </p:nvSpPr>
            <p:spPr>
              <a:xfrm>
                <a:off x="2267712" y="1417320"/>
                <a:ext cx="6053328" cy="987552"/>
              </a:xfrm>
              <a:prstGeom prst="rect">
                <a:avLst/>
              </a:prstGeom>
              <a:blipFill>
                <a:blip r:embed="rId3"/>
                <a:stretch>
                  <a:fillRect/>
                </a:stretch>
              </a:blipFill>
            </p:spPr>
            <p:txBody>
              <a:bodyPr/>
              <a:lstStyle/>
              <a:p>
                <a:r>
                  <a:rPr lang="en-US">
                    <a:noFill/>
                  </a:rPr>
                  <a:t> </a:t>
                </a:r>
              </a:p>
            </p:txBody>
          </p:sp>
        </mc:Fallback>
      </mc:AlternateContent>
      <p:sp>
        <p:nvSpPr>
          <p:cNvPr id="10" name="Rounded Rectangle 9"/>
          <p:cNvSpPr/>
          <p:nvPr/>
        </p:nvSpPr>
        <p:spPr>
          <a:xfrm>
            <a:off x="502920" y="2697480"/>
            <a:ext cx="8138160" cy="1143000"/>
          </a:xfrm>
          <a:prstGeom prst="roundRect">
            <a:avLst/>
          </a:prstGeom>
          <a:solidFill>
            <a:srgbClr val="E8F1F9"/>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86384" y="3081528"/>
            <a:ext cx="1307592" cy="329184"/>
          </a:xfrm>
          <a:prstGeom prst="roundRect">
            <a:avLst/>
          </a:prstGeom>
          <a:solidFill>
            <a:srgbClr val="206CAA"/>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6384" y="3090672"/>
            <a:ext cx="1307592" cy="292608"/>
          </a:xfrm>
          <a:prstGeom prst="rect">
            <a:avLst/>
          </a:prstGeom>
          <a:noFill/>
        </p:spPr>
        <p:txBody>
          <a:bodyPr wrap="square" lIns="36576" tIns="36576" rIns="36576" bIns="36576" anchor="ctr">
            <a:spAutoFit/>
          </a:bodyPr>
          <a:lstStyle/>
          <a:p>
            <a:pPr algn="ctr"/>
            <a:r>
              <a:rPr sz="1050" b="1" i="0">
                <a:solidFill>
                  <a:srgbClr val="FFFFFF"/>
                </a:solidFill>
                <a:latin typeface="Arial"/>
              </a:rPr>
              <a:t>2 • TARGET</a:t>
            </a:r>
          </a:p>
        </p:txBody>
      </p:sp>
      <mc:AlternateContent xmlns:mc="http://schemas.openxmlformats.org/markup-compatibility/2006">
        <mc:Choice xmlns:a14="http://schemas.microsoft.com/office/drawing/2010/main" Requires="a14">
          <p:sp>
            <p:nvSpPr>
              <p:cNvPr id="13" name="TextBox 12" descr="LaTeX: q_{i,j}^{i\rightarrow t}=\frac{y_{i,j}}{\sum_{k=1}^{N}y_{i,k}}"/>
              <p:cNvSpPr txBox="1"/>
              <p:nvPr/>
            </p:nvSpPr>
            <p:spPr>
              <a:xfrm>
                <a:off x="2267712" y="2798064"/>
                <a:ext cx="6053328" cy="932688"/>
              </a:xfrm>
              <a:prstGeom prst="rect">
                <a:avLst/>
              </a:prstGeom>
              <a:noFill/>
            </p:spPr>
            <p:txBody>
              <a:bodyPr wrap="none" lIns="18288" tIns="18288" rIns="18288" bIns="18288" anchor="ctr">
                <a:spAutoFit/>
              </a:bodyPr>
              <a:lstStyle/>
              <a:p>
                <a:pPr/>
                <a14:m>
                  <m:oMathPara xmlns:m="http://schemas.openxmlformats.org/officeDocument/2006/math">
                    <m:oMath>
                      <m:r>
                        <a:rPr lang="en-US" sz="1950">
                          <a:latin typeface="Cambria Math"/>
                        </a:rPr>
                        <m:t>𝑞</m:t>
                      </m:r>
                      <m:r>
                        <a:rPr lang="en-US" sz="1950">
                          <a:latin typeface="Cambria Math"/>
                        </a:rPr>
                        <m:t>ⁱ→ᵗᵢ,ⱼ = </m:t>
                      </m:r>
                      <m:f>
                        <m:fPr>
                          <m:ctrlPr>
                            <a:rPr lang="en-US" sz="1950">
                              <a:latin typeface="Cambria Math"/>
                            </a:rPr>
                          </m:ctrlPr>
                        </m:fPr>
                        <m:num>
                          <m:r>
                            <a:rPr lang="en-US" sz="1950">
                              <a:latin typeface="Cambria Math"/>
                            </a:rPr>
                            <m:t>𝑦</m:t>
                          </m:r>
                          <m:r>
                            <a:rPr lang="en-US" sz="1950">
                              <a:latin typeface="Cambria Math"/>
                            </a:rPr>
                            <m:t>ᵢ,ⱼ</m:t>
                          </m:r>
                        </m:num>
                        <m:den>
                          <m:r>
                            <a:rPr lang="en-US" sz="1950">
                              <a:latin typeface="Cambria Math"/>
                            </a:rPr>
                            <m:t>∑ₖ₌₁ᴺ </m:t>
                          </m:r>
                          <m:r>
                            <a:rPr lang="en-US" sz="1950">
                              <a:latin typeface="Cambria Math"/>
                            </a:rPr>
                            <m:t>𝑦</m:t>
                          </m:r>
                          <m:r>
                            <a:rPr lang="en-US" sz="1950">
                              <a:latin typeface="Cambria Math"/>
                            </a:rPr>
                            <m:t>ᵢ,ₖ</m:t>
                          </m:r>
                        </m:den>
                      </m:f>
                    </m:oMath>
                  </m:oMathPara>
                </a14:m>
                <a:endParaRPr/>
              </a:p>
            </p:txBody>
          </p:sp>
        </mc:Choice>
        <mc:Fallback>
          <p:sp>
            <p:nvSpPr>
              <p:cNvPr id="13" name="TextBox 12" descr="LaTeX: q_{i,j}^{i\rightarrow t}=\frac{y_{i,j}}{\sum_{k=1}^{N}y_{i,k}}"/>
              <p:cNvSpPr txBox="1">
                <a:spLocks noRot="1" noChangeAspect="1" noMove="1" noResize="1" noEditPoints="1" noAdjustHandles="1" noChangeArrowheads="1" noChangeShapeType="1" noTextEdit="1"/>
              </p:cNvSpPr>
              <p:nvPr/>
            </p:nvSpPr>
            <p:spPr>
              <a:xfrm>
                <a:off x="2267712" y="2798064"/>
                <a:ext cx="6053328" cy="932688"/>
              </a:xfrm>
              <a:prstGeom prst="rect">
                <a:avLst/>
              </a:prstGeom>
              <a:blipFill>
                <a:blip r:embed="rId4"/>
                <a:stretch>
                  <a:fillRect/>
                </a:stretch>
              </a:blipFill>
            </p:spPr>
            <p:txBody>
              <a:bodyPr/>
              <a:lstStyle/>
              <a:p>
                <a:r>
                  <a:rPr lang="en-US">
                    <a:noFill/>
                  </a:rPr>
                  <a:t> </a:t>
                </a:r>
              </a:p>
            </p:txBody>
          </p:sp>
        </mc:Fallback>
      </mc:AlternateContent>
      <p:sp>
        <p:nvSpPr>
          <p:cNvPr id="14" name="Rounded Rectangle 13"/>
          <p:cNvSpPr/>
          <p:nvPr/>
        </p:nvSpPr>
        <p:spPr>
          <a:xfrm>
            <a:off x="502920" y="4032504"/>
            <a:ext cx="8138160" cy="1097280"/>
          </a:xfrm>
          <a:prstGeom prst="roundRect">
            <a:avLst/>
          </a:prstGeom>
          <a:solidFill>
            <a:srgbClr val="F3F4F6"/>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32104" y="4398264"/>
            <a:ext cx="1225296" cy="329184"/>
          </a:xfrm>
          <a:prstGeom prst="roundRect">
            <a:avLst/>
          </a:prstGeom>
          <a:solidFill>
            <a:srgbClr val="990014"/>
          </a:solidFill>
          <a:ln w="12700">
            <a:solidFill>
              <a:srgbClr val="9900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 y="4407407"/>
            <a:ext cx="1225296" cy="292608"/>
          </a:xfrm>
          <a:prstGeom prst="rect">
            <a:avLst/>
          </a:prstGeom>
          <a:noFill/>
        </p:spPr>
        <p:txBody>
          <a:bodyPr wrap="square" lIns="36576" tIns="36576" rIns="36576" bIns="36576" anchor="ctr">
            <a:spAutoFit/>
          </a:bodyPr>
          <a:lstStyle/>
          <a:p>
            <a:pPr algn="ctr"/>
            <a:r>
              <a:rPr sz="1050" b="1" i="0">
                <a:solidFill>
                  <a:srgbClr val="FFFFFF"/>
                </a:solidFill>
                <a:latin typeface="Arial"/>
              </a:rPr>
              <a:t>3 • LOSS</a:t>
            </a:r>
          </a:p>
        </p:txBody>
      </p:sp>
      <mc:AlternateContent xmlns:mc="http://schemas.openxmlformats.org/markup-compatibility/2006">
        <mc:Choice xmlns:a14="http://schemas.microsoft.com/office/drawing/2010/main" Requires="a14">
          <p:sp>
            <p:nvSpPr>
              <p:cNvPr id="17" name="TextBox 16" descr="LaTeX: \mathcal{L}_{\mathrm{SDM}}=\operatorname{KL}(\mathbf{p}^{i\rightarrow t}\parallel\mathbf{q}^{i\rightarrow t})+\operatorname{KL}(\mathbf{p}^{t\rightarrow i}\parallel\mathbf{q}^{t\rightarrow i})"/>
              <p:cNvSpPr txBox="1"/>
              <p:nvPr/>
            </p:nvSpPr>
            <p:spPr>
              <a:xfrm>
                <a:off x="2176272" y="4142232"/>
                <a:ext cx="6199632" cy="877824"/>
              </a:xfrm>
              <a:prstGeom prst="rect">
                <a:avLst/>
              </a:prstGeom>
              <a:noFill/>
            </p:spPr>
            <p:txBody>
              <a:bodyPr wrap="none" lIns="18288" tIns="18288" rIns="18288" bIns="18288" anchor="ctr">
                <a:spAutoFit/>
              </a:bodyPr>
              <a:lstStyle/>
              <a:p>
                <a:pPr/>
                <a14:m>
                  <m:oMathPara xmlns:m="http://schemas.openxmlformats.org/officeDocument/2006/math">
                    <m:oMath>
                      <m:r>
                        <a:rPr lang="en-US" sz="1750">
                          <a:latin typeface="Cambria Math"/>
                        </a:rPr>
                        <m:t>ℒ</m:t>
                      </m:r>
                      <m:r>
                        <a:rPr lang="en-US" sz="1750">
                          <a:latin typeface="Cambria Math"/>
                        </a:rPr>
                        <m:t>ₛᴅᴍ = </m:t>
                      </m:r>
                      <m:r>
                        <a:rPr lang="en-US" sz="1750">
                          <a:latin typeface="Cambria Math"/>
                        </a:rPr>
                        <m:t>𝐾𝐿</m:t>
                      </m:r>
                      <m:r>
                        <a:rPr lang="en-US" sz="1750">
                          <a:latin typeface="Cambria Math"/>
                        </a:rPr>
                        <m:t>(</m:t>
                      </m:r>
                      <m:r>
                        <a:rPr lang="en-US" sz="1750">
                          <a:latin typeface="Cambria Math"/>
                        </a:rPr>
                        <m:t>𝑝</m:t>
                      </m:r>
                      <m:r>
                        <a:rPr lang="en-US" sz="1750">
                          <a:latin typeface="Cambria Math"/>
                        </a:rPr>
                        <m:t>ⁱ→ᵗ ∥ </m:t>
                      </m:r>
                      <m:r>
                        <a:rPr lang="en-US" sz="1750">
                          <a:latin typeface="Cambria Math"/>
                        </a:rPr>
                        <m:t>𝑞</m:t>
                      </m:r>
                      <m:r>
                        <a:rPr lang="en-US" sz="1750">
                          <a:latin typeface="Cambria Math"/>
                        </a:rPr>
                        <m:t>ⁱ→ᵗ) + </m:t>
                      </m:r>
                      <m:r>
                        <a:rPr lang="en-US" sz="1750">
                          <a:latin typeface="Cambria Math"/>
                        </a:rPr>
                        <m:t>𝐾𝐿</m:t>
                      </m:r>
                      <m:r>
                        <a:rPr lang="en-US" sz="1750">
                          <a:latin typeface="Cambria Math"/>
                        </a:rPr>
                        <m:t>(</m:t>
                      </m:r>
                      <m:r>
                        <a:rPr lang="en-US" sz="1750">
                          <a:latin typeface="Cambria Math"/>
                        </a:rPr>
                        <m:t>𝑝</m:t>
                      </m:r>
                      <m:r>
                        <a:rPr lang="en-US" sz="1750">
                          <a:latin typeface="Cambria Math"/>
                        </a:rPr>
                        <m:t>ᵗ→ⁱ ∥ </m:t>
                      </m:r>
                      <m:r>
                        <a:rPr lang="en-US" sz="1750">
                          <a:latin typeface="Cambria Math"/>
                        </a:rPr>
                        <m:t>𝑞</m:t>
                      </m:r>
                      <m:r>
                        <a:rPr lang="en-US" sz="1750">
                          <a:latin typeface="Cambria Math"/>
                        </a:rPr>
                        <m:t>ᵗ→ⁱ)</m:t>
                      </m:r>
                    </m:oMath>
                  </m:oMathPara>
                </a14:m>
                <a:endParaRPr/>
              </a:p>
            </p:txBody>
          </p:sp>
        </mc:Choice>
        <mc:Fallback>
          <p:sp>
            <p:nvSpPr>
              <p:cNvPr id="17" name="TextBox 16" descr="LaTeX: \mathcal{L}_{\mathrm{SDM}}=\operatorname{KL}(\mathbf{p}^{i\rightarrow t}\parallel\mathbf{q}^{i\rightarrow t})+\operatorname{KL}(\mathbf{p}^{t\rightarrow i}\parallel\mathbf{q}^{t\rightarrow i})"/>
              <p:cNvSpPr txBox="1">
                <a:spLocks noRot="1" noChangeAspect="1" noMove="1" noResize="1" noEditPoints="1" noAdjustHandles="1" noChangeArrowheads="1" noChangeShapeType="1" noTextEdit="1"/>
              </p:cNvSpPr>
              <p:nvPr/>
            </p:nvSpPr>
            <p:spPr>
              <a:xfrm>
                <a:off x="2176272" y="4142232"/>
                <a:ext cx="6199632" cy="877824"/>
              </a:xfrm>
              <a:prstGeom prst="rect">
                <a:avLst/>
              </a:prstGeom>
              <a:blipFill>
                <a:blip r:embed="rId5"/>
                <a:stretch>
                  <a:fillRect/>
                </a:stretch>
              </a:blipFill>
            </p:spPr>
            <p:txBody>
              <a:bodyPr/>
              <a:lstStyle/>
              <a:p>
                <a:r>
                  <a:rPr lang="en-US">
                    <a:noFill/>
                  </a:rPr>
                  <a:t> </a:t>
                </a:r>
              </a:p>
            </p:txBody>
          </p:sp>
        </mc:Fallback>
      </mc:AlternateContent>
      <p:sp>
        <p:nvSpPr>
          <p:cNvPr id="18" name="Rounded Rectangle 17"/>
          <p:cNvSpPr/>
          <p:nvPr/>
        </p:nvSpPr>
        <p:spPr>
          <a:xfrm>
            <a:off x="786384" y="5458968"/>
            <a:ext cx="1225296" cy="329184"/>
          </a:xfrm>
          <a:prstGeom prst="roundRect">
            <a:avLst/>
          </a:prstGeom>
          <a:solidFill>
            <a:srgbClr val="C5162B"/>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6384" y="5468112"/>
            <a:ext cx="1225296" cy="292608"/>
          </a:xfrm>
          <a:prstGeom prst="rect">
            <a:avLst/>
          </a:prstGeom>
          <a:noFill/>
        </p:spPr>
        <p:txBody>
          <a:bodyPr wrap="square" lIns="36576" tIns="36576" rIns="36576" bIns="36576" anchor="ctr">
            <a:spAutoFit/>
          </a:bodyPr>
          <a:lstStyle/>
          <a:p>
            <a:pPr algn="ctr"/>
            <a:r>
              <a:rPr sz="1200" b="1" i="0">
                <a:solidFill>
                  <a:srgbClr val="FFFFFF"/>
                </a:solidFill>
                <a:latin typeface="Arial"/>
              </a:rPr>
              <a:t>τ = 0.02</a:t>
            </a:r>
          </a:p>
        </p:txBody>
      </p:sp>
      <p:sp>
        <p:nvSpPr>
          <p:cNvPr id="20" name="TextBox 19"/>
          <p:cNvSpPr txBox="1"/>
          <p:nvPr/>
        </p:nvSpPr>
        <p:spPr>
          <a:xfrm>
            <a:off x="2212848" y="5477256"/>
            <a:ext cx="5815584" cy="292608"/>
          </a:xfrm>
          <a:prstGeom prst="rect">
            <a:avLst/>
          </a:prstGeom>
          <a:noFill/>
        </p:spPr>
        <p:txBody>
          <a:bodyPr wrap="square" lIns="0" tIns="0" rIns="0" bIns="0" anchor="t">
            <a:spAutoFit/>
          </a:bodyPr>
          <a:lstStyle/>
          <a:p>
            <a:pPr algn="ctr"/>
            <a:r>
              <a:rPr sz="1450" b="1" i="0">
                <a:solidFill>
                  <a:srgbClr val="990014"/>
                </a:solidFill>
                <a:latin typeface="Arial"/>
              </a:rPr>
              <a:t>Align the full row/column distribution—not only one positive pair.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000" b="1" i="0">
                <a:solidFill>
                  <a:srgbClr val="FFFFFF"/>
                </a:solidFill>
                <a:latin typeface="Arial"/>
              </a:rPr>
              <a:t>II. Proposed Method — Identity Classification Loss</a:t>
            </a:r>
          </a:p>
        </p:txBody>
      </p:sp>
      <p:sp>
        <p:nvSpPr>
          <p:cNvPr id="3" name="TextBox 2"/>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16</a:t>
            </a:r>
          </a:p>
        </p:txBody>
      </p:sp>
      <p:sp>
        <p:nvSpPr>
          <p:cNvPr id="4" name="Rounded Rectangle 3"/>
          <p:cNvSpPr/>
          <p:nvPr/>
        </p:nvSpPr>
        <p:spPr>
          <a:xfrm>
            <a:off x="658368" y="1005840"/>
            <a:ext cx="7827264" cy="1078992"/>
          </a:xfrm>
          <a:prstGeom prst="roundRect">
            <a:avLst/>
          </a:prstGeom>
          <a:solidFill>
            <a:srgbClr val="FDEBEB"/>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5" name="TextBox 4" descr="LaTeX: \mathcal{L}_{\mathrm{ID}}=\frac{1}{2}\left[\operatorname{CE}(Wf^v,y)+\operatorname{CE}(Wf^t,y)\right]"/>
              <p:cNvSpPr txBox="1"/>
              <p:nvPr/>
            </p:nvSpPr>
            <p:spPr>
              <a:xfrm>
                <a:off x="932688" y="1115568"/>
                <a:ext cx="7278624" cy="841248"/>
              </a:xfrm>
              <a:prstGeom prst="rect">
                <a:avLst/>
              </a:prstGeom>
              <a:noFill/>
            </p:spPr>
            <p:txBody>
              <a:bodyPr wrap="none" lIns="18288" tIns="18288" rIns="18288" bIns="18288" anchor="ctr">
                <a:spAutoFit/>
              </a:bodyPr>
              <a:lstStyle/>
              <a:p>
                <a:pPr/>
                <a14:m>
                  <m:oMathPara xmlns:m="http://schemas.openxmlformats.org/officeDocument/2006/math">
                    <m:oMath>
                      <m:r>
                        <a:rPr lang="en-US" sz="2100">
                          <a:latin typeface="Cambria Math"/>
                        </a:rPr>
                        <m:t>ℒ</m:t>
                      </m:r>
                      <m:r>
                        <a:rPr lang="en-US" sz="2100">
                          <a:latin typeface="Cambria Math"/>
                        </a:rPr>
                        <m:t>ᵢᴅ = </m:t>
                      </m:r>
                      <m:f>
                        <m:fPr>
                          <m:ctrlPr>
                            <a:rPr lang="en-US" sz="2100">
                              <a:latin typeface="Cambria Math"/>
                            </a:rPr>
                          </m:ctrlPr>
                        </m:fPr>
                        <m:num>
                          <m:r>
                            <a:rPr lang="en-US" sz="2100">
                              <a:latin typeface="Cambria Math"/>
                            </a:rPr>
                            <m:t>1</m:t>
                          </m:r>
                        </m:num>
                        <m:den>
                          <m:r>
                            <a:rPr lang="en-US" sz="2100">
                              <a:latin typeface="Cambria Math"/>
                            </a:rPr>
                            <m:t>2</m:t>
                          </m:r>
                        </m:den>
                      </m:f>
                      <m:r>
                        <a:rPr lang="en-US" sz="2100">
                          <a:latin typeface="Cambria Math"/>
                        </a:rPr>
                        <m:t>[</m:t>
                      </m:r>
                      <m:r>
                        <a:rPr lang="en-US" sz="2100">
                          <a:latin typeface="Cambria Math"/>
                        </a:rPr>
                        <m:t>𝐶𝐸</m:t>
                      </m:r>
                      <m:r>
                        <a:rPr lang="en-US" sz="2100">
                          <a:latin typeface="Cambria Math"/>
                        </a:rPr>
                        <m:t>(</m:t>
                      </m:r>
                      <m:r>
                        <a:rPr lang="en-US" sz="2100">
                          <a:latin typeface="Cambria Math"/>
                        </a:rPr>
                        <m:t>𝑊𝑓</m:t>
                      </m:r>
                      <m:r>
                        <a:rPr lang="en-US" sz="2100">
                          <a:latin typeface="Cambria Math"/>
                        </a:rPr>
                        <m:t>ᵛ,</m:t>
                      </m:r>
                      <m:r>
                        <a:rPr lang="en-US" sz="2100">
                          <a:latin typeface="Cambria Math"/>
                        </a:rPr>
                        <m:t>𝑦</m:t>
                      </m:r>
                      <m:r>
                        <a:rPr lang="en-US" sz="2100">
                          <a:latin typeface="Cambria Math"/>
                        </a:rPr>
                        <m:t>) + </m:t>
                      </m:r>
                      <m:r>
                        <a:rPr lang="en-US" sz="2100">
                          <a:latin typeface="Cambria Math"/>
                        </a:rPr>
                        <m:t>𝐶𝐸</m:t>
                      </m:r>
                      <m:r>
                        <a:rPr lang="en-US" sz="2100">
                          <a:latin typeface="Cambria Math"/>
                        </a:rPr>
                        <m:t>(</m:t>
                      </m:r>
                      <m:r>
                        <a:rPr lang="en-US" sz="2100">
                          <a:latin typeface="Cambria Math"/>
                        </a:rPr>
                        <m:t>𝑊𝑓</m:t>
                      </m:r>
                      <m:r>
                        <a:rPr lang="en-US" sz="2100">
                          <a:latin typeface="Cambria Math"/>
                        </a:rPr>
                        <m:t>ᵗ,</m:t>
                      </m:r>
                      <m:r>
                        <a:rPr lang="en-US" sz="2100">
                          <a:latin typeface="Cambria Math"/>
                        </a:rPr>
                        <m:t>𝑦</m:t>
                      </m:r>
                      <m:r>
                        <a:rPr lang="en-US" sz="2100">
                          <a:latin typeface="Cambria Math"/>
                        </a:rPr>
                        <m:t>)]</m:t>
                      </m:r>
                    </m:oMath>
                  </m:oMathPara>
                </a14:m>
                <a:endParaRPr/>
              </a:p>
            </p:txBody>
          </p:sp>
        </mc:Choice>
        <mc:Fallback>
          <p:sp>
            <p:nvSpPr>
              <p:cNvPr id="5" name="TextBox 4" descr="LaTeX: \mathcal{L}_{\mathrm{ID}}=\frac{1}{2}\left[\operatorname{CE}(Wf^v,y)+\operatorname{CE}(Wf^t,y)\right]"/>
              <p:cNvSpPr txBox="1">
                <a:spLocks noRot="1" noChangeAspect="1" noMove="1" noResize="1" noEditPoints="1" noAdjustHandles="1" noChangeArrowheads="1" noChangeShapeType="1" noTextEdit="1"/>
              </p:cNvSpPr>
              <p:nvPr/>
            </p:nvSpPr>
            <p:spPr>
              <a:xfrm>
                <a:off x="932688" y="1115568"/>
                <a:ext cx="7278624" cy="841248"/>
              </a:xfrm>
              <a:prstGeom prst="rect">
                <a:avLst/>
              </a:prstGeom>
              <a:blipFill>
                <a:blip r:embed="rId3"/>
                <a:stretch>
                  <a:fillRect/>
                </a:stretch>
              </a:blipFill>
            </p:spPr>
            <p:txBody>
              <a:bodyPr/>
              <a:lstStyle/>
              <a:p>
                <a:r>
                  <a:rPr lang="en-US">
                    <a:noFill/>
                  </a:rPr>
                  <a:t> </a:t>
                </a:r>
              </a:p>
            </p:txBody>
          </p:sp>
        </mc:Fallback>
      </mc:AlternateContent>
      <p:sp>
        <p:nvSpPr>
          <p:cNvPr id="6" name="Rounded Rectangle 5"/>
          <p:cNvSpPr/>
          <p:nvPr/>
        </p:nvSpPr>
        <p:spPr>
          <a:xfrm>
            <a:off x="502920" y="2487168"/>
            <a:ext cx="2633472" cy="2176272"/>
          </a:xfrm>
          <a:prstGeom prst="roundRect">
            <a:avLst/>
          </a:prstGeom>
          <a:solidFill>
            <a:srgbClr val="F3F4F6"/>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014984" y="2761488"/>
            <a:ext cx="1609344" cy="329184"/>
          </a:xfrm>
          <a:prstGeom prst="roundRect">
            <a:avLst/>
          </a:prstGeom>
          <a:solidFill>
            <a:srgbClr val="C5162B"/>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4984" y="2770632"/>
            <a:ext cx="1609344" cy="292608"/>
          </a:xfrm>
          <a:prstGeom prst="rect">
            <a:avLst/>
          </a:prstGeom>
          <a:noFill/>
        </p:spPr>
        <p:txBody>
          <a:bodyPr wrap="square" lIns="36576" tIns="36576" rIns="36576" bIns="36576" anchor="ctr">
            <a:spAutoFit/>
          </a:bodyPr>
          <a:lstStyle/>
          <a:p>
            <a:pPr algn="ctr"/>
            <a:r>
              <a:rPr sz="1100" b="1" i="0">
                <a:solidFill>
                  <a:srgbClr val="FFFFFF"/>
                </a:solidFill>
                <a:latin typeface="Arial"/>
              </a:rPr>
              <a:t>INPUT</a:t>
            </a:r>
          </a:p>
        </p:txBody>
      </p:sp>
      <p:sp>
        <p:nvSpPr>
          <p:cNvPr id="9" name="TextBox 8"/>
          <p:cNvSpPr txBox="1"/>
          <p:nvPr/>
        </p:nvSpPr>
        <p:spPr>
          <a:xfrm>
            <a:off x="777240" y="3401568"/>
            <a:ext cx="2084831" cy="859536"/>
          </a:xfrm>
          <a:prstGeom prst="rect">
            <a:avLst/>
          </a:prstGeom>
          <a:noFill/>
        </p:spPr>
        <p:txBody>
          <a:bodyPr wrap="square" lIns="0" tIns="0" rIns="0" bIns="0" anchor="ctr">
            <a:spAutoFit/>
          </a:bodyPr>
          <a:lstStyle/>
          <a:p>
            <a:pPr algn="ctr"/>
            <a:r>
              <a:rPr sz="1400" b="1" i="0">
                <a:solidFill>
                  <a:srgbClr val="434343"/>
                </a:solidFill>
                <a:latin typeface="Arial"/>
              </a:rPr>
              <a:t>Global image feature fᵛ
Global text feature fᵗ
One shared classifier W</a:t>
            </a:r>
          </a:p>
        </p:txBody>
      </p:sp>
      <p:sp>
        <p:nvSpPr>
          <p:cNvPr id="10" name="Rounded Rectangle 9"/>
          <p:cNvSpPr/>
          <p:nvPr/>
        </p:nvSpPr>
        <p:spPr>
          <a:xfrm>
            <a:off x="3255264" y="2487168"/>
            <a:ext cx="2633472" cy="2176272"/>
          </a:xfrm>
          <a:prstGeom prst="roundRect">
            <a:avLst/>
          </a:prstGeom>
          <a:solidFill>
            <a:srgbClr val="F3F4F6"/>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767328" y="2761488"/>
            <a:ext cx="1609344" cy="329184"/>
          </a:xfrm>
          <a:prstGeom prst="roundRect">
            <a:avLst/>
          </a:prstGeom>
          <a:solidFill>
            <a:srgbClr val="206CAA"/>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67328" y="2770632"/>
            <a:ext cx="1609344" cy="292608"/>
          </a:xfrm>
          <a:prstGeom prst="rect">
            <a:avLst/>
          </a:prstGeom>
          <a:noFill/>
        </p:spPr>
        <p:txBody>
          <a:bodyPr wrap="square" lIns="36576" tIns="36576" rIns="36576" bIns="36576" anchor="ctr">
            <a:spAutoFit/>
          </a:bodyPr>
          <a:lstStyle/>
          <a:p>
            <a:pPr algn="ctr"/>
            <a:r>
              <a:rPr sz="1100" b="1" i="0">
                <a:solidFill>
                  <a:srgbClr val="FFFFFF"/>
                </a:solidFill>
                <a:latin typeface="Arial"/>
              </a:rPr>
              <a:t>LEARNS</a:t>
            </a:r>
          </a:p>
        </p:txBody>
      </p:sp>
      <p:sp>
        <p:nvSpPr>
          <p:cNvPr id="13" name="TextBox 12"/>
          <p:cNvSpPr txBox="1"/>
          <p:nvPr/>
        </p:nvSpPr>
        <p:spPr>
          <a:xfrm>
            <a:off x="3529584" y="3401568"/>
            <a:ext cx="2084831" cy="859536"/>
          </a:xfrm>
          <a:prstGeom prst="rect">
            <a:avLst/>
          </a:prstGeom>
          <a:noFill/>
        </p:spPr>
        <p:txBody>
          <a:bodyPr wrap="square" lIns="0" tIns="0" rIns="0" bIns="0" anchor="ctr">
            <a:spAutoFit/>
          </a:bodyPr>
          <a:lstStyle/>
          <a:p>
            <a:pPr algn="ctr"/>
            <a:r>
              <a:rPr sz="1400" b="1" i="0">
                <a:solidFill>
                  <a:srgbClr val="434343"/>
                </a:solidFill>
                <a:latin typeface="Arial"/>
              </a:rPr>
              <a:t>Identity-discriminative
global clusters around
shared class prototypes</a:t>
            </a:r>
          </a:p>
        </p:txBody>
      </p:sp>
      <p:sp>
        <p:nvSpPr>
          <p:cNvPr id="14" name="Rounded Rectangle 13"/>
          <p:cNvSpPr/>
          <p:nvPr/>
        </p:nvSpPr>
        <p:spPr>
          <a:xfrm>
            <a:off x="6007608" y="2487168"/>
            <a:ext cx="2633472" cy="2176272"/>
          </a:xfrm>
          <a:prstGeom prst="roundRect">
            <a:avLst/>
          </a:prstGeom>
          <a:solidFill>
            <a:srgbClr val="F3F4F6"/>
          </a:solidFill>
          <a:ln w="12700">
            <a:solidFill>
              <a:srgbClr val="31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519672" y="2761488"/>
            <a:ext cx="1609344" cy="329184"/>
          </a:xfrm>
          <a:prstGeom prst="roundRect">
            <a:avLst/>
          </a:prstGeom>
          <a:solidFill>
            <a:srgbClr val="318F87"/>
          </a:solidFill>
          <a:ln w="12700">
            <a:solidFill>
              <a:srgbClr val="31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19672" y="2770632"/>
            <a:ext cx="1609344" cy="292608"/>
          </a:xfrm>
          <a:prstGeom prst="rect">
            <a:avLst/>
          </a:prstGeom>
          <a:noFill/>
        </p:spPr>
        <p:txBody>
          <a:bodyPr wrap="square" lIns="36576" tIns="36576" rIns="36576" bIns="36576" anchor="ctr">
            <a:spAutoFit/>
          </a:bodyPr>
          <a:lstStyle/>
          <a:p>
            <a:pPr algn="ctr"/>
            <a:r>
              <a:rPr sz="1100" b="1" i="0">
                <a:solidFill>
                  <a:srgbClr val="FFFFFF"/>
                </a:solidFill>
                <a:latin typeface="Arial"/>
              </a:rPr>
              <a:t>BACKPROP</a:t>
            </a:r>
          </a:p>
        </p:txBody>
      </p:sp>
      <p:sp>
        <p:nvSpPr>
          <p:cNvPr id="17" name="TextBox 16"/>
          <p:cNvSpPr txBox="1"/>
          <p:nvPr/>
        </p:nvSpPr>
        <p:spPr>
          <a:xfrm>
            <a:off x="6281928" y="3401568"/>
            <a:ext cx="2084831" cy="859536"/>
          </a:xfrm>
          <a:prstGeom prst="rect">
            <a:avLst/>
          </a:prstGeom>
          <a:noFill/>
        </p:spPr>
        <p:txBody>
          <a:bodyPr wrap="square" lIns="0" tIns="0" rIns="0" bIns="0" anchor="ctr">
            <a:spAutoFit/>
          </a:bodyPr>
          <a:lstStyle/>
          <a:p>
            <a:pPr algn="ctr"/>
            <a:r>
              <a:rPr sz="1400" b="1" i="0">
                <a:solidFill>
                  <a:srgbClr val="434343"/>
                </a:solidFill>
                <a:latin typeface="Arial"/>
              </a:rPr>
              <a:t>Updates both CLIP encoders
and classifier W
Classifier removed at test</a:t>
            </a:r>
          </a:p>
        </p:txBody>
      </p:sp>
      <p:sp>
        <p:nvSpPr>
          <p:cNvPr id="18" name="Rounded Rectangle 17"/>
          <p:cNvSpPr/>
          <p:nvPr/>
        </p:nvSpPr>
        <p:spPr>
          <a:xfrm>
            <a:off x="932688" y="5065776"/>
            <a:ext cx="7278624" cy="658368"/>
          </a:xfrm>
          <a:prstGeom prst="roundRect">
            <a:avLst/>
          </a:prstGeom>
          <a:solidFill>
            <a:srgbClr val="FFFFFF"/>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52144" y="5266944"/>
            <a:ext cx="6839712" cy="274320"/>
          </a:xfrm>
          <a:prstGeom prst="rect">
            <a:avLst/>
          </a:prstGeom>
          <a:noFill/>
        </p:spPr>
        <p:txBody>
          <a:bodyPr wrap="square" lIns="0" tIns="0" rIns="0" bIns="0" anchor="t">
            <a:spAutoFit/>
          </a:bodyPr>
          <a:lstStyle/>
          <a:p>
            <a:pPr algn="ctr"/>
            <a:r>
              <a:rPr sz="1350" b="1" i="0">
                <a:solidFill>
                  <a:srgbClr val="990014"/>
                </a:solidFill>
                <a:latin typeface="Arial"/>
              </a:rPr>
              <a:t>Auxiliary objective: identity classification complements—but does not replace—cross-modal alignment.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300" b="1" i="0">
                <a:solidFill>
                  <a:srgbClr val="FFFFFF"/>
                </a:solidFill>
                <a:latin typeface="Arial"/>
              </a:rPr>
              <a:t>II. Proposed Method — Training vs. Inference</a:t>
            </a:r>
          </a:p>
        </p:txBody>
      </p:sp>
      <p:sp>
        <p:nvSpPr>
          <p:cNvPr id="3" name="TextBox 2"/>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18</a:t>
            </a:r>
          </a:p>
        </p:txBody>
      </p:sp>
      <p:sp>
        <p:nvSpPr>
          <p:cNvPr id="4" name="Rounded Rectangle 3"/>
          <p:cNvSpPr/>
          <p:nvPr/>
        </p:nvSpPr>
        <p:spPr>
          <a:xfrm>
            <a:off x="1920240" y="941832"/>
            <a:ext cx="5303520" cy="694944"/>
          </a:xfrm>
          <a:prstGeom prst="roundRect">
            <a:avLst/>
          </a:prstGeom>
          <a:solidFill>
            <a:srgbClr val="FDEBEB"/>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121408" y="1097280"/>
            <a:ext cx="4901184" cy="356616"/>
          </a:xfrm>
          <a:prstGeom prst="rect">
            <a:avLst/>
          </a:prstGeom>
          <a:noFill/>
        </p:spPr>
        <p:txBody>
          <a:bodyPr wrap="square" lIns="0" tIns="0" rIns="0" bIns="0" anchor="t">
            <a:spAutoFit/>
          </a:bodyPr>
          <a:lstStyle/>
          <a:p>
            <a:pPr algn="ctr"/>
            <a:r>
              <a:rPr sz="2300" b="1" i="0" dirty="0">
                <a:solidFill>
                  <a:srgbClr val="990014"/>
                </a:solidFill>
                <a:latin typeface="Cambria Math"/>
              </a:rPr>
              <a:t>L = L_IRR + L_SDM + L_ID</a:t>
            </a:r>
          </a:p>
        </p:txBody>
      </p:sp>
      <p:sp>
        <p:nvSpPr>
          <p:cNvPr id="6" name="Rounded Rectangle 5"/>
          <p:cNvSpPr/>
          <p:nvPr/>
        </p:nvSpPr>
        <p:spPr>
          <a:xfrm>
            <a:off x="521207" y="1956816"/>
            <a:ext cx="3904487" cy="3493008"/>
          </a:xfrm>
          <a:prstGeom prst="roundRect">
            <a:avLst/>
          </a:prstGeom>
          <a:solidFill>
            <a:srgbClr val="E8F1F9"/>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728216" y="2221992"/>
            <a:ext cx="1463040" cy="329184"/>
          </a:xfrm>
          <a:prstGeom prst="roundRect">
            <a:avLst/>
          </a:prstGeom>
          <a:solidFill>
            <a:srgbClr val="206CAA"/>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728216" y="2231136"/>
            <a:ext cx="1463040" cy="292608"/>
          </a:xfrm>
          <a:prstGeom prst="rect">
            <a:avLst/>
          </a:prstGeom>
          <a:noFill/>
        </p:spPr>
        <p:txBody>
          <a:bodyPr wrap="square" lIns="36576" tIns="36576" rIns="36576" bIns="36576" anchor="ctr">
            <a:spAutoFit/>
          </a:bodyPr>
          <a:lstStyle/>
          <a:p>
            <a:pPr algn="ctr"/>
            <a:r>
              <a:rPr sz="1300" b="1" i="0">
                <a:solidFill>
                  <a:srgbClr val="FFFFFF"/>
                </a:solidFill>
                <a:latin typeface="Arial"/>
              </a:rPr>
              <a:t>TRAIN</a:t>
            </a:r>
          </a:p>
        </p:txBody>
      </p:sp>
      <p:sp>
        <p:nvSpPr>
          <p:cNvPr id="9" name="TextBox 8"/>
          <p:cNvSpPr txBox="1"/>
          <p:nvPr/>
        </p:nvSpPr>
        <p:spPr>
          <a:xfrm>
            <a:off x="877824" y="2889504"/>
            <a:ext cx="3182112" cy="2057400"/>
          </a:xfrm>
          <a:prstGeom prst="rect">
            <a:avLst/>
          </a:prstGeom>
          <a:noFill/>
        </p:spPr>
        <p:txBody>
          <a:bodyPr wrap="square" lIns="73152" tIns="73152" rIns="73152" bIns="73152" anchor="t">
            <a:spAutoFit/>
          </a:bodyPr>
          <a:lstStyle/>
          <a:p>
            <a:pPr algn="l">
              <a:spcBef>
                <a:spcPts val="0"/>
              </a:spcBef>
              <a:spcAft>
                <a:spcPts val="800"/>
              </a:spcAft>
            </a:pPr>
            <a:r>
              <a:rPr sz="1500" b="0" i="0">
                <a:solidFill>
                  <a:srgbClr val="434343"/>
                </a:solidFill>
                <a:latin typeface="Arial"/>
              </a:rPr>
              <a:t>• CLIP dual encoder</a:t>
            </a:r>
          </a:p>
          <a:p>
            <a:pPr algn="l">
              <a:spcBef>
                <a:spcPts val="0"/>
              </a:spcBef>
              <a:spcAft>
                <a:spcPts val="800"/>
              </a:spcAft>
            </a:pPr>
            <a:r>
              <a:rPr sz="1500" b="0" i="0">
                <a:solidFill>
                  <a:srgbClr val="434343"/>
                </a:solidFill>
                <a:latin typeface="Arial"/>
              </a:rPr>
              <a:t>• + IRR / interaction encoder</a:t>
            </a:r>
          </a:p>
          <a:p>
            <a:pPr algn="l">
              <a:spcBef>
                <a:spcPts val="0"/>
              </a:spcBef>
              <a:spcAft>
                <a:spcPts val="800"/>
              </a:spcAft>
            </a:pPr>
            <a:r>
              <a:rPr sz="1500" b="0" i="0">
                <a:solidFill>
                  <a:srgbClr val="434343"/>
                </a:solidFill>
                <a:latin typeface="Arial"/>
              </a:rPr>
              <a:t>• + MLM head</a:t>
            </a:r>
          </a:p>
          <a:p>
            <a:pPr algn="l">
              <a:spcBef>
                <a:spcPts val="0"/>
              </a:spcBef>
              <a:spcAft>
                <a:spcPts val="800"/>
              </a:spcAft>
            </a:pPr>
            <a:r>
              <a:rPr sz="1500" b="0" i="0">
                <a:solidFill>
                  <a:srgbClr val="434343"/>
                </a:solidFill>
                <a:latin typeface="Arial"/>
              </a:rPr>
              <a:t>• + SDM and ID classifier</a:t>
            </a:r>
          </a:p>
          <a:p>
            <a:pPr algn="l">
              <a:spcBef>
                <a:spcPts val="0"/>
              </a:spcBef>
              <a:spcAft>
                <a:spcPts val="800"/>
              </a:spcAft>
            </a:pPr>
            <a:r>
              <a:rPr sz="1500" b="1" i="0">
                <a:solidFill>
                  <a:srgbClr val="206CAA"/>
                </a:solidFill>
                <a:latin typeface="Arial"/>
              </a:rPr>
              <a:t>• → end-to-end local interaction learning</a:t>
            </a:r>
          </a:p>
        </p:txBody>
      </p:sp>
      <p:sp>
        <p:nvSpPr>
          <p:cNvPr id="10" name="Rounded Rectangle 9"/>
          <p:cNvSpPr/>
          <p:nvPr/>
        </p:nvSpPr>
        <p:spPr>
          <a:xfrm>
            <a:off x="4727448" y="1956816"/>
            <a:ext cx="3904487" cy="3493008"/>
          </a:xfrm>
          <a:prstGeom prst="roundRect">
            <a:avLst/>
          </a:prstGeom>
          <a:solidFill>
            <a:srgbClr val="FDEBEB"/>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852160" y="2221992"/>
            <a:ext cx="1664208" cy="329184"/>
          </a:xfrm>
          <a:prstGeom prst="roundRect">
            <a:avLst/>
          </a:prstGeom>
          <a:solidFill>
            <a:srgbClr val="C5162B"/>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0" y="2231136"/>
            <a:ext cx="1664208" cy="292608"/>
          </a:xfrm>
          <a:prstGeom prst="rect">
            <a:avLst/>
          </a:prstGeom>
          <a:noFill/>
        </p:spPr>
        <p:txBody>
          <a:bodyPr wrap="square" lIns="36576" tIns="36576" rIns="36576" bIns="36576" anchor="ctr">
            <a:spAutoFit/>
          </a:bodyPr>
          <a:lstStyle/>
          <a:p>
            <a:pPr algn="ctr"/>
            <a:r>
              <a:rPr sz="1300" b="1" i="0">
                <a:solidFill>
                  <a:srgbClr val="FFFFFF"/>
                </a:solidFill>
                <a:latin typeface="Arial"/>
              </a:rPr>
              <a:t>INFERENCE</a:t>
            </a:r>
          </a:p>
        </p:txBody>
      </p:sp>
      <p:sp>
        <p:nvSpPr>
          <p:cNvPr id="13" name="TextBox 12"/>
          <p:cNvSpPr txBox="1"/>
          <p:nvPr/>
        </p:nvSpPr>
        <p:spPr>
          <a:xfrm>
            <a:off x="5102352" y="2889504"/>
            <a:ext cx="3163824" cy="2057400"/>
          </a:xfrm>
          <a:prstGeom prst="rect">
            <a:avLst/>
          </a:prstGeom>
          <a:noFill/>
        </p:spPr>
        <p:txBody>
          <a:bodyPr wrap="square" lIns="73152" tIns="73152" rIns="73152" bIns="73152" anchor="t">
            <a:spAutoFit/>
          </a:bodyPr>
          <a:lstStyle/>
          <a:p>
            <a:pPr algn="l">
              <a:spcBef>
                <a:spcPts val="0"/>
              </a:spcBef>
              <a:spcAft>
                <a:spcPts val="800"/>
              </a:spcAft>
            </a:pPr>
            <a:r>
              <a:rPr sz="1500" b="0" i="0">
                <a:solidFill>
                  <a:srgbClr val="434343"/>
                </a:solidFill>
                <a:latin typeface="Arial"/>
              </a:rPr>
              <a:t>• Only the two encoders remain</a:t>
            </a:r>
          </a:p>
          <a:p>
            <a:pPr algn="l">
              <a:spcBef>
                <a:spcPts val="0"/>
              </a:spcBef>
              <a:spcAft>
                <a:spcPts val="800"/>
              </a:spcAft>
            </a:pPr>
            <a:r>
              <a:rPr sz="1500" b="0" i="0">
                <a:solidFill>
                  <a:srgbClr val="434343"/>
                </a:solidFill>
                <a:latin typeface="Arial"/>
              </a:rPr>
              <a:t>• Precomputed gallery embeddings</a:t>
            </a:r>
          </a:p>
          <a:p>
            <a:pPr algn="l">
              <a:spcBef>
                <a:spcPts val="0"/>
              </a:spcBef>
              <a:spcAft>
                <a:spcPts val="800"/>
              </a:spcAft>
            </a:pPr>
            <a:r>
              <a:rPr sz="1500" b="0" i="0">
                <a:solidFill>
                  <a:srgbClr val="434343"/>
                </a:solidFill>
                <a:latin typeface="Arial"/>
              </a:rPr>
              <a:t>• One cosine score per image–text pair</a:t>
            </a:r>
          </a:p>
          <a:p>
            <a:pPr algn="l">
              <a:spcBef>
                <a:spcPts val="0"/>
              </a:spcBef>
              <a:spcAft>
                <a:spcPts val="800"/>
              </a:spcAft>
            </a:pPr>
            <a:r>
              <a:rPr sz="1500" b="0" i="0">
                <a:solidFill>
                  <a:srgbClr val="434343"/>
                </a:solidFill>
                <a:latin typeface="Arial"/>
              </a:rPr>
              <a:t>• No interaction module required</a:t>
            </a:r>
          </a:p>
          <a:p>
            <a:pPr algn="l">
              <a:spcBef>
                <a:spcPts val="0"/>
              </a:spcBef>
              <a:spcAft>
                <a:spcPts val="800"/>
              </a:spcAft>
            </a:pPr>
            <a:r>
              <a:rPr sz="1500" b="1" i="0">
                <a:solidFill>
                  <a:srgbClr val="C5162B"/>
                </a:solidFill>
                <a:latin typeface="Arial"/>
              </a:rPr>
              <a:t>• → efficient global retrieval</a:t>
            </a:r>
          </a:p>
        </p:txBody>
      </p:sp>
      <p:sp>
        <p:nvSpPr>
          <p:cNvPr id="14" name="Rounded Rectangle 13"/>
          <p:cNvSpPr/>
          <p:nvPr/>
        </p:nvSpPr>
        <p:spPr>
          <a:xfrm>
            <a:off x="2139696" y="5733288"/>
            <a:ext cx="4846320" cy="329184"/>
          </a:xfrm>
          <a:prstGeom prst="roundRect">
            <a:avLst/>
          </a:prstGeom>
          <a:solidFill>
            <a:srgbClr val="990014"/>
          </a:solidFill>
          <a:ln w="12700">
            <a:solidFill>
              <a:srgbClr val="9900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139696" y="5742431"/>
            <a:ext cx="4846320" cy="292608"/>
          </a:xfrm>
          <a:prstGeom prst="rect">
            <a:avLst/>
          </a:prstGeom>
          <a:noFill/>
        </p:spPr>
        <p:txBody>
          <a:bodyPr wrap="square" lIns="36576" tIns="36576" rIns="36576" bIns="36576" anchor="ctr">
            <a:spAutoFit/>
          </a:bodyPr>
          <a:lstStyle/>
          <a:p>
            <a:pPr algn="ctr"/>
            <a:r>
              <a:rPr sz="1250" b="1" i="0">
                <a:solidFill>
                  <a:srgbClr val="FFFFFF"/>
                </a:solidFill>
                <a:latin typeface="Arial"/>
              </a:rPr>
              <a:t>Fine-grained learning  →  efficient global retrieval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300" b="1" i="0">
                <a:solidFill>
                  <a:srgbClr val="FFFFFF"/>
                </a:solidFill>
                <a:latin typeface="Arial"/>
              </a:rPr>
              <a:t>III. Experiments — Three Benchmarks</a:t>
            </a:r>
          </a:p>
        </p:txBody>
      </p:sp>
      <p:sp>
        <p:nvSpPr>
          <p:cNvPr id="3" name="TextBox 2"/>
          <p:cNvSpPr txBox="1"/>
          <p:nvPr/>
        </p:nvSpPr>
        <p:spPr>
          <a:xfrm>
            <a:off x="658368" y="6236208"/>
            <a:ext cx="7726679" cy="182880"/>
          </a:xfrm>
          <a:prstGeom prst="rect">
            <a:avLst/>
          </a:prstGeom>
          <a:noFill/>
        </p:spPr>
        <p:txBody>
          <a:bodyPr wrap="square" lIns="0" tIns="0" rIns="0" bIns="0" anchor="t">
            <a:spAutoFit/>
          </a:bodyPr>
          <a:lstStyle/>
          <a:p>
            <a:pPr algn="l"/>
            <a:r>
              <a:rPr sz="750" b="0" i="1">
                <a:solidFill>
                  <a:srgbClr val="696969"/>
                </a:solidFill>
                <a:latin typeface="Arial"/>
              </a:rPr>
              <a:t>Statistics from Sec. 4, Jiang &amp; Ye, CVPR 2023</a:t>
            </a:r>
          </a:p>
        </p:txBody>
      </p:sp>
      <p:sp>
        <p:nvSpPr>
          <p:cNvPr id="4" name="TextBox 3"/>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19</a:t>
            </a:r>
          </a:p>
        </p:txBody>
      </p:sp>
      <p:graphicFrame>
        <p:nvGraphicFramePr>
          <p:cNvPr id="5" name="Table 4"/>
          <p:cNvGraphicFramePr>
            <a:graphicFrameLocks noGrp="1"/>
          </p:cNvGraphicFramePr>
          <p:nvPr/>
        </p:nvGraphicFramePr>
        <p:xfrm>
          <a:off x="502920" y="1188720"/>
          <a:ext cx="8138158" cy="2331720"/>
        </p:xfrm>
        <a:graphic>
          <a:graphicData uri="http://schemas.openxmlformats.org/drawingml/2006/table">
            <a:tbl>
              <a:tblPr firstRow="1" bandRow="1">
                <a:tableStyleId>{5C22544A-7EE6-4342-B048-85BDC9FD1C3A}</a:tableStyleId>
              </a:tblPr>
              <a:tblGrid>
                <a:gridCol w="1796007">
                  <a:extLst>
                    <a:ext uri="{9D8B030D-6E8A-4147-A177-3AD203B41FA5}">
                      <a16:colId xmlns:a16="http://schemas.microsoft.com/office/drawing/2014/main" val="20000"/>
                    </a:ext>
                  </a:extLst>
                </a:gridCol>
                <a:gridCol w="1178630">
                  <a:extLst>
                    <a:ext uri="{9D8B030D-6E8A-4147-A177-3AD203B41FA5}">
                      <a16:colId xmlns:a16="http://schemas.microsoft.com/office/drawing/2014/main" val="20001"/>
                    </a:ext>
                  </a:extLst>
                </a:gridCol>
                <a:gridCol w="1178630">
                  <a:extLst>
                    <a:ext uri="{9D8B030D-6E8A-4147-A177-3AD203B41FA5}">
                      <a16:colId xmlns:a16="http://schemas.microsoft.com/office/drawing/2014/main" val="20002"/>
                    </a:ext>
                  </a:extLst>
                </a:gridCol>
                <a:gridCol w="1459256">
                  <a:extLst>
                    <a:ext uri="{9D8B030D-6E8A-4147-A177-3AD203B41FA5}">
                      <a16:colId xmlns:a16="http://schemas.microsoft.com/office/drawing/2014/main" val="20003"/>
                    </a:ext>
                  </a:extLst>
                </a:gridCol>
                <a:gridCol w="2525635">
                  <a:extLst>
                    <a:ext uri="{9D8B030D-6E8A-4147-A177-3AD203B41FA5}">
                      <a16:colId xmlns:a16="http://schemas.microsoft.com/office/drawing/2014/main" val="20004"/>
                    </a:ext>
                  </a:extLst>
                </a:gridCol>
              </a:tblGrid>
              <a:tr h="582930">
                <a:tc>
                  <a:txBody>
                    <a:bodyPr/>
                    <a:lstStyle/>
                    <a:p>
                      <a:pPr algn="l"/>
                      <a:r>
                        <a:rPr sz="1250" b="1">
                          <a:solidFill>
                            <a:srgbClr val="FFFFFF"/>
                          </a:solidFill>
                          <a:latin typeface="Arial"/>
                        </a:rPr>
                        <a:t>Dataset</a:t>
                      </a:r>
                    </a:p>
                  </a:txBody>
                  <a:tcPr marL="45720" marR="45720" marT="36576" marB="36576">
                    <a:solidFill>
                      <a:srgbClr val="C5162B"/>
                    </a:solidFill>
                  </a:tcPr>
                </a:tc>
                <a:tc>
                  <a:txBody>
                    <a:bodyPr/>
                    <a:lstStyle/>
                    <a:p>
                      <a:pPr algn="ctr"/>
                      <a:r>
                        <a:rPr sz="1250" b="1">
                          <a:solidFill>
                            <a:srgbClr val="FFFFFF"/>
                          </a:solidFill>
                          <a:latin typeface="Arial"/>
                        </a:rPr>
                        <a:t>Identities</a:t>
                      </a:r>
                    </a:p>
                  </a:txBody>
                  <a:tcPr marL="45720" marR="45720" marT="36576" marB="36576">
                    <a:solidFill>
                      <a:srgbClr val="C5162B"/>
                    </a:solidFill>
                  </a:tcPr>
                </a:tc>
                <a:tc>
                  <a:txBody>
                    <a:bodyPr/>
                    <a:lstStyle/>
                    <a:p>
                      <a:pPr algn="ctr"/>
                      <a:r>
                        <a:rPr sz="1250" b="1">
                          <a:solidFill>
                            <a:srgbClr val="FFFFFF"/>
                          </a:solidFill>
                          <a:latin typeface="Arial"/>
                        </a:rPr>
                        <a:t>Images</a:t>
                      </a:r>
                    </a:p>
                  </a:txBody>
                  <a:tcPr marL="45720" marR="45720" marT="36576" marB="36576">
                    <a:solidFill>
                      <a:srgbClr val="C5162B"/>
                    </a:solidFill>
                  </a:tcPr>
                </a:tc>
                <a:tc>
                  <a:txBody>
                    <a:bodyPr/>
                    <a:lstStyle/>
                    <a:p>
                      <a:pPr algn="ctr"/>
                      <a:r>
                        <a:rPr sz="1250" b="1">
                          <a:solidFill>
                            <a:srgbClr val="FFFFFF"/>
                          </a:solidFill>
                          <a:latin typeface="Arial"/>
                        </a:rPr>
                        <a:t>Descriptions</a:t>
                      </a:r>
                    </a:p>
                  </a:txBody>
                  <a:tcPr marL="45720" marR="45720" marT="36576" marB="36576">
                    <a:solidFill>
                      <a:srgbClr val="C5162B"/>
                    </a:solidFill>
                  </a:tcPr>
                </a:tc>
                <a:tc>
                  <a:txBody>
                    <a:bodyPr/>
                    <a:lstStyle/>
                    <a:p>
                      <a:pPr algn="ctr"/>
                      <a:r>
                        <a:rPr sz="1250" b="1">
                          <a:solidFill>
                            <a:srgbClr val="FFFFFF"/>
                          </a:solidFill>
                          <a:latin typeface="Arial"/>
                        </a:rPr>
                        <a:t>Key property</a:t>
                      </a:r>
                    </a:p>
                  </a:txBody>
                  <a:tcPr marL="45720" marR="45720" marT="36576" marB="36576">
                    <a:solidFill>
                      <a:srgbClr val="C5162B"/>
                    </a:solidFill>
                  </a:tcPr>
                </a:tc>
                <a:extLst>
                  <a:ext uri="{0D108BD9-81ED-4DB2-BD59-A6C34878D82A}">
                    <a16:rowId xmlns:a16="http://schemas.microsoft.com/office/drawing/2014/main" val="10000"/>
                  </a:ext>
                </a:extLst>
              </a:tr>
              <a:tr h="582930">
                <a:tc>
                  <a:txBody>
                    <a:bodyPr/>
                    <a:lstStyle/>
                    <a:p>
                      <a:pPr algn="l"/>
                      <a:r>
                        <a:rPr sz="1300" b="1">
                          <a:solidFill>
                            <a:srgbClr val="232323"/>
                          </a:solidFill>
                          <a:latin typeface="Arial"/>
                        </a:rPr>
                        <a:t>CUHK-PEDES</a:t>
                      </a:r>
                    </a:p>
                  </a:txBody>
                  <a:tcPr marL="45720" marR="45720" marT="36576" marB="36576">
                    <a:solidFill>
                      <a:srgbClr val="FFFFFF"/>
                    </a:solidFill>
                  </a:tcPr>
                </a:tc>
                <a:tc>
                  <a:txBody>
                    <a:bodyPr/>
                    <a:lstStyle/>
                    <a:p>
                      <a:pPr algn="ctr"/>
                      <a:r>
                        <a:rPr sz="1300" b="0">
                          <a:solidFill>
                            <a:srgbClr val="232323"/>
                          </a:solidFill>
                          <a:latin typeface="Arial"/>
                        </a:rPr>
                        <a:t>13,003</a:t>
                      </a:r>
                    </a:p>
                  </a:txBody>
                  <a:tcPr marL="45720" marR="45720" marT="36576" marB="36576">
                    <a:solidFill>
                      <a:srgbClr val="FFFFFF"/>
                    </a:solidFill>
                  </a:tcPr>
                </a:tc>
                <a:tc>
                  <a:txBody>
                    <a:bodyPr/>
                    <a:lstStyle/>
                    <a:p>
                      <a:pPr algn="ctr"/>
                      <a:r>
                        <a:rPr sz="1300" b="0">
                          <a:solidFill>
                            <a:srgbClr val="232323"/>
                          </a:solidFill>
                          <a:latin typeface="Arial"/>
                        </a:rPr>
                        <a:t>40,206</a:t>
                      </a:r>
                    </a:p>
                  </a:txBody>
                  <a:tcPr marL="45720" marR="45720" marT="36576" marB="36576">
                    <a:solidFill>
                      <a:srgbClr val="FFFFFF"/>
                    </a:solidFill>
                  </a:tcPr>
                </a:tc>
                <a:tc>
                  <a:txBody>
                    <a:bodyPr/>
                    <a:lstStyle/>
                    <a:p>
                      <a:pPr algn="ctr"/>
                      <a:r>
                        <a:rPr sz="1300" b="0">
                          <a:solidFill>
                            <a:srgbClr val="232323"/>
                          </a:solidFill>
                          <a:latin typeface="Arial"/>
                        </a:rPr>
                        <a:t>80,412</a:t>
                      </a:r>
                    </a:p>
                  </a:txBody>
                  <a:tcPr marL="45720" marR="45720" marT="36576" marB="36576">
                    <a:solidFill>
                      <a:srgbClr val="FFFFFF"/>
                    </a:solidFill>
                  </a:tcPr>
                </a:tc>
                <a:tc>
                  <a:txBody>
                    <a:bodyPr/>
                    <a:lstStyle/>
                    <a:p>
                      <a:pPr algn="ctr"/>
                      <a:r>
                        <a:rPr sz="1300" b="0">
                          <a:solidFill>
                            <a:srgbClr val="232323"/>
                          </a:solidFill>
                          <a:latin typeface="Arial"/>
                        </a:rPr>
                        <a:t>2 descriptions/image</a:t>
                      </a:r>
                    </a:p>
                  </a:txBody>
                  <a:tcPr marL="45720" marR="45720" marT="36576" marB="36576">
                    <a:solidFill>
                      <a:srgbClr val="FFFFFF"/>
                    </a:solidFill>
                  </a:tcPr>
                </a:tc>
                <a:extLst>
                  <a:ext uri="{0D108BD9-81ED-4DB2-BD59-A6C34878D82A}">
                    <a16:rowId xmlns:a16="http://schemas.microsoft.com/office/drawing/2014/main" val="10001"/>
                  </a:ext>
                </a:extLst>
              </a:tr>
              <a:tr h="582930">
                <a:tc>
                  <a:txBody>
                    <a:bodyPr/>
                    <a:lstStyle/>
                    <a:p>
                      <a:pPr algn="l"/>
                      <a:r>
                        <a:rPr sz="1300" b="1">
                          <a:solidFill>
                            <a:srgbClr val="232323"/>
                          </a:solidFill>
                          <a:latin typeface="Arial"/>
                        </a:rPr>
                        <a:t>ICFG-PEDES</a:t>
                      </a:r>
                    </a:p>
                  </a:txBody>
                  <a:tcPr marL="45720" marR="45720" marT="36576" marB="36576">
                    <a:solidFill>
                      <a:srgbClr val="F3F4F6"/>
                    </a:solidFill>
                  </a:tcPr>
                </a:tc>
                <a:tc>
                  <a:txBody>
                    <a:bodyPr/>
                    <a:lstStyle/>
                    <a:p>
                      <a:pPr algn="ctr"/>
                      <a:r>
                        <a:rPr sz="1300" b="0">
                          <a:solidFill>
                            <a:srgbClr val="232323"/>
                          </a:solidFill>
                          <a:latin typeface="Arial"/>
                        </a:rPr>
                        <a:t>4,102</a:t>
                      </a:r>
                    </a:p>
                  </a:txBody>
                  <a:tcPr marL="45720" marR="45720" marT="36576" marB="36576">
                    <a:solidFill>
                      <a:srgbClr val="F3F4F6"/>
                    </a:solidFill>
                  </a:tcPr>
                </a:tc>
                <a:tc>
                  <a:txBody>
                    <a:bodyPr/>
                    <a:lstStyle/>
                    <a:p>
                      <a:pPr algn="ctr"/>
                      <a:r>
                        <a:rPr sz="1300" b="0">
                          <a:solidFill>
                            <a:srgbClr val="232323"/>
                          </a:solidFill>
                          <a:latin typeface="Arial"/>
                        </a:rPr>
                        <a:t>54,522</a:t>
                      </a:r>
                    </a:p>
                  </a:txBody>
                  <a:tcPr marL="45720" marR="45720" marT="36576" marB="36576">
                    <a:solidFill>
                      <a:srgbClr val="F3F4F6"/>
                    </a:solidFill>
                  </a:tcPr>
                </a:tc>
                <a:tc>
                  <a:txBody>
                    <a:bodyPr/>
                    <a:lstStyle/>
                    <a:p>
                      <a:pPr algn="ctr"/>
                      <a:r>
                        <a:rPr sz="1300" b="0">
                          <a:solidFill>
                            <a:srgbClr val="232323"/>
                          </a:solidFill>
                          <a:latin typeface="Arial"/>
                        </a:rPr>
                        <a:t>54,522</a:t>
                      </a:r>
                    </a:p>
                  </a:txBody>
                  <a:tcPr marL="45720" marR="45720" marT="36576" marB="36576">
                    <a:solidFill>
                      <a:srgbClr val="F3F4F6"/>
                    </a:solidFill>
                  </a:tcPr>
                </a:tc>
                <a:tc>
                  <a:txBody>
                    <a:bodyPr/>
                    <a:lstStyle/>
                    <a:p>
                      <a:pPr algn="ctr"/>
                      <a:r>
                        <a:rPr sz="1300" b="0">
                          <a:solidFill>
                            <a:srgbClr val="232323"/>
                          </a:solidFill>
                          <a:latin typeface="Arial"/>
                        </a:rPr>
                        <a:t>1 description/image</a:t>
                      </a:r>
                    </a:p>
                  </a:txBody>
                  <a:tcPr marL="45720" marR="45720" marT="36576" marB="36576">
                    <a:solidFill>
                      <a:srgbClr val="F3F4F6"/>
                    </a:solidFill>
                  </a:tcPr>
                </a:tc>
                <a:extLst>
                  <a:ext uri="{0D108BD9-81ED-4DB2-BD59-A6C34878D82A}">
                    <a16:rowId xmlns:a16="http://schemas.microsoft.com/office/drawing/2014/main" val="10002"/>
                  </a:ext>
                </a:extLst>
              </a:tr>
              <a:tr h="582930">
                <a:tc>
                  <a:txBody>
                    <a:bodyPr/>
                    <a:lstStyle/>
                    <a:p>
                      <a:pPr algn="l"/>
                      <a:r>
                        <a:rPr sz="1300" b="1">
                          <a:solidFill>
                            <a:srgbClr val="232323"/>
                          </a:solidFill>
                          <a:latin typeface="Arial"/>
                        </a:rPr>
                        <a:t>RSTPReid</a:t>
                      </a:r>
                    </a:p>
                  </a:txBody>
                  <a:tcPr marL="45720" marR="45720" marT="36576" marB="36576">
                    <a:solidFill>
                      <a:srgbClr val="FFFFFF"/>
                    </a:solidFill>
                  </a:tcPr>
                </a:tc>
                <a:tc>
                  <a:txBody>
                    <a:bodyPr/>
                    <a:lstStyle/>
                    <a:p>
                      <a:pPr algn="ctr"/>
                      <a:r>
                        <a:rPr sz="1300" b="0">
                          <a:solidFill>
                            <a:srgbClr val="232323"/>
                          </a:solidFill>
                          <a:latin typeface="Arial"/>
                        </a:rPr>
                        <a:t>4,101</a:t>
                      </a:r>
                    </a:p>
                  </a:txBody>
                  <a:tcPr marL="45720" marR="45720" marT="36576" marB="36576">
                    <a:solidFill>
                      <a:srgbClr val="FFFFFF"/>
                    </a:solidFill>
                  </a:tcPr>
                </a:tc>
                <a:tc>
                  <a:txBody>
                    <a:bodyPr/>
                    <a:lstStyle/>
                    <a:p>
                      <a:pPr algn="ctr"/>
                      <a:r>
                        <a:rPr sz="1300" b="0">
                          <a:solidFill>
                            <a:srgbClr val="232323"/>
                          </a:solidFill>
                          <a:latin typeface="Arial"/>
                        </a:rPr>
                        <a:t>20,505</a:t>
                      </a:r>
                    </a:p>
                  </a:txBody>
                  <a:tcPr marL="45720" marR="45720" marT="36576" marB="36576">
                    <a:solidFill>
                      <a:srgbClr val="FFFFFF"/>
                    </a:solidFill>
                  </a:tcPr>
                </a:tc>
                <a:tc>
                  <a:txBody>
                    <a:bodyPr/>
                    <a:lstStyle/>
                    <a:p>
                      <a:pPr algn="ctr"/>
                      <a:r>
                        <a:rPr sz="1300" b="0">
                          <a:solidFill>
                            <a:srgbClr val="232323"/>
                          </a:solidFill>
                          <a:latin typeface="Arial"/>
                        </a:rPr>
                        <a:t>41,010</a:t>
                      </a:r>
                    </a:p>
                  </a:txBody>
                  <a:tcPr marL="45720" marR="45720" marT="36576" marB="36576">
                    <a:solidFill>
                      <a:srgbClr val="FFFFFF"/>
                    </a:solidFill>
                  </a:tcPr>
                </a:tc>
                <a:tc>
                  <a:txBody>
                    <a:bodyPr/>
                    <a:lstStyle/>
                    <a:p>
                      <a:pPr algn="ctr"/>
                      <a:r>
                        <a:rPr sz="1300" b="0">
                          <a:solidFill>
                            <a:srgbClr val="232323"/>
                          </a:solidFill>
                          <a:latin typeface="Arial"/>
                        </a:rPr>
                        <a:t>15 cameras; 5 images/ID</a:t>
                      </a:r>
                    </a:p>
                  </a:txBody>
                  <a:tcPr marL="45720" marR="45720" marT="36576" marB="36576">
                    <a:solidFill>
                      <a:srgbClr val="FFFFFF"/>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502920" y="3877056"/>
            <a:ext cx="8138160" cy="1389888"/>
          </a:xfrm>
          <a:prstGeom prst="roundRect">
            <a:avLst/>
          </a:prstGeom>
          <a:solidFill>
            <a:srgbClr val="F3F4F6"/>
          </a:solidFill>
          <a:ln w="12700">
            <a:solidFill>
              <a:srgbClr val="E0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4169663"/>
            <a:ext cx="2057400" cy="329184"/>
          </a:xfrm>
          <a:prstGeom prst="rect">
            <a:avLst/>
          </a:prstGeom>
          <a:noFill/>
        </p:spPr>
        <p:txBody>
          <a:bodyPr wrap="square" lIns="0" tIns="0" rIns="0" bIns="0" anchor="t">
            <a:spAutoFit/>
          </a:bodyPr>
          <a:lstStyle/>
          <a:p>
            <a:pPr algn="l"/>
            <a:r>
              <a:rPr sz="1500" b="1" i="0">
                <a:solidFill>
                  <a:srgbClr val="990014"/>
                </a:solidFill>
                <a:latin typeface="Arial"/>
              </a:rPr>
              <a:t>IDENTITY-DISJOINT SPLIT</a:t>
            </a:r>
          </a:p>
        </p:txBody>
      </p:sp>
      <p:sp>
        <p:nvSpPr>
          <p:cNvPr id="8" name="TextBox 7"/>
          <p:cNvSpPr txBox="1"/>
          <p:nvPr/>
        </p:nvSpPr>
        <p:spPr>
          <a:xfrm>
            <a:off x="2779776" y="4169663"/>
            <a:ext cx="5340096" cy="329184"/>
          </a:xfrm>
          <a:prstGeom prst="rect">
            <a:avLst/>
          </a:prstGeom>
          <a:noFill/>
        </p:spPr>
        <p:txBody>
          <a:bodyPr wrap="square" lIns="0" tIns="0" rIns="0" bIns="0" anchor="t">
            <a:spAutoFit/>
          </a:bodyPr>
          <a:lstStyle/>
          <a:p>
            <a:pPr algn="ctr"/>
            <a:r>
              <a:rPr sz="1500" b="1" i="0">
                <a:solidFill>
                  <a:srgbClr val="434343"/>
                </a:solidFill>
                <a:latin typeface="Arial"/>
              </a:rPr>
              <a:t>No identity appears in both training and test sets</a:t>
            </a:r>
          </a:p>
        </p:txBody>
      </p:sp>
      <p:sp>
        <p:nvSpPr>
          <p:cNvPr id="9" name="TextBox 8"/>
          <p:cNvSpPr txBox="1"/>
          <p:nvPr/>
        </p:nvSpPr>
        <p:spPr>
          <a:xfrm>
            <a:off x="777240" y="4663440"/>
            <a:ext cx="2240280" cy="256032"/>
          </a:xfrm>
          <a:prstGeom prst="rect">
            <a:avLst/>
          </a:prstGeom>
          <a:noFill/>
        </p:spPr>
        <p:txBody>
          <a:bodyPr wrap="square" lIns="0" tIns="0" rIns="0" bIns="0" anchor="t">
            <a:spAutoFit/>
          </a:bodyPr>
          <a:lstStyle/>
          <a:p>
            <a:pPr algn="ctr"/>
            <a:r>
              <a:rPr sz="1250" b="1" i="0">
                <a:solidFill>
                  <a:srgbClr val="206CAA"/>
                </a:solidFill>
                <a:latin typeface="Arial"/>
              </a:rPr>
              <a:t>CUHK: first benchmark</a:t>
            </a:r>
          </a:p>
        </p:txBody>
      </p:sp>
      <p:sp>
        <p:nvSpPr>
          <p:cNvPr id="10" name="TextBox 9"/>
          <p:cNvSpPr txBox="1"/>
          <p:nvPr/>
        </p:nvSpPr>
        <p:spPr>
          <a:xfrm>
            <a:off x="3383280" y="4663440"/>
            <a:ext cx="2148840" cy="256032"/>
          </a:xfrm>
          <a:prstGeom prst="rect">
            <a:avLst/>
          </a:prstGeom>
          <a:noFill/>
        </p:spPr>
        <p:txBody>
          <a:bodyPr wrap="square" lIns="0" tIns="0" rIns="0" bIns="0" anchor="t">
            <a:spAutoFit/>
          </a:bodyPr>
          <a:lstStyle/>
          <a:p>
            <a:pPr algn="ctr"/>
            <a:r>
              <a:rPr sz="1250" b="1" i="0" dirty="0">
                <a:solidFill>
                  <a:srgbClr val="EBA300"/>
                </a:solidFill>
                <a:latin typeface="Arial"/>
              </a:rPr>
              <a:t>ICFG: large test gallery</a:t>
            </a:r>
          </a:p>
        </p:txBody>
      </p:sp>
      <p:sp>
        <p:nvSpPr>
          <p:cNvPr id="11" name="TextBox 10"/>
          <p:cNvSpPr txBox="1"/>
          <p:nvPr/>
        </p:nvSpPr>
        <p:spPr>
          <a:xfrm>
            <a:off x="5989320" y="4663440"/>
            <a:ext cx="1920240" cy="256032"/>
          </a:xfrm>
          <a:prstGeom prst="rect">
            <a:avLst/>
          </a:prstGeom>
          <a:noFill/>
        </p:spPr>
        <p:txBody>
          <a:bodyPr wrap="square" lIns="0" tIns="0" rIns="0" bIns="0" anchor="t">
            <a:spAutoFit/>
          </a:bodyPr>
          <a:lstStyle/>
          <a:p>
            <a:pPr algn="ctr"/>
            <a:r>
              <a:rPr sz="1250" b="1" i="0">
                <a:solidFill>
                  <a:srgbClr val="C5162B"/>
                </a:solidFill>
                <a:latin typeface="Arial"/>
              </a:rPr>
              <a:t>RSTP: multi-camera</a:t>
            </a:r>
          </a:p>
        </p:txBody>
      </p:sp>
      <p:sp>
        <p:nvSpPr>
          <p:cNvPr id="12" name="Rounded Rectangle 11"/>
          <p:cNvSpPr/>
          <p:nvPr/>
        </p:nvSpPr>
        <p:spPr>
          <a:xfrm>
            <a:off x="2267712" y="5614416"/>
            <a:ext cx="4608576" cy="329184"/>
          </a:xfrm>
          <a:prstGeom prst="roundRect">
            <a:avLst/>
          </a:prstGeom>
          <a:solidFill>
            <a:srgbClr val="990014"/>
          </a:solidFill>
          <a:ln w="12700">
            <a:solidFill>
              <a:srgbClr val="9900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67712" y="5623559"/>
            <a:ext cx="4608576" cy="292608"/>
          </a:xfrm>
          <a:prstGeom prst="rect">
            <a:avLst/>
          </a:prstGeom>
          <a:noFill/>
        </p:spPr>
        <p:txBody>
          <a:bodyPr wrap="square" lIns="36576" tIns="36576" rIns="36576" bIns="36576" anchor="ctr">
            <a:spAutoFit/>
          </a:bodyPr>
          <a:lstStyle/>
          <a:p>
            <a:pPr algn="ctr"/>
            <a:r>
              <a:rPr sz="1250" b="1" i="0">
                <a:solidFill>
                  <a:srgbClr val="FFFFFF"/>
                </a:solidFill>
                <a:latin typeface="Arial"/>
              </a:rPr>
              <a:t>Test = generalization to unseen identities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300" b="1" i="0">
                <a:solidFill>
                  <a:srgbClr val="FFFFFF"/>
                </a:solidFill>
                <a:latin typeface="Arial"/>
              </a:rPr>
              <a:t>III. Experiments — Metrics and Training Setup</a:t>
            </a:r>
          </a:p>
        </p:txBody>
      </p:sp>
      <p:sp>
        <p:nvSpPr>
          <p:cNvPr id="3" name="TextBox 2"/>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20</a:t>
            </a:r>
          </a:p>
        </p:txBody>
      </p:sp>
      <p:sp>
        <p:nvSpPr>
          <p:cNvPr id="4" name="Rounded Rectangle 3"/>
          <p:cNvSpPr/>
          <p:nvPr/>
        </p:nvSpPr>
        <p:spPr>
          <a:xfrm>
            <a:off x="502920" y="950976"/>
            <a:ext cx="2441448" cy="1600200"/>
          </a:xfrm>
          <a:prstGeom prst="roundRect">
            <a:avLst/>
          </a:prstGeom>
          <a:solidFill>
            <a:srgbClr val="F3F4F6"/>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67512" y="1197864"/>
            <a:ext cx="2112264" cy="347472"/>
          </a:xfrm>
          <a:prstGeom prst="rect">
            <a:avLst/>
          </a:prstGeom>
          <a:noFill/>
        </p:spPr>
        <p:txBody>
          <a:bodyPr wrap="square" lIns="0" tIns="0" rIns="0" bIns="0" anchor="t">
            <a:spAutoFit/>
          </a:bodyPr>
          <a:lstStyle/>
          <a:p>
            <a:pPr algn="ctr"/>
            <a:r>
              <a:rPr sz="1800" b="1" i="0">
                <a:solidFill>
                  <a:srgbClr val="C5162B"/>
                </a:solidFill>
                <a:latin typeface="Arial"/>
              </a:rPr>
              <a:t>RANK-k</a:t>
            </a:r>
          </a:p>
        </p:txBody>
      </p:sp>
      <p:sp>
        <p:nvSpPr>
          <p:cNvPr id="6" name="TextBox 5"/>
          <p:cNvSpPr txBox="1"/>
          <p:nvPr/>
        </p:nvSpPr>
        <p:spPr>
          <a:xfrm>
            <a:off x="704088" y="1673352"/>
            <a:ext cx="2039112" cy="566928"/>
          </a:xfrm>
          <a:prstGeom prst="rect">
            <a:avLst/>
          </a:prstGeom>
          <a:noFill/>
        </p:spPr>
        <p:txBody>
          <a:bodyPr wrap="square" lIns="0" tIns="0" rIns="0" bIns="0" anchor="t">
            <a:spAutoFit/>
          </a:bodyPr>
          <a:lstStyle/>
          <a:p>
            <a:pPr algn="ctr"/>
            <a:r>
              <a:rPr sz="1350" b="0" i="0">
                <a:solidFill>
                  <a:srgbClr val="434343"/>
                </a:solidFill>
                <a:latin typeface="Arial"/>
              </a:rPr>
              <a:t>At least one correct image
appears in Top-k</a:t>
            </a:r>
          </a:p>
        </p:txBody>
      </p:sp>
      <p:sp>
        <p:nvSpPr>
          <p:cNvPr id="7" name="Rounded Rectangle 6"/>
          <p:cNvSpPr/>
          <p:nvPr/>
        </p:nvSpPr>
        <p:spPr>
          <a:xfrm>
            <a:off x="3246120" y="950976"/>
            <a:ext cx="2441448" cy="1600200"/>
          </a:xfrm>
          <a:prstGeom prst="roundRect">
            <a:avLst/>
          </a:prstGeom>
          <a:solidFill>
            <a:srgbClr val="F3F4F6"/>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10712" y="1197864"/>
            <a:ext cx="2112264" cy="347472"/>
          </a:xfrm>
          <a:prstGeom prst="rect">
            <a:avLst/>
          </a:prstGeom>
          <a:noFill/>
        </p:spPr>
        <p:txBody>
          <a:bodyPr wrap="square" lIns="0" tIns="0" rIns="0" bIns="0" anchor="t">
            <a:spAutoFit/>
          </a:bodyPr>
          <a:lstStyle/>
          <a:p>
            <a:pPr algn="ctr"/>
            <a:r>
              <a:rPr sz="1800" b="1" i="0">
                <a:solidFill>
                  <a:srgbClr val="206CAA"/>
                </a:solidFill>
                <a:latin typeface="Arial"/>
              </a:rPr>
              <a:t>mAP</a:t>
            </a:r>
          </a:p>
        </p:txBody>
      </p:sp>
      <p:sp>
        <p:nvSpPr>
          <p:cNvPr id="9" name="TextBox 8"/>
          <p:cNvSpPr txBox="1"/>
          <p:nvPr/>
        </p:nvSpPr>
        <p:spPr>
          <a:xfrm>
            <a:off x="3447288" y="1673352"/>
            <a:ext cx="2039112" cy="566928"/>
          </a:xfrm>
          <a:prstGeom prst="rect">
            <a:avLst/>
          </a:prstGeom>
          <a:noFill/>
        </p:spPr>
        <p:txBody>
          <a:bodyPr wrap="square" lIns="0" tIns="0" rIns="0" bIns="0" anchor="t">
            <a:spAutoFit/>
          </a:bodyPr>
          <a:lstStyle/>
          <a:p>
            <a:pPr algn="ctr"/>
            <a:r>
              <a:rPr sz="1350" b="0" i="0">
                <a:solidFill>
                  <a:srgbClr val="434343"/>
                </a:solidFill>
                <a:latin typeface="Arial"/>
              </a:rPr>
              <a:t>Ranking quality across
all relevant images</a:t>
            </a:r>
          </a:p>
        </p:txBody>
      </p:sp>
      <p:sp>
        <p:nvSpPr>
          <p:cNvPr id="10" name="Rounded Rectangle 9"/>
          <p:cNvSpPr/>
          <p:nvPr/>
        </p:nvSpPr>
        <p:spPr>
          <a:xfrm>
            <a:off x="5989320" y="950976"/>
            <a:ext cx="2441448" cy="1600200"/>
          </a:xfrm>
          <a:prstGeom prst="roundRect">
            <a:avLst/>
          </a:prstGeom>
          <a:solidFill>
            <a:srgbClr val="F3F4F6"/>
          </a:solidFill>
          <a:ln w="12700">
            <a:solidFill>
              <a:srgbClr val="EB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53912" y="1197864"/>
            <a:ext cx="2112264" cy="347472"/>
          </a:xfrm>
          <a:prstGeom prst="rect">
            <a:avLst/>
          </a:prstGeom>
          <a:noFill/>
        </p:spPr>
        <p:txBody>
          <a:bodyPr wrap="square" lIns="0" tIns="0" rIns="0" bIns="0" anchor="t">
            <a:spAutoFit/>
          </a:bodyPr>
          <a:lstStyle/>
          <a:p>
            <a:pPr algn="ctr"/>
            <a:r>
              <a:rPr sz="1800" b="1" i="0">
                <a:solidFill>
                  <a:srgbClr val="EBA300"/>
                </a:solidFill>
                <a:latin typeface="Arial"/>
              </a:rPr>
              <a:t>mINP</a:t>
            </a:r>
          </a:p>
        </p:txBody>
      </p:sp>
      <p:sp>
        <p:nvSpPr>
          <p:cNvPr id="12" name="TextBox 11"/>
          <p:cNvSpPr txBox="1"/>
          <p:nvPr/>
        </p:nvSpPr>
        <p:spPr>
          <a:xfrm>
            <a:off x="6190488" y="1673352"/>
            <a:ext cx="2039112" cy="566928"/>
          </a:xfrm>
          <a:prstGeom prst="rect">
            <a:avLst/>
          </a:prstGeom>
          <a:noFill/>
        </p:spPr>
        <p:txBody>
          <a:bodyPr wrap="square" lIns="0" tIns="0" rIns="0" bIns="0" anchor="t">
            <a:spAutoFit/>
          </a:bodyPr>
          <a:lstStyle/>
          <a:p>
            <a:pPr algn="ctr"/>
            <a:r>
              <a:rPr sz="1350" b="0" i="0">
                <a:solidFill>
                  <a:srgbClr val="434343"/>
                </a:solidFill>
                <a:latin typeface="Arial"/>
              </a:rPr>
              <a:t>Position of the hardest /
last relevant image</a:t>
            </a:r>
          </a:p>
        </p:txBody>
      </p:sp>
      <p:sp>
        <p:nvSpPr>
          <p:cNvPr id="13" name="Rounded Rectangle 12"/>
          <p:cNvSpPr/>
          <p:nvPr/>
        </p:nvSpPr>
        <p:spPr>
          <a:xfrm>
            <a:off x="502920" y="2862072"/>
            <a:ext cx="8138160" cy="2532888"/>
          </a:xfrm>
          <a:prstGeom prst="roundRect">
            <a:avLst/>
          </a:prstGeom>
          <a:solidFill>
            <a:srgbClr val="FDEBEB"/>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04672" y="3136392"/>
            <a:ext cx="1847088" cy="329184"/>
          </a:xfrm>
          <a:prstGeom prst="roundRect">
            <a:avLst/>
          </a:prstGeom>
          <a:solidFill>
            <a:srgbClr val="C5162B"/>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4672" y="3145536"/>
            <a:ext cx="1847088" cy="292608"/>
          </a:xfrm>
          <a:prstGeom prst="rect">
            <a:avLst/>
          </a:prstGeom>
          <a:noFill/>
        </p:spPr>
        <p:txBody>
          <a:bodyPr wrap="square" lIns="36576" tIns="36576" rIns="36576" bIns="36576" anchor="ctr">
            <a:spAutoFit/>
          </a:bodyPr>
          <a:lstStyle/>
          <a:p>
            <a:pPr algn="ctr"/>
            <a:r>
              <a:rPr sz="1200" b="1" i="0">
                <a:solidFill>
                  <a:srgbClr val="FFFFFF"/>
                </a:solidFill>
                <a:latin typeface="Arial"/>
              </a:rPr>
              <a:t>IMPLEMENTATION</a:t>
            </a:r>
          </a:p>
        </p:txBody>
      </p:sp>
      <p:sp>
        <p:nvSpPr>
          <p:cNvPr id="16" name="TextBox 15"/>
          <p:cNvSpPr txBox="1"/>
          <p:nvPr/>
        </p:nvSpPr>
        <p:spPr>
          <a:xfrm>
            <a:off x="841248" y="3749039"/>
            <a:ext cx="3246120" cy="1371600"/>
          </a:xfrm>
          <a:prstGeom prst="rect">
            <a:avLst/>
          </a:prstGeom>
          <a:noFill/>
        </p:spPr>
        <p:txBody>
          <a:bodyPr wrap="square" lIns="73152" tIns="73152" rIns="73152" bIns="73152" anchor="t">
            <a:spAutoFit/>
          </a:bodyPr>
          <a:lstStyle/>
          <a:p>
            <a:pPr algn="l">
              <a:spcBef>
                <a:spcPts val="0"/>
              </a:spcBef>
              <a:spcAft>
                <a:spcPts val="800"/>
              </a:spcAft>
            </a:pPr>
            <a:r>
              <a:rPr sz="1500" b="0" i="0">
                <a:solidFill>
                  <a:srgbClr val="434343"/>
                </a:solidFill>
                <a:latin typeface="Arial"/>
              </a:rPr>
              <a:t>• CLIP ViT-B/16</a:t>
            </a:r>
          </a:p>
          <a:p>
            <a:pPr algn="l">
              <a:spcBef>
                <a:spcPts val="0"/>
              </a:spcBef>
              <a:spcAft>
                <a:spcPts val="800"/>
              </a:spcAft>
            </a:pPr>
            <a:r>
              <a:rPr sz="1500" b="0" i="0">
                <a:solidFill>
                  <a:srgbClr val="434343"/>
                </a:solidFill>
                <a:latin typeface="Arial"/>
              </a:rPr>
              <a:t>• Image size: 384×128</a:t>
            </a:r>
          </a:p>
          <a:p>
            <a:pPr algn="l">
              <a:spcBef>
                <a:spcPts val="0"/>
              </a:spcBef>
              <a:spcAft>
                <a:spcPts val="800"/>
              </a:spcAft>
            </a:pPr>
            <a:r>
              <a:rPr sz="1500" b="0" i="0">
                <a:solidFill>
                  <a:srgbClr val="434343"/>
                </a:solidFill>
                <a:latin typeface="Arial"/>
              </a:rPr>
              <a:t>• Text length ≤ 77 tokens</a:t>
            </a:r>
          </a:p>
          <a:p>
            <a:pPr algn="l">
              <a:spcBef>
                <a:spcPts val="0"/>
              </a:spcBef>
              <a:spcAft>
                <a:spcPts val="800"/>
              </a:spcAft>
            </a:pPr>
            <a:r>
              <a:rPr sz="1500" b="0" i="0">
                <a:solidFill>
                  <a:srgbClr val="434343"/>
                </a:solidFill>
                <a:latin typeface="Arial"/>
              </a:rPr>
              <a:t>• Adam • 60 epochs</a:t>
            </a:r>
          </a:p>
        </p:txBody>
      </p:sp>
      <p:sp>
        <p:nvSpPr>
          <p:cNvPr id="17" name="TextBox 16"/>
          <p:cNvSpPr txBox="1"/>
          <p:nvPr/>
        </p:nvSpPr>
        <p:spPr>
          <a:xfrm>
            <a:off x="4617720" y="3749039"/>
            <a:ext cx="3246120" cy="1371600"/>
          </a:xfrm>
          <a:prstGeom prst="rect">
            <a:avLst/>
          </a:prstGeom>
          <a:noFill/>
        </p:spPr>
        <p:txBody>
          <a:bodyPr wrap="square" lIns="73152" tIns="73152" rIns="73152" bIns="73152" anchor="t">
            <a:spAutoFit/>
          </a:bodyPr>
          <a:lstStyle/>
          <a:p>
            <a:pPr algn="l">
              <a:spcBef>
                <a:spcPts val="0"/>
              </a:spcBef>
              <a:spcAft>
                <a:spcPts val="800"/>
              </a:spcAft>
            </a:pPr>
            <a:r>
              <a:rPr sz="1500" b="0" i="0">
                <a:solidFill>
                  <a:srgbClr val="434343"/>
                </a:solidFill>
                <a:latin typeface="Arial"/>
              </a:rPr>
              <a:t>• Learning rate: 1e−5</a:t>
            </a:r>
          </a:p>
          <a:p>
            <a:pPr algn="l">
              <a:spcBef>
                <a:spcPts val="0"/>
              </a:spcBef>
              <a:spcAft>
                <a:spcPts val="800"/>
              </a:spcAft>
            </a:pPr>
            <a:r>
              <a:rPr sz="1500" b="0" i="0">
                <a:solidFill>
                  <a:srgbClr val="434343"/>
                </a:solidFill>
                <a:latin typeface="Arial"/>
              </a:rPr>
              <a:t>• Warm-up: 5 epochs</a:t>
            </a:r>
          </a:p>
          <a:p>
            <a:pPr algn="l">
              <a:spcBef>
                <a:spcPts val="0"/>
              </a:spcBef>
              <a:spcAft>
                <a:spcPts val="800"/>
              </a:spcAft>
            </a:pPr>
            <a:r>
              <a:rPr sz="1500" b="0" i="0">
                <a:solidFill>
                  <a:srgbClr val="434343"/>
                </a:solidFill>
                <a:latin typeface="Arial"/>
              </a:rPr>
              <a:t>• New modules: 5e−5</a:t>
            </a:r>
          </a:p>
          <a:p>
            <a:pPr algn="l">
              <a:spcBef>
                <a:spcPts val="0"/>
              </a:spcBef>
              <a:spcAft>
                <a:spcPts val="800"/>
              </a:spcAft>
            </a:pPr>
            <a:r>
              <a:rPr sz="1500" b="0" i="0">
                <a:solidFill>
                  <a:srgbClr val="434343"/>
                </a:solidFill>
                <a:latin typeface="Arial"/>
              </a:rPr>
              <a:t>• τ = 0.02 • RTX 3090</a:t>
            </a:r>
          </a:p>
        </p:txBody>
      </p:sp>
      <p:sp>
        <p:nvSpPr>
          <p:cNvPr id="18" name="TextBox 17"/>
          <p:cNvSpPr txBox="1"/>
          <p:nvPr/>
        </p:nvSpPr>
        <p:spPr>
          <a:xfrm>
            <a:off x="2523744" y="5669280"/>
            <a:ext cx="4114800" cy="292608"/>
          </a:xfrm>
          <a:prstGeom prst="rect">
            <a:avLst/>
          </a:prstGeom>
          <a:noFill/>
        </p:spPr>
        <p:txBody>
          <a:bodyPr wrap="square" lIns="0" tIns="0" rIns="0" bIns="0" anchor="t">
            <a:spAutoFit/>
          </a:bodyPr>
          <a:lstStyle/>
          <a:p>
            <a:pPr algn="ctr"/>
            <a:r>
              <a:rPr sz="1400" b="1" i="0">
                <a:solidFill>
                  <a:srgbClr val="990014"/>
                </a:solidFill>
                <a:latin typeface="Arial"/>
              </a:rPr>
              <a:t>Higher is better for all metrics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000" b="1" i="0">
                <a:solidFill>
                  <a:srgbClr val="FFFFFF"/>
                </a:solidFill>
                <a:latin typeface="Arial"/>
              </a:rPr>
              <a:t>III. Results — State-of-the-Art Comparison (2023)</a:t>
            </a:r>
          </a:p>
        </p:txBody>
      </p:sp>
      <p:sp>
        <p:nvSpPr>
          <p:cNvPr id="3" name="TextBox 2"/>
          <p:cNvSpPr txBox="1"/>
          <p:nvPr/>
        </p:nvSpPr>
        <p:spPr>
          <a:xfrm>
            <a:off x="658368" y="6236208"/>
            <a:ext cx="7726679" cy="182880"/>
          </a:xfrm>
          <a:prstGeom prst="rect">
            <a:avLst/>
          </a:prstGeom>
          <a:noFill/>
        </p:spPr>
        <p:txBody>
          <a:bodyPr wrap="square" lIns="0" tIns="0" rIns="0" bIns="0" anchor="t">
            <a:spAutoFit/>
          </a:bodyPr>
          <a:lstStyle/>
          <a:p>
            <a:pPr algn="l"/>
            <a:r>
              <a:rPr sz="750" b="0" i="1">
                <a:solidFill>
                  <a:srgbClr val="696969"/>
                </a:solidFill>
                <a:latin typeface="Arial"/>
              </a:rPr>
              <a:t>Data: Jiang &amp; Ye, CVPR 2023, Tables 1–3</a:t>
            </a:r>
          </a:p>
        </p:txBody>
      </p:sp>
      <p:sp>
        <p:nvSpPr>
          <p:cNvPr id="4" name="TextBox 3"/>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21</a:t>
            </a:r>
          </a:p>
        </p:txBody>
      </p:sp>
      <p:cxnSp>
        <p:nvCxnSpPr>
          <p:cNvPr id="5" name="Connector 4"/>
          <p:cNvCxnSpPr/>
          <p:nvPr/>
        </p:nvCxnSpPr>
        <p:spPr>
          <a:xfrm>
            <a:off x="1005840" y="1307592"/>
            <a:ext cx="0" cy="3447288"/>
          </a:xfrm>
          <a:prstGeom prst="line">
            <a:avLst/>
          </a:prstGeom>
          <a:ln w="12700">
            <a:solidFill>
              <a:srgbClr val="69696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05840" y="4754880"/>
            <a:ext cx="7452360" cy="0"/>
          </a:xfrm>
          <a:prstGeom prst="line">
            <a:avLst/>
          </a:prstGeom>
          <a:ln w="12700">
            <a:solidFill>
              <a:srgbClr val="69696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05840" y="4754880"/>
            <a:ext cx="745236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4663440"/>
            <a:ext cx="438912" cy="182880"/>
          </a:xfrm>
          <a:prstGeom prst="rect">
            <a:avLst/>
          </a:prstGeom>
          <a:noFill/>
        </p:spPr>
        <p:txBody>
          <a:bodyPr wrap="square" lIns="0" tIns="0" rIns="0" bIns="0" anchor="t">
            <a:spAutoFit/>
          </a:bodyPr>
          <a:lstStyle/>
          <a:p>
            <a:pPr algn="r"/>
            <a:r>
              <a:rPr sz="800" b="0" i="0">
                <a:solidFill>
                  <a:srgbClr val="696969"/>
                </a:solidFill>
                <a:latin typeface="Arial"/>
              </a:rPr>
              <a:t>0</a:t>
            </a:r>
          </a:p>
        </p:txBody>
      </p:sp>
      <p:cxnSp>
        <p:nvCxnSpPr>
          <p:cNvPr id="9" name="Connector 8"/>
          <p:cNvCxnSpPr/>
          <p:nvPr/>
        </p:nvCxnSpPr>
        <p:spPr>
          <a:xfrm>
            <a:off x="1005840" y="3893058"/>
            <a:ext cx="745236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3801618"/>
            <a:ext cx="438912" cy="182880"/>
          </a:xfrm>
          <a:prstGeom prst="rect">
            <a:avLst/>
          </a:prstGeom>
          <a:noFill/>
        </p:spPr>
        <p:txBody>
          <a:bodyPr wrap="square" lIns="0" tIns="0" rIns="0" bIns="0" anchor="t">
            <a:spAutoFit/>
          </a:bodyPr>
          <a:lstStyle/>
          <a:p>
            <a:pPr algn="r"/>
            <a:r>
              <a:rPr sz="800" b="0" i="0">
                <a:solidFill>
                  <a:srgbClr val="696969"/>
                </a:solidFill>
                <a:latin typeface="Arial"/>
              </a:rPr>
              <a:t>20</a:t>
            </a:r>
          </a:p>
        </p:txBody>
      </p:sp>
      <p:cxnSp>
        <p:nvCxnSpPr>
          <p:cNvPr id="11" name="Connector 10"/>
          <p:cNvCxnSpPr/>
          <p:nvPr/>
        </p:nvCxnSpPr>
        <p:spPr>
          <a:xfrm>
            <a:off x="1005840" y="3031236"/>
            <a:ext cx="745236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2920" y="2939796"/>
            <a:ext cx="438912" cy="182880"/>
          </a:xfrm>
          <a:prstGeom prst="rect">
            <a:avLst/>
          </a:prstGeom>
          <a:noFill/>
        </p:spPr>
        <p:txBody>
          <a:bodyPr wrap="square" lIns="0" tIns="0" rIns="0" bIns="0" anchor="t">
            <a:spAutoFit/>
          </a:bodyPr>
          <a:lstStyle/>
          <a:p>
            <a:pPr algn="r"/>
            <a:r>
              <a:rPr sz="800" b="0" i="0">
                <a:solidFill>
                  <a:srgbClr val="696969"/>
                </a:solidFill>
                <a:latin typeface="Arial"/>
              </a:rPr>
              <a:t>40</a:t>
            </a:r>
          </a:p>
        </p:txBody>
      </p:sp>
      <p:cxnSp>
        <p:nvCxnSpPr>
          <p:cNvPr id="13" name="Connector 12"/>
          <p:cNvCxnSpPr/>
          <p:nvPr/>
        </p:nvCxnSpPr>
        <p:spPr>
          <a:xfrm>
            <a:off x="1005840" y="2169413"/>
            <a:ext cx="745236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2920" y="2077973"/>
            <a:ext cx="438912" cy="182880"/>
          </a:xfrm>
          <a:prstGeom prst="rect">
            <a:avLst/>
          </a:prstGeom>
          <a:noFill/>
        </p:spPr>
        <p:txBody>
          <a:bodyPr wrap="square" lIns="0" tIns="0" rIns="0" bIns="0" anchor="t">
            <a:spAutoFit/>
          </a:bodyPr>
          <a:lstStyle/>
          <a:p>
            <a:pPr algn="r"/>
            <a:r>
              <a:rPr sz="800" b="0" i="0">
                <a:solidFill>
                  <a:srgbClr val="696969"/>
                </a:solidFill>
                <a:latin typeface="Arial"/>
              </a:rPr>
              <a:t>60</a:t>
            </a:r>
          </a:p>
        </p:txBody>
      </p:sp>
      <p:cxnSp>
        <p:nvCxnSpPr>
          <p:cNvPr id="15" name="Connector 14"/>
          <p:cNvCxnSpPr/>
          <p:nvPr/>
        </p:nvCxnSpPr>
        <p:spPr>
          <a:xfrm>
            <a:off x="1005840" y="1307591"/>
            <a:ext cx="745236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2920" y="1216151"/>
            <a:ext cx="438912" cy="182880"/>
          </a:xfrm>
          <a:prstGeom prst="rect">
            <a:avLst/>
          </a:prstGeom>
          <a:noFill/>
        </p:spPr>
        <p:txBody>
          <a:bodyPr wrap="square" lIns="0" tIns="0" rIns="0" bIns="0" anchor="t">
            <a:spAutoFit/>
          </a:bodyPr>
          <a:lstStyle/>
          <a:p>
            <a:pPr algn="r"/>
            <a:r>
              <a:rPr sz="800" b="0" i="0">
                <a:solidFill>
                  <a:srgbClr val="696969"/>
                </a:solidFill>
                <a:latin typeface="Arial"/>
              </a:rPr>
              <a:t>80</a:t>
            </a:r>
          </a:p>
        </p:txBody>
      </p:sp>
      <p:sp>
        <p:nvSpPr>
          <p:cNvPr id="17" name="Rectangle 16"/>
          <p:cNvSpPr/>
          <p:nvPr/>
        </p:nvSpPr>
        <p:spPr>
          <a:xfrm>
            <a:off x="1630680" y="1816497"/>
            <a:ext cx="320954" cy="2938382"/>
          </a:xfrm>
          <a:prstGeom prst="rect">
            <a:avLst/>
          </a:prstGeom>
          <a:solidFill>
            <a:srgbClr val="A6A6A6"/>
          </a:solidFill>
          <a:ln>
            <a:solidFill>
              <a:srgbClr val="A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557528" y="1578753"/>
            <a:ext cx="557784" cy="219456"/>
          </a:xfrm>
          <a:prstGeom prst="rect">
            <a:avLst/>
          </a:prstGeom>
          <a:noFill/>
        </p:spPr>
        <p:txBody>
          <a:bodyPr wrap="square" lIns="0" tIns="0" rIns="0" bIns="0" anchor="t">
            <a:spAutoFit/>
          </a:bodyPr>
          <a:lstStyle/>
          <a:p>
            <a:pPr algn="ctr"/>
            <a:r>
              <a:rPr sz="850" b="0" i="0">
                <a:solidFill>
                  <a:srgbClr val="232323"/>
                </a:solidFill>
                <a:latin typeface="Arial"/>
              </a:rPr>
              <a:t>68.19</a:t>
            </a:r>
          </a:p>
        </p:txBody>
      </p:sp>
      <p:sp>
        <p:nvSpPr>
          <p:cNvPr id="19" name="Rectangle 18"/>
          <p:cNvSpPr/>
          <p:nvPr/>
        </p:nvSpPr>
        <p:spPr>
          <a:xfrm>
            <a:off x="2042160" y="1757032"/>
            <a:ext cx="320954" cy="2997847"/>
          </a:xfrm>
          <a:prstGeom prst="rect">
            <a:avLst/>
          </a:prstGeom>
          <a:solidFill>
            <a:srgbClr val="EBA300"/>
          </a:solidFill>
          <a:ln>
            <a:solidFill>
              <a:srgbClr val="EB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969008" y="1519288"/>
            <a:ext cx="557784" cy="219456"/>
          </a:xfrm>
          <a:prstGeom prst="rect">
            <a:avLst/>
          </a:prstGeom>
          <a:noFill/>
        </p:spPr>
        <p:txBody>
          <a:bodyPr wrap="square" lIns="0" tIns="0" rIns="0" bIns="0" anchor="t">
            <a:spAutoFit/>
          </a:bodyPr>
          <a:lstStyle/>
          <a:p>
            <a:pPr algn="ctr"/>
            <a:r>
              <a:rPr sz="850" b="0" i="0">
                <a:solidFill>
                  <a:srgbClr val="232323"/>
                </a:solidFill>
                <a:latin typeface="Arial"/>
              </a:rPr>
              <a:t>69.57</a:t>
            </a:r>
          </a:p>
        </p:txBody>
      </p:sp>
      <p:sp>
        <p:nvSpPr>
          <p:cNvPr id="21" name="Rectangle 20"/>
          <p:cNvSpPr/>
          <p:nvPr/>
        </p:nvSpPr>
        <p:spPr>
          <a:xfrm>
            <a:off x="2453640" y="1592855"/>
            <a:ext cx="320954" cy="3162024"/>
          </a:xfrm>
          <a:prstGeom prst="rect">
            <a:avLst/>
          </a:prstGeom>
          <a:solidFill>
            <a:srgbClr val="C5162B"/>
          </a:solidFill>
          <a:ln>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380488" y="1355111"/>
            <a:ext cx="557784" cy="219456"/>
          </a:xfrm>
          <a:prstGeom prst="rect">
            <a:avLst/>
          </a:prstGeom>
          <a:noFill/>
        </p:spPr>
        <p:txBody>
          <a:bodyPr wrap="square" lIns="0" tIns="0" rIns="0" bIns="0" anchor="t">
            <a:spAutoFit/>
          </a:bodyPr>
          <a:lstStyle/>
          <a:p>
            <a:pPr algn="ctr"/>
            <a:r>
              <a:rPr sz="850" b="1" i="0">
                <a:solidFill>
                  <a:srgbClr val="232323"/>
                </a:solidFill>
                <a:latin typeface="Arial"/>
              </a:rPr>
              <a:t>73.38</a:t>
            </a:r>
          </a:p>
        </p:txBody>
      </p:sp>
      <p:sp>
        <p:nvSpPr>
          <p:cNvPr id="23" name="TextBox 22"/>
          <p:cNvSpPr txBox="1"/>
          <p:nvPr/>
        </p:nvSpPr>
        <p:spPr>
          <a:xfrm>
            <a:off x="1005840" y="4828032"/>
            <a:ext cx="2484120" cy="292608"/>
          </a:xfrm>
          <a:prstGeom prst="rect">
            <a:avLst/>
          </a:prstGeom>
          <a:noFill/>
        </p:spPr>
        <p:txBody>
          <a:bodyPr wrap="square" lIns="0" tIns="0" rIns="0" bIns="0" anchor="t">
            <a:spAutoFit/>
          </a:bodyPr>
          <a:lstStyle/>
          <a:p>
            <a:pPr algn="ctr"/>
            <a:r>
              <a:rPr sz="1050" b="1" i="0">
                <a:solidFill>
                  <a:srgbClr val="232323"/>
                </a:solidFill>
                <a:latin typeface="Arial"/>
              </a:rPr>
              <a:t>CUHK</a:t>
            </a:r>
          </a:p>
        </p:txBody>
      </p:sp>
      <p:sp>
        <p:nvSpPr>
          <p:cNvPr id="24" name="Rectangle 23"/>
          <p:cNvSpPr/>
          <p:nvPr/>
        </p:nvSpPr>
        <p:spPr>
          <a:xfrm>
            <a:off x="4114800" y="2309890"/>
            <a:ext cx="320954" cy="2444989"/>
          </a:xfrm>
          <a:prstGeom prst="rect">
            <a:avLst/>
          </a:prstGeom>
          <a:solidFill>
            <a:srgbClr val="A6A6A6"/>
          </a:solidFill>
          <a:ln>
            <a:solidFill>
              <a:srgbClr val="A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041648" y="2072146"/>
            <a:ext cx="557784" cy="219456"/>
          </a:xfrm>
          <a:prstGeom prst="rect">
            <a:avLst/>
          </a:prstGeom>
          <a:noFill/>
        </p:spPr>
        <p:txBody>
          <a:bodyPr wrap="square" lIns="0" tIns="0" rIns="0" bIns="0" anchor="t">
            <a:spAutoFit/>
          </a:bodyPr>
          <a:lstStyle/>
          <a:p>
            <a:pPr algn="ctr"/>
            <a:r>
              <a:rPr sz="850" b="0" i="0">
                <a:solidFill>
                  <a:srgbClr val="232323"/>
                </a:solidFill>
                <a:latin typeface="Arial"/>
              </a:rPr>
              <a:t>56.74</a:t>
            </a:r>
          </a:p>
        </p:txBody>
      </p:sp>
      <p:sp>
        <p:nvSpPr>
          <p:cNvPr id="26" name="Rectangle 25"/>
          <p:cNvSpPr/>
          <p:nvPr/>
        </p:nvSpPr>
        <p:spPr>
          <a:xfrm>
            <a:off x="4526280" y="2133648"/>
            <a:ext cx="320954" cy="2621231"/>
          </a:xfrm>
          <a:prstGeom prst="rect">
            <a:avLst/>
          </a:prstGeom>
          <a:solidFill>
            <a:srgbClr val="EBA300"/>
          </a:solidFill>
          <a:ln>
            <a:solidFill>
              <a:srgbClr val="EB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53128" y="1895904"/>
            <a:ext cx="557784" cy="219456"/>
          </a:xfrm>
          <a:prstGeom prst="rect">
            <a:avLst/>
          </a:prstGeom>
          <a:noFill/>
        </p:spPr>
        <p:txBody>
          <a:bodyPr wrap="square" lIns="0" tIns="0" rIns="0" bIns="0" anchor="t">
            <a:spAutoFit/>
          </a:bodyPr>
          <a:lstStyle/>
          <a:p>
            <a:pPr algn="ctr"/>
            <a:r>
              <a:rPr sz="850" b="0" i="0">
                <a:solidFill>
                  <a:srgbClr val="232323"/>
                </a:solidFill>
                <a:latin typeface="Arial"/>
              </a:rPr>
              <a:t>60.83</a:t>
            </a:r>
          </a:p>
        </p:txBody>
      </p:sp>
      <p:sp>
        <p:nvSpPr>
          <p:cNvPr id="28" name="Rectangle 27"/>
          <p:cNvSpPr/>
          <p:nvPr/>
        </p:nvSpPr>
        <p:spPr>
          <a:xfrm>
            <a:off x="4937760" y="2020318"/>
            <a:ext cx="320954" cy="2734561"/>
          </a:xfrm>
          <a:prstGeom prst="rect">
            <a:avLst/>
          </a:prstGeom>
          <a:solidFill>
            <a:srgbClr val="C5162B"/>
          </a:solidFill>
          <a:ln>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864608" y="1782574"/>
            <a:ext cx="557784" cy="219456"/>
          </a:xfrm>
          <a:prstGeom prst="rect">
            <a:avLst/>
          </a:prstGeom>
          <a:noFill/>
        </p:spPr>
        <p:txBody>
          <a:bodyPr wrap="square" lIns="0" tIns="0" rIns="0" bIns="0" anchor="t">
            <a:spAutoFit/>
          </a:bodyPr>
          <a:lstStyle/>
          <a:p>
            <a:pPr algn="ctr"/>
            <a:r>
              <a:rPr sz="850" b="1" i="0">
                <a:solidFill>
                  <a:srgbClr val="232323"/>
                </a:solidFill>
                <a:latin typeface="Arial"/>
              </a:rPr>
              <a:t>63.46</a:t>
            </a:r>
          </a:p>
        </p:txBody>
      </p:sp>
      <p:sp>
        <p:nvSpPr>
          <p:cNvPr id="30" name="TextBox 29"/>
          <p:cNvSpPr txBox="1"/>
          <p:nvPr/>
        </p:nvSpPr>
        <p:spPr>
          <a:xfrm>
            <a:off x="3489960" y="4828032"/>
            <a:ext cx="2484120" cy="292608"/>
          </a:xfrm>
          <a:prstGeom prst="rect">
            <a:avLst/>
          </a:prstGeom>
          <a:noFill/>
        </p:spPr>
        <p:txBody>
          <a:bodyPr wrap="square" lIns="0" tIns="0" rIns="0" bIns="0" anchor="t">
            <a:spAutoFit/>
          </a:bodyPr>
          <a:lstStyle/>
          <a:p>
            <a:pPr algn="ctr"/>
            <a:r>
              <a:rPr sz="1050" b="1" i="0">
                <a:solidFill>
                  <a:srgbClr val="232323"/>
                </a:solidFill>
                <a:latin typeface="Arial"/>
              </a:rPr>
              <a:t>ICFG</a:t>
            </a:r>
          </a:p>
        </p:txBody>
      </p:sp>
      <p:sp>
        <p:nvSpPr>
          <p:cNvPr id="31" name="Rectangle 30"/>
          <p:cNvSpPr/>
          <p:nvPr/>
        </p:nvSpPr>
        <p:spPr>
          <a:xfrm>
            <a:off x="6598920" y="2425806"/>
            <a:ext cx="320954" cy="2329073"/>
          </a:xfrm>
          <a:prstGeom prst="rect">
            <a:avLst/>
          </a:prstGeom>
          <a:solidFill>
            <a:srgbClr val="A6A6A6"/>
          </a:solidFill>
          <a:ln>
            <a:solidFill>
              <a:srgbClr val="A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25768" y="2188062"/>
            <a:ext cx="557784" cy="219456"/>
          </a:xfrm>
          <a:prstGeom prst="rect">
            <a:avLst/>
          </a:prstGeom>
          <a:noFill/>
        </p:spPr>
        <p:txBody>
          <a:bodyPr wrap="square" lIns="0" tIns="0" rIns="0" bIns="0" anchor="t">
            <a:spAutoFit/>
          </a:bodyPr>
          <a:lstStyle/>
          <a:p>
            <a:pPr algn="ctr"/>
            <a:r>
              <a:rPr sz="850" b="0" i="0">
                <a:solidFill>
                  <a:srgbClr val="232323"/>
                </a:solidFill>
                <a:latin typeface="Arial"/>
              </a:rPr>
              <a:t>54.05</a:t>
            </a:r>
          </a:p>
        </p:txBody>
      </p:sp>
      <p:sp>
        <p:nvSpPr>
          <p:cNvPr id="33" name="Rectangle 32"/>
          <p:cNvSpPr/>
          <p:nvPr/>
        </p:nvSpPr>
        <p:spPr>
          <a:xfrm>
            <a:off x="7010400" y="2576624"/>
            <a:ext cx="320954" cy="2178255"/>
          </a:xfrm>
          <a:prstGeom prst="rect">
            <a:avLst/>
          </a:prstGeom>
          <a:solidFill>
            <a:srgbClr val="EBA300"/>
          </a:solidFill>
          <a:ln>
            <a:solidFill>
              <a:srgbClr val="EB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937248" y="2338880"/>
            <a:ext cx="557784" cy="219456"/>
          </a:xfrm>
          <a:prstGeom prst="rect">
            <a:avLst/>
          </a:prstGeom>
          <a:noFill/>
        </p:spPr>
        <p:txBody>
          <a:bodyPr wrap="square" lIns="0" tIns="0" rIns="0" bIns="0" anchor="t">
            <a:spAutoFit/>
          </a:bodyPr>
          <a:lstStyle/>
          <a:p>
            <a:pPr algn="ctr"/>
            <a:r>
              <a:rPr sz="850" b="0" i="0">
                <a:solidFill>
                  <a:srgbClr val="232323"/>
                </a:solidFill>
                <a:latin typeface="Arial"/>
              </a:rPr>
              <a:t>50.55</a:t>
            </a:r>
          </a:p>
        </p:txBody>
      </p:sp>
      <p:sp>
        <p:nvSpPr>
          <p:cNvPr id="35" name="Rectangle 34"/>
          <p:cNvSpPr/>
          <p:nvPr/>
        </p:nvSpPr>
        <p:spPr>
          <a:xfrm>
            <a:off x="7421880" y="2160795"/>
            <a:ext cx="320954" cy="2594084"/>
          </a:xfrm>
          <a:prstGeom prst="rect">
            <a:avLst/>
          </a:prstGeom>
          <a:solidFill>
            <a:srgbClr val="C5162B"/>
          </a:solidFill>
          <a:ln>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348728" y="1923051"/>
            <a:ext cx="557784" cy="219456"/>
          </a:xfrm>
          <a:prstGeom prst="rect">
            <a:avLst/>
          </a:prstGeom>
          <a:noFill/>
        </p:spPr>
        <p:txBody>
          <a:bodyPr wrap="square" lIns="0" tIns="0" rIns="0" bIns="0" anchor="t">
            <a:spAutoFit/>
          </a:bodyPr>
          <a:lstStyle/>
          <a:p>
            <a:pPr algn="ctr"/>
            <a:r>
              <a:rPr sz="850" b="1" i="0">
                <a:solidFill>
                  <a:srgbClr val="232323"/>
                </a:solidFill>
                <a:latin typeface="Arial"/>
              </a:rPr>
              <a:t>60.20</a:t>
            </a:r>
          </a:p>
        </p:txBody>
      </p:sp>
      <p:sp>
        <p:nvSpPr>
          <p:cNvPr id="37" name="TextBox 36"/>
          <p:cNvSpPr txBox="1"/>
          <p:nvPr/>
        </p:nvSpPr>
        <p:spPr>
          <a:xfrm>
            <a:off x="5974080" y="4828032"/>
            <a:ext cx="2484120" cy="292608"/>
          </a:xfrm>
          <a:prstGeom prst="rect">
            <a:avLst/>
          </a:prstGeom>
          <a:noFill/>
        </p:spPr>
        <p:txBody>
          <a:bodyPr wrap="square" lIns="0" tIns="0" rIns="0" bIns="0" anchor="t">
            <a:spAutoFit/>
          </a:bodyPr>
          <a:lstStyle/>
          <a:p>
            <a:pPr algn="ctr"/>
            <a:r>
              <a:rPr sz="1050" b="1" i="0">
                <a:solidFill>
                  <a:srgbClr val="232323"/>
                </a:solidFill>
                <a:latin typeface="Arial"/>
              </a:rPr>
              <a:t>RSTP</a:t>
            </a:r>
          </a:p>
        </p:txBody>
      </p:sp>
      <p:sp>
        <p:nvSpPr>
          <p:cNvPr id="38" name="Rectangle 37"/>
          <p:cNvSpPr/>
          <p:nvPr/>
        </p:nvSpPr>
        <p:spPr>
          <a:xfrm>
            <a:off x="1097280" y="923544"/>
            <a:ext cx="146304" cy="146304"/>
          </a:xfrm>
          <a:prstGeom prst="rect">
            <a:avLst/>
          </a:prstGeom>
          <a:solidFill>
            <a:srgbClr val="A6A6A6"/>
          </a:solidFill>
          <a:ln>
            <a:solidFill>
              <a:srgbClr val="A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289304" y="886968"/>
            <a:ext cx="1554480" cy="228600"/>
          </a:xfrm>
          <a:prstGeom prst="rect">
            <a:avLst/>
          </a:prstGeom>
          <a:noFill/>
        </p:spPr>
        <p:txBody>
          <a:bodyPr wrap="square" lIns="0" tIns="0" rIns="0" bIns="0" anchor="t">
            <a:spAutoFit/>
          </a:bodyPr>
          <a:lstStyle/>
          <a:p>
            <a:pPr algn="l"/>
            <a:r>
              <a:rPr sz="950" b="0" i="0">
                <a:solidFill>
                  <a:srgbClr val="434343"/>
                </a:solidFill>
                <a:latin typeface="Arial"/>
              </a:rPr>
              <a:t>CLIP baseline</a:t>
            </a:r>
          </a:p>
        </p:txBody>
      </p:sp>
      <p:sp>
        <p:nvSpPr>
          <p:cNvPr id="40" name="Rectangle 39"/>
          <p:cNvSpPr/>
          <p:nvPr/>
        </p:nvSpPr>
        <p:spPr>
          <a:xfrm>
            <a:off x="3535680" y="923544"/>
            <a:ext cx="146304" cy="146304"/>
          </a:xfrm>
          <a:prstGeom prst="rect">
            <a:avLst/>
          </a:prstGeom>
          <a:solidFill>
            <a:srgbClr val="EBA300"/>
          </a:solidFill>
          <a:ln>
            <a:solidFill>
              <a:srgbClr val="EB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727704" y="886968"/>
            <a:ext cx="1554480" cy="228600"/>
          </a:xfrm>
          <a:prstGeom prst="rect">
            <a:avLst/>
          </a:prstGeom>
          <a:noFill/>
        </p:spPr>
        <p:txBody>
          <a:bodyPr wrap="square" lIns="0" tIns="0" rIns="0" bIns="0" anchor="t">
            <a:spAutoFit/>
          </a:bodyPr>
          <a:lstStyle/>
          <a:p>
            <a:pPr algn="l"/>
            <a:r>
              <a:rPr sz="950" b="0" i="0">
                <a:solidFill>
                  <a:srgbClr val="434343"/>
                </a:solidFill>
                <a:latin typeface="Arial"/>
              </a:rPr>
              <a:t>CFine</a:t>
            </a:r>
          </a:p>
        </p:txBody>
      </p:sp>
      <p:sp>
        <p:nvSpPr>
          <p:cNvPr id="42" name="Rectangle 41"/>
          <p:cNvSpPr/>
          <p:nvPr/>
        </p:nvSpPr>
        <p:spPr>
          <a:xfrm>
            <a:off x="5974080" y="923544"/>
            <a:ext cx="146304" cy="146304"/>
          </a:xfrm>
          <a:prstGeom prst="rect">
            <a:avLst/>
          </a:prstGeom>
          <a:solidFill>
            <a:srgbClr val="C5162B"/>
          </a:solidFill>
          <a:ln>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166104" y="886968"/>
            <a:ext cx="1554480" cy="228600"/>
          </a:xfrm>
          <a:prstGeom prst="rect">
            <a:avLst/>
          </a:prstGeom>
          <a:noFill/>
        </p:spPr>
        <p:txBody>
          <a:bodyPr wrap="square" lIns="0" tIns="0" rIns="0" bIns="0" anchor="t">
            <a:spAutoFit/>
          </a:bodyPr>
          <a:lstStyle/>
          <a:p>
            <a:pPr algn="l"/>
            <a:r>
              <a:rPr sz="950" b="0" i="0">
                <a:solidFill>
                  <a:srgbClr val="434343"/>
                </a:solidFill>
                <a:latin typeface="Arial"/>
              </a:rPr>
              <a:t>IRRA</a:t>
            </a:r>
          </a:p>
        </p:txBody>
      </p:sp>
      <p:sp>
        <p:nvSpPr>
          <p:cNvPr id="44" name="Rounded Rectangle 43"/>
          <p:cNvSpPr/>
          <p:nvPr/>
        </p:nvSpPr>
        <p:spPr>
          <a:xfrm>
            <a:off x="1261872" y="5422392"/>
            <a:ext cx="1554480" cy="640080"/>
          </a:xfrm>
          <a:prstGeom prst="roundRect">
            <a:avLst/>
          </a:prstGeom>
          <a:solidFill>
            <a:srgbClr val="FDEBEB"/>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353312" y="5522976"/>
            <a:ext cx="658368" cy="256032"/>
          </a:xfrm>
          <a:prstGeom prst="rect">
            <a:avLst/>
          </a:prstGeom>
          <a:noFill/>
        </p:spPr>
        <p:txBody>
          <a:bodyPr wrap="square" lIns="0" tIns="0" rIns="0" bIns="0" anchor="t">
            <a:spAutoFit/>
          </a:bodyPr>
          <a:lstStyle/>
          <a:p>
            <a:pPr algn="ctr"/>
            <a:r>
              <a:rPr sz="1600" b="1" i="0">
                <a:solidFill>
                  <a:srgbClr val="C5162B"/>
                </a:solidFill>
                <a:latin typeface="Arial"/>
              </a:rPr>
              <a:t>+3.81</a:t>
            </a:r>
          </a:p>
        </p:txBody>
      </p:sp>
      <p:sp>
        <p:nvSpPr>
          <p:cNvPr id="46" name="TextBox 45"/>
          <p:cNvSpPr txBox="1"/>
          <p:nvPr/>
        </p:nvSpPr>
        <p:spPr>
          <a:xfrm>
            <a:off x="1975104" y="5559552"/>
            <a:ext cx="731520" cy="201168"/>
          </a:xfrm>
          <a:prstGeom prst="rect">
            <a:avLst/>
          </a:prstGeom>
          <a:noFill/>
        </p:spPr>
        <p:txBody>
          <a:bodyPr wrap="square" lIns="0" tIns="0" rIns="0" bIns="0" anchor="t">
            <a:spAutoFit/>
          </a:bodyPr>
          <a:lstStyle/>
          <a:p>
            <a:pPr algn="ctr"/>
            <a:r>
              <a:rPr sz="950" b="0" i="0">
                <a:solidFill>
                  <a:srgbClr val="434343"/>
                </a:solidFill>
                <a:latin typeface="Arial"/>
              </a:rPr>
              <a:t>vs. CFine</a:t>
            </a:r>
          </a:p>
        </p:txBody>
      </p:sp>
      <p:sp>
        <p:nvSpPr>
          <p:cNvPr id="47" name="Rounded Rectangle 46"/>
          <p:cNvSpPr/>
          <p:nvPr/>
        </p:nvSpPr>
        <p:spPr>
          <a:xfrm>
            <a:off x="3794760" y="5422392"/>
            <a:ext cx="1554480" cy="640080"/>
          </a:xfrm>
          <a:prstGeom prst="roundRect">
            <a:avLst/>
          </a:prstGeom>
          <a:solidFill>
            <a:srgbClr val="FDEBEB"/>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886200" y="5522976"/>
            <a:ext cx="658368" cy="256032"/>
          </a:xfrm>
          <a:prstGeom prst="rect">
            <a:avLst/>
          </a:prstGeom>
          <a:noFill/>
        </p:spPr>
        <p:txBody>
          <a:bodyPr wrap="square" lIns="0" tIns="0" rIns="0" bIns="0" anchor="t">
            <a:spAutoFit/>
          </a:bodyPr>
          <a:lstStyle/>
          <a:p>
            <a:pPr algn="ctr"/>
            <a:r>
              <a:rPr sz="1600" b="1" i="0">
                <a:solidFill>
                  <a:srgbClr val="C5162B"/>
                </a:solidFill>
                <a:latin typeface="Arial"/>
              </a:rPr>
              <a:t>+2.63</a:t>
            </a:r>
          </a:p>
        </p:txBody>
      </p:sp>
      <p:sp>
        <p:nvSpPr>
          <p:cNvPr id="49" name="TextBox 48"/>
          <p:cNvSpPr txBox="1"/>
          <p:nvPr/>
        </p:nvSpPr>
        <p:spPr>
          <a:xfrm>
            <a:off x="4507992" y="5559552"/>
            <a:ext cx="731520" cy="201168"/>
          </a:xfrm>
          <a:prstGeom prst="rect">
            <a:avLst/>
          </a:prstGeom>
          <a:noFill/>
        </p:spPr>
        <p:txBody>
          <a:bodyPr wrap="square" lIns="0" tIns="0" rIns="0" bIns="0" anchor="t">
            <a:spAutoFit/>
          </a:bodyPr>
          <a:lstStyle/>
          <a:p>
            <a:pPr algn="ctr"/>
            <a:r>
              <a:rPr sz="950" b="0" i="0">
                <a:solidFill>
                  <a:srgbClr val="434343"/>
                </a:solidFill>
                <a:latin typeface="Arial"/>
              </a:rPr>
              <a:t>vs. CFine</a:t>
            </a:r>
          </a:p>
        </p:txBody>
      </p:sp>
      <p:sp>
        <p:nvSpPr>
          <p:cNvPr id="50" name="Rounded Rectangle 49"/>
          <p:cNvSpPr/>
          <p:nvPr/>
        </p:nvSpPr>
        <p:spPr>
          <a:xfrm>
            <a:off x="6327648" y="5422392"/>
            <a:ext cx="1554480" cy="640080"/>
          </a:xfrm>
          <a:prstGeom prst="roundRect">
            <a:avLst/>
          </a:prstGeom>
          <a:solidFill>
            <a:srgbClr val="FDEBEB"/>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19088" y="5522976"/>
            <a:ext cx="658368" cy="256032"/>
          </a:xfrm>
          <a:prstGeom prst="rect">
            <a:avLst/>
          </a:prstGeom>
          <a:noFill/>
        </p:spPr>
        <p:txBody>
          <a:bodyPr wrap="square" lIns="0" tIns="0" rIns="0" bIns="0" anchor="t">
            <a:spAutoFit/>
          </a:bodyPr>
          <a:lstStyle/>
          <a:p>
            <a:pPr algn="ctr"/>
            <a:r>
              <a:rPr sz="1600" b="1" i="0">
                <a:solidFill>
                  <a:srgbClr val="C5162B"/>
                </a:solidFill>
                <a:latin typeface="Arial"/>
              </a:rPr>
              <a:t>+9.65</a:t>
            </a:r>
          </a:p>
        </p:txBody>
      </p:sp>
      <p:sp>
        <p:nvSpPr>
          <p:cNvPr id="52" name="TextBox 51"/>
          <p:cNvSpPr txBox="1"/>
          <p:nvPr/>
        </p:nvSpPr>
        <p:spPr>
          <a:xfrm>
            <a:off x="7040880" y="5559552"/>
            <a:ext cx="731520" cy="201168"/>
          </a:xfrm>
          <a:prstGeom prst="rect">
            <a:avLst/>
          </a:prstGeom>
          <a:noFill/>
        </p:spPr>
        <p:txBody>
          <a:bodyPr wrap="square" lIns="0" tIns="0" rIns="0" bIns="0" anchor="t">
            <a:spAutoFit/>
          </a:bodyPr>
          <a:lstStyle/>
          <a:p>
            <a:pPr algn="ctr"/>
            <a:r>
              <a:rPr sz="950" b="0" i="0">
                <a:solidFill>
                  <a:srgbClr val="434343"/>
                </a:solidFill>
                <a:latin typeface="Arial"/>
              </a:rPr>
              <a:t>vs. CFine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300" b="1" i="0">
                <a:solidFill>
                  <a:srgbClr val="FFFFFF"/>
                </a:solidFill>
                <a:latin typeface="Arial"/>
              </a:rPr>
              <a:t>III. Results — Ablation: IRR and SDM</a:t>
            </a:r>
          </a:p>
        </p:txBody>
      </p:sp>
      <p:sp>
        <p:nvSpPr>
          <p:cNvPr id="3" name="TextBox 2"/>
          <p:cNvSpPr txBox="1"/>
          <p:nvPr/>
        </p:nvSpPr>
        <p:spPr>
          <a:xfrm>
            <a:off x="658368" y="6236208"/>
            <a:ext cx="7726679" cy="182880"/>
          </a:xfrm>
          <a:prstGeom prst="rect">
            <a:avLst/>
          </a:prstGeom>
          <a:noFill/>
        </p:spPr>
        <p:txBody>
          <a:bodyPr wrap="square" lIns="0" tIns="0" rIns="0" bIns="0" anchor="t">
            <a:spAutoFit/>
          </a:bodyPr>
          <a:lstStyle/>
          <a:p>
            <a:pPr algn="l"/>
            <a:r>
              <a:rPr sz="750" b="0" i="1">
                <a:solidFill>
                  <a:srgbClr val="696969"/>
                </a:solidFill>
                <a:latin typeface="Arial"/>
              </a:rPr>
              <a:t>Data: Jiang &amp; Ye, CVPR 2023, Table 4</a:t>
            </a:r>
          </a:p>
        </p:txBody>
      </p:sp>
      <p:sp>
        <p:nvSpPr>
          <p:cNvPr id="4" name="TextBox 3"/>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22</a:t>
            </a:r>
          </a:p>
        </p:txBody>
      </p:sp>
      <p:cxnSp>
        <p:nvCxnSpPr>
          <p:cNvPr id="5" name="Connector 4"/>
          <p:cNvCxnSpPr/>
          <p:nvPr/>
        </p:nvCxnSpPr>
        <p:spPr>
          <a:xfrm>
            <a:off x="1005840" y="1307592"/>
            <a:ext cx="0" cy="3840480"/>
          </a:xfrm>
          <a:prstGeom prst="line">
            <a:avLst/>
          </a:prstGeom>
          <a:ln w="12700">
            <a:solidFill>
              <a:srgbClr val="69696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05840" y="5148072"/>
            <a:ext cx="5074920" cy="0"/>
          </a:xfrm>
          <a:prstGeom prst="line">
            <a:avLst/>
          </a:prstGeom>
          <a:ln w="12700">
            <a:solidFill>
              <a:srgbClr val="69696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05840" y="5148072"/>
            <a:ext cx="507492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5056632"/>
            <a:ext cx="438912" cy="182880"/>
          </a:xfrm>
          <a:prstGeom prst="rect">
            <a:avLst/>
          </a:prstGeom>
          <a:noFill/>
        </p:spPr>
        <p:txBody>
          <a:bodyPr wrap="square" lIns="0" tIns="0" rIns="0" bIns="0" anchor="t">
            <a:spAutoFit/>
          </a:bodyPr>
          <a:lstStyle/>
          <a:p>
            <a:pPr algn="r"/>
            <a:r>
              <a:rPr sz="800" b="0" i="0">
                <a:solidFill>
                  <a:srgbClr val="696969"/>
                </a:solidFill>
                <a:latin typeface="Arial"/>
              </a:rPr>
              <a:t>0</a:t>
            </a:r>
          </a:p>
        </p:txBody>
      </p:sp>
      <p:cxnSp>
        <p:nvCxnSpPr>
          <p:cNvPr id="9" name="Connector 8"/>
          <p:cNvCxnSpPr/>
          <p:nvPr/>
        </p:nvCxnSpPr>
        <p:spPr>
          <a:xfrm>
            <a:off x="1005840" y="4187952"/>
            <a:ext cx="507492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4096512"/>
            <a:ext cx="438912" cy="182880"/>
          </a:xfrm>
          <a:prstGeom prst="rect">
            <a:avLst/>
          </a:prstGeom>
          <a:noFill/>
        </p:spPr>
        <p:txBody>
          <a:bodyPr wrap="square" lIns="0" tIns="0" rIns="0" bIns="0" anchor="t">
            <a:spAutoFit/>
          </a:bodyPr>
          <a:lstStyle/>
          <a:p>
            <a:pPr algn="r"/>
            <a:r>
              <a:rPr sz="800" b="0" i="0">
                <a:solidFill>
                  <a:srgbClr val="696969"/>
                </a:solidFill>
                <a:latin typeface="Arial"/>
              </a:rPr>
              <a:t>2</a:t>
            </a:r>
          </a:p>
        </p:txBody>
      </p:sp>
      <p:cxnSp>
        <p:nvCxnSpPr>
          <p:cNvPr id="11" name="Connector 10"/>
          <p:cNvCxnSpPr/>
          <p:nvPr/>
        </p:nvCxnSpPr>
        <p:spPr>
          <a:xfrm>
            <a:off x="1005840" y="3227832"/>
            <a:ext cx="507492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2920" y="3136391"/>
            <a:ext cx="438912" cy="182880"/>
          </a:xfrm>
          <a:prstGeom prst="rect">
            <a:avLst/>
          </a:prstGeom>
          <a:noFill/>
        </p:spPr>
        <p:txBody>
          <a:bodyPr wrap="square" lIns="0" tIns="0" rIns="0" bIns="0" anchor="t">
            <a:spAutoFit/>
          </a:bodyPr>
          <a:lstStyle/>
          <a:p>
            <a:pPr algn="r"/>
            <a:r>
              <a:rPr sz="800" b="0" i="0">
                <a:solidFill>
                  <a:srgbClr val="696969"/>
                </a:solidFill>
                <a:latin typeface="Arial"/>
              </a:rPr>
              <a:t>4</a:t>
            </a:r>
          </a:p>
        </p:txBody>
      </p:sp>
      <p:cxnSp>
        <p:nvCxnSpPr>
          <p:cNvPr id="13" name="Connector 12"/>
          <p:cNvCxnSpPr/>
          <p:nvPr/>
        </p:nvCxnSpPr>
        <p:spPr>
          <a:xfrm>
            <a:off x="1005840" y="2267711"/>
            <a:ext cx="507492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2920" y="2176271"/>
            <a:ext cx="438912" cy="182880"/>
          </a:xfrm>
          <a:prstGeom prst="rect">
            <a:avLst/>
          </a:prstGeom>
          <a:noFill/>
        </p:spPr>
        <p:txBody>
          <a:bodyPr wrap="square" lIns="0" tIns="0" rIns="0" bIns="0" anchor="t">
            <a:spAutoFit/>
          </a:bodyPr>
          <a:lstStyle/>
          <a:p>
            <a:pPr algn="r"/>
            <a:r>
              <a:rPr sz="800" b="0" i="0">
                <a:solidFill>
                  <a:srgbClr val="696969"/>
                </a:solidFill>
                <a:latin typeface="Arial"/>
              </a:rPr>
              <a:t>5</a:t>
            </a:r>
          </a:p>
        </p:txBody>
      </p:sp>
      <p:cxnSp>
        <p:nvCxnSpPr>
          <p:cNvPr id="15" name="Connector 14"/>
          <p:cNvCxnSpPr/>
          <p:nvPr/>
        </p:nvCxnSpPr>
        <p:spPr>
          <a:xfrm>
            <a:off x="1005840" y="1307591"/>
            <a:ext cx="507492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2920" y="1216151"/>
            <a:ext cx="438912" cy="182880"/>
          </a:xfrm>
          <a:prstGeom prst="rect">
            <a:avLst/>
          </a:prstGeom>
          <a:noFill/>
        </p:spPr>
        <p:txBody>
          <a:bodyPr wrap="square" lIns="0" tIns="0" rIns="0" bIns="0" anchor="t">
            <a:spAutoFit/>
          </a:bodyPr>
          <a:lstStyle/>
          <a:p>
            <a:pPr algn="r"/>
            <a:r>
              <a:rPr sz="800" b="0" i="0">
                <a:solidFill>
                  <a:srgbClr val="696969"/>
                </a:solidFill>
                <a:latin typeface="Arial"/>
              </a:rPr>
              <a:t>7</a:t>
            </a:r>
          </a:p>
        </p:txBody>
      </p:sp>
      <p:sp>
        <p:nvSpPr>
          <p:cNvPr id="17" name="Rectangle 16"/>
          <p:cNvSpPr/>
          <p:nvPr/>
        </p:nvSpPr>
        <p:spPr>
          <a:xfrm>
            <a:off x="1234439" y="3924604"/>
            <a:ext cx="320954" cy="1223467"/>
          </a:xfrm>
          <a:prstGeom prst="rect">
            <a:avLst/>
          </a:prstGeom>
          <a:solidFill>
            <a:srgbClr val="A6A6A6"/>
          </a:solidFill>
          <a:ln>
            <a:solidFill>
              <a:srgbClr val="A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61287" y="3686860"/>
            <a:ext cx="557784" cy="219456"/>
          </a:xfrm>
          <a:prstGeom prst="rect">
            <a:avLst/>
          </a:prstGeom>
          <a:noFill/>
        </p:spPr>
        <p:txBody>
          <a:bodyPr wrap="square" lIns="0" tIns="0" rIns="0" bIns="0" anchor="t">
            <a:spAutoFit/>
          </a:bodyPr>
          <a:lstStyle/>
          <a:p>
            <a:pPr algn="ctr"/>
            <a:r>
              <a:rPr sz="850" b="0" i="0">
                <a:solidFill>
                  <a:srgbClr val="232323"/>
                </a:solidFill>
                <a:latin typeface="Arial"/>
              </a:rPr>
              <a:t>2.23</a:t>
            </a:r>
          </a:p>
        </p:txBody>
      </p:sp>
      <p:sp>
        <p:nvSpPr>
          <p:cNvPr id="19" name="Rectangle 18"/>
          <p:cNvSpPr/>
          <p:nvPr/>
        </p:nvSpPr>
        <p:spPr>
          <a:xfrm>
            <a:off x="1645919" y="3480206"/>
            <a:ext cx="320954" cy="1667865"/>
          </a:xfrm>
          <a:prstGeom prst="rect">
            <a:avLst/>
          </a:prstGeom>
          <a:solidFill>
            <a:srgbClr val="EBA300"/>
          </a:solidFill>
          <a:ln>
            <a:solidFill>
              <a:srgbClr val="EB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572767" y="3242462"/>
            <a:ext cx="557784" cy="219456"/>
          </a:xfrm>
          <a:prstGeom prst="rect">
            <a:avLst/>
          </a:prstGeom>
          <a:noFill/>
        </p:spPr>
        <p:txBody>
          <a:bodyPr wrap="square" lIns="0" tIns="0" rIns="0" bIns="0" anchor="t">
            <a:spAutoFit/>
          </a:bodyPr>
          <a:lstStyle/>
          <a:p>
            <a:pPr algn="ctr"/>
            <a:r>
              <a:rPr sz="850" b="0" i="0">
                <a:solidFill>
                  <a:srgbClr val="232323"/>
                </a:solidFill>
                <a:latin typeface="Arial"/>
              </a:rPr>
              <a:t>3.04</a:t>
            </a:r>
          </a:p>
        </p:txBody>
      </p:sp>
      <p:sp>
        <p:nvSpPr>
          <p:cNvPr id="21" name="Rectangle 20"/>
          <p:cNvSpPr/>
          <p:nvPr/>
        </p:nvSpPr>
        <p:spPr>
          <a:xfrm>
            <a:off x="2057400" y="2300630"/>
            <a:ext cx="320954" cy="2847441"/>
          </a:xfrm>
          <a:prstGeom prst="rect">
            <a:avLst/>
          </a:prstGeom>
          <a:solidFill>
            <a:srgbClr val="C5162B"/>
          </a:solidFill>
          <a:ln>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984248" y="2062886"/>
            <a:ext cx="557784" cy="219456"/>
          </a:xfrm>
          <a:prstGeom prst="rect">
            <a:avLst/>
          </a:prstGeom>
          <a:noFill/>
        </p:spPr>
        <p:txBody>
          <a:bodyPr wrap="square" lIns="0" tIns="0" rIns="0" bIns="0" anchor="t">
            <a:spAutoFit/>
          </a:bodyPr>
          <a:lstStyle/>
          <a:p>
            <a:pPr algn="ctr"/>
            <a:r>
              <a:rPr sz="850" b="1" i="0">
                <a:solidFill>
                  <a:srgbClr val="232323"/>
                </a:solidFill>
                <a:latin typeface="Arial"/>
              </a:rPr>
              <a:t>5.19</a:t>
            </a:r>
          </a:p>
        </p:txBody>
      </p:sp>
      <p:sp>
        <p:nvSpPr>
          <p:cNvPr id="23" name="TextBox 22"/>
          <p:cNvSpPr txBox="1"/>
          <p:nvPr/>
        </p:nvSpPr>
        <p:spPr>
          <a:xfrm>
            <a:off x="1005840" y="5221224"/>
            <a:ext cx="1691639" cy="292608"/>
          </a:xfrm>
          <a:prstGeom prst="rect">
            <a:avLst/>
          </a:prstGeom>
          <a:noFill/>
        </p:spPr>
        <p:txBody>
          <a:bodyPr wrap="square" lIns="0" tIns="0" rIns="0" bIns="0" anchor="t">
            <a:spAutoFit/>
          </a:bodyPr>
          <a:lstStyle/>
          <a:p>
            <a:pPr algn="ctr"/>
            <a:r>
              <a:rPr sz="1050" b="1" i="0">
                <a:solidFill>
                  <a:srgbClr val="232323"/>
                </a:solidFill>
                <a:latin typeface="Arial"/>
              </a:rPr>
              <a:t>CUHK</a:t>
            </a:r>
          </a:p>
        </p:txBody>
      </p:sp>
      <p:sp>
        <p:nvSpPr>
          <p:cNvPr id="24" name="Rectangle 23"/>
          <p:cNvSpPr/>
          <p:nvPr/>
        </p:nvSpPr>
        <p:spPr>
          <a:xfrm>
            <a:off x="2926080" y="3112617"/>
            <a:ext cx="320954" cy="2035454"/>
          </a:xfrm>
          <a:prstGeom prst="rect">
            <a:avLst/>
          </a:prstGeom>
          <a:solidFill>
            <a:srgbClr val="A6A6A6"/>
          </a:solidFill>
          <a:ln>
            <a:solidFill>
              <a:srgbClr val="A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852928" y="2874873"/>
            <a:ext cx="557784" cy="219456"/>
          </a:xfrm>
          <a:prstGeom prst="rect">
            <a:avLst/>
          </a:prstGeom>
          <a:noFill/>
        </p:spPr>
        <p:txBody>
          <a:bodyPr wrap="square" lIns="0" tIns="0" rIns="0" bIns="0" anchor="t">
            <a:spAutoFit/>
          </a:bodyPr>
          <a:lstStyle/>
          <a:p>
            <a:pPr algn="ctr"/>
            <a:r>
              <a:rPr sz="850" b="0" i="0">
                <a:solidFill>
                  <a:srgbClr val="232323"/>
                </a:solidFill>
                <a:latin typeface="Arial"/>
              </a:rPr>
              <a:t>3.71</a:t>
            </a:r>
          </a:p>
        </p:txBody>
      </p:sp>
      <p:sp>
        <p:nvSpPr>
          <p:cNvPr id="26" name="Rectangle 25"/>
          <p:cNvSpPr/>
          <p:nvPr/>
        </p:nvSpPr>
        <p:spPr>
          <a:xfrm>
            <a:off x="3337560" y="2832811"/>
            <a:ext cx="320954" cy="2315260"/>
          </a:xfrm>
          <a:prstGeom prst="rect">
            <a:avLst/>
          </a:prstGeom>
          <a:solidFill>
            <a:srgbClr val="EBA300"/>
          </a:solidFill>
          <a:ln>
            <a:solidFill>
              <a:srgbClr val="EB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64408" y="2595067"/>
            <a:ext cx="557784" cy="219456"/>
          </a:xfrm>
          <a:prstGeom prst="rect">
            <a:avLst/>
          </a:prstGeom>
          <a:noFill/>
        </p:spPr>
        <p:txBody>
          <a:bodyPr wrap="square" lIns="0" tIns="0" rIns="0" bIns="0" anchor="t">
            <a:spAutoFit/>
          </a:bodyPr>
          <a:lstStyle/>
          <a:p>
            <a:pPr algn="ctr"/>
            <a:r>
              <a:rPr sz="850" b="0" i="0">
                <a:solidFill>
                  <a:srgbClr val="232323"/>
                </a:solidFill>
                <a:latin typeface="Arial"/>
              </a:rPr>
              <a:t>4.22</a:t>
            </a:r>
          </a:p>
        </p:txBody>
      </p:sp>
      <p:sp>
        <p:nvSpPr>
          <p:cNvPr id="28" name="Rectangle 27"/>
          <p:cNvSpPr/>
          <p:nvPr/>
        </p:nvSpPr>
        <p:spPr>
          <a:xfrm>
            <a:off x="3749040" y="1461211"/>
            <a:ext cx="320954" cy="3686860"/>
          </a:xfrm>
          <a:prstGeom prst="rect">
            <a:avLst/>
          </a:prstGeom>
          <a:solidFill>
            <a:srgbClr val="C5162B"/>
          </a:solidFill>
          <a:ln>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675888" y="1223467"/>
            <a:ext cx="557784" cy="219456"/>
          </a:xfrm>
          <a:prstGeom prst="rect">
            <a:avLst/>
          </a:prstGeom>
          <a:noFill/>
        </p:spPr>
        <p:txBody>
          <a:bodyPr wrap="square" lIns="0" tIns="0" rIns="0" bIns="0" anchor="t">
            <a:spAutoFit/>
          </a:bodyPr>
          <a:lstStyle/>
          <a:p>
            <a:pPr algn="ctr"/>
            <a:r>
              <a:rPr sz="850" b="1" i="0">
                <a:solidFill>
                  <a:srgbClr val="232323"/>
                </a:solidFill>
                <a:latin typeface="Arial"/>
              </a:rPr>
              <a:t>6.72</a:t>
            </a:r>
          </a:p>
        </p:txBody>
      </p:sp>
      <p:sp>
        <p:nvSpPr>
          <p:cNvPr id="30" name="TextBox 29"/>
          <p:cNvSpPr txBox="1"/>
          <p:nvPr/>
        </p:nvSpPr>
        <p:spPr>
          <a:xfrm>
            <a:off x="2697480" y="5221224"/>
            <a:ext cx="1691639" cy="292608"/>
          </a:xfrm>
          <a:prstGeom prst="rect">
            <a:avLst/>
          </a:prstGeom>
          <a:noFill/>
        </p:spPr>
        <p:txBody>
          <a:bodyPr wrap="square" lIns="0" tIns="0" rIns="0" bIns="0" anchor="t">
            <a:spAutoFit/>
          </a:bodyPr>
          <a:lstStyle/>
          <a:p>
            <a:pPr algn="ctr"/>
            <a:r>
              <a:rPr sz="1050" b="1" i="0">
                <a:solidFill>
                  <a:srgbClr val="232323"/>
                </a:solidFill>
                <a:latin typeface="Arial"/>
              </a:rPr>
              <a:t>ICFG</a:t>
            </a:r>
          </a:p>
        </p:txBody>
      </p:sp>
      <p:sp>
        <p:nvSpPr>
          <p:cNvPr id="31" name="Rectangle 30"/>
          <p:cNvSpPr/>
          <p:nvPr/>
        </p:nvSpPr>
        <p:spPr>
          <a:xfrm>
            <a:off x="4617720" y="3419856"/>
            <a:ext cx="320954" cy="1728216"/>
          </a:xfrm>
          <a:prstGeom prst="rect">
            <a:avLst/>
          </a:prstGeom>
          <a:solidFill>
            <a:srgbClr val="A6A6A6"/>
          </a:solidFill>
          <a:ln>
            <a:solidFill>
              <a:srgbClr val="A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44568" y="3182111"/>
            <a:ext cx="557784" cy="219456"/>
          </a:xfrm>
          <a:prstGeom prst="rect">
            <a:avLst/>
          </a:prstGeom>
          <a:noFill/>
        </p:spPr>
        <p:txBody>
          <a:bodyPr wrap="square" lIns="0" tIns="0" rIns="0" bIns="0" anchor="t">
            <a:spAutoFit/>
          </a:bodyPr>
          <a:lstStyle/>
          <a:p>
            <a:pPr algn="ctr"/>
            <a:r>
              <a:rPr sz="850" b="0" i="0">
                <a:solidFill>
                  <a:srgbClr val="232323"/>
                </a:solidFill>
                <a:latin typeface="Arial"/>
              </a:rPr>
              <a:t>3.15</a:t>
            </a:r>
          </a:p>
        </p:txBody>
      </p:sp>
      <p:sp>
        <p:nvSpPr>
          <p:cNvPr id="33" name="Rectangle 32"/>
          <p:cNvSpPr/>
          <p:nvPr/>
        </p:nvSpPr>
        <p:spPr>
          <a:xfrm>
            <a:off x="5029200" y="3035808"/>
            <a:ext cx="320954" cy="2112264"/>
          </a:xfrm>
          <a:prstGeom prst="rect">
            <a:avLst/>
          </a:prstGeom>
          <a:solidFill>
            <a:srgbClr val="EBA300"/>
          </a:solidFill>
          <a:ln>
            <a:solidFill>
              <a:srgbClr val="EB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956048" y="2798063"/>
            <a:ext cx="557784" cy="219456"/>
          </a:xfrm>
          <a:prstGeom prst="rect">
            <a:avLst/>
          </a:prstGeom>
          <a:noFill/>
        </p:spPr>
        <p:txBody>
          <a:bodyPr wrap="square" lIns="0" tIns="0" rIns="0" bIns="0" anchor="t">
            <a:spAutoFit/>
          </a:bodyPr>
          <a:lstStyle/>
          <a:p>
            <a:pPr algn="ctr"/>
            <a:r>
              <a:rPr sz="850" b="0" i="0">
                <a:solidFill>
                  <a:srgbClr val="232323"/>
                </a:solidFill>
                <a:latin typeface="Arial"/>
              </a:rPr>
              <a:t>3.85</a:t>
            </a:r>
          </a:p>
        </p:txBody>
      </p:sp>
      <p:sp>
        <p:nvSpPr>
          <p:cNvPr id="35" name="Rectangle 34"/>
          <p:cNvSpPr/>
          <p:nvPr/>
        </p:nvSpPr>
        <p:spPr>
          <a:xfrm>
            <a:off x="5440680" y="1773935"/>
            <a:ext cx="320954" cy="3374136"/>
          </a:xfrm>
          <a:prstGeom prst="rect">
            <a:avLst/>
          </a:prstGeom>
          <a:solidFill>
            <a:srgbClr val="C5162B"/>
          </a:solidFill>
          <a:ln>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367528" y="1536191"/>
            <a:ext cx="557784" cy="219456"/>
          </a:xfrm>
          <a:prstGeom prst="rect">
            <a:avLst/>
          </a:prstGeom>
          <a:noFill/>
        </p:spPr>
        <p:txBody>
          <a:bodyPr wrap="square" lIns="0" tIns="0" rIns="0" bIns="0" anchor="t">
            <a:spAutoFit/>
          </a:bodyPr>
          <a:lstStyle/>
          <a:p>
            <a:pPr algn="ctr"/>
            <a:r>
              <a:rPr sz="850" b="1" i="0">
                <a:solidFill>
                  <a:srgbClr val="232323"/>
                </a:solidFill>
                <a:latin typeface="Arial"/>
              </a:rPr>
              <a:t>6.15</a:t>
            </a:r>
          </a:p>
        </p:txBody>
      </p:sp>
      <p:sp>
        <p:nvSpPr>
          <p:cNvPr id="37" name="TextBox 36"/>
          <p:cNvSpPr txBox="1"/>
          <p:nvPr/>
        </p:nvSpPr>
        <p:spPr>
          <a:xfrm>
            <a:off x="4389120" y="5221224"/>
            <a:ext cx="1691639" cy="292608"/>
          </a:xfrm>
          <a:prstGeom prst="rect">
            <a:avLst/>
          </a:prstGeom>
          <a:noFill/>
        </p:spPr>
        <p:txBody>
          <a:bodyPr wrap="square" lIns="0" tIns="0" rIns="0" bIns="0" anchor="t">
            <a:spAutoFit/>
          </a:bodyPr>
          <a:lstStyle/>
          <a:p>
            <a:pPr algn="ctr"/>
            <a:r>
              <a:rPr sz="1050" b="1" i="0">
                <a:solidFill>
                  <a:srgbClr val="232323"/>
                </a:solidFill>
                <a:latin typeface="Arial"/>
              </a:rPr>
              <a:t>RSTP</a:t>
            </a:r>
          </a:p>
        </p:txBody>
      </p:sp>
      <p:sp>
        <p:nvSpPr>
          <p:cNvPr id="38" name="Rectangle 37"/>
          <p:cNvSpPr/>
          <p:nvPr/>
        </p:nvSpPr>
        <p:spPr>
          <a:xfrm>
            <a:off x="1097280" y="923544"/>
            <a:ext cx="146304" cy="146304"/>
          </a:xfrm>
          <a:prstGeom prst="rect">
            <a:avLst/>
          </a:prstGeom>
          <a:solidFill>
            <a:srgbClr val="A6A6A6"/>
          </a:solidFill>
          <a:ln>
            <a:solidFill>
              <a:srgbClr val="A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289304" y="886968"/>
            <a:ext cx="1554480" cy="228600"/>
          </a:xfrm>
          <a:prstGeom prst="rect">
            <a:avLst/>
          </a:prstGeom>
          <a:noFill/>
        </p:spPr>
        <p:txBody>
          <a:bodyPr wrap="square" lIns="0" tIns="0" rIns="0" bIns="0" anchor="t">
            <a:spAutoFit/>
          </a:bodyPr>
          <a:lstStyle/>
          <a:p>
            <a:pPr algn="l"/>
            <a:r>
              <a:rPr sz="950" b="0" i="0">
                <a:solidFill>
                  <a:srgbClr val="434343"/>
                </a:solidFill>
                <a:latin typeface="Arial"/>
              </a:rPr>
              <a:t>+ SDM</a:t>
            </a:r>
          </a:p>
        </p:txBody>
      </p:sp>
      <p:sp>
        <p:nvSpPr>
          <p:cNvPr id="40" name="Rectangle 39"/>
          <p:cNvSpPr/>
          <p:nvPr/>
        </p:nvSpPr>
        <p:spPr>
          <a:xfrm>
            <a:off x="2743200" y="923544"/>
            <a:ext cx="146304" cy="146304"/>
          </a:xfrm>
          <a:prstGeom prst="rect">
            <a:avLst/>
          </a:prstGeom>
          <a:solidFill>
            <a:srgbClr val="EBA300"/>
          </a:solidFill>
          <a:ln>
            <a:solidFill>
              <a:srgbClr val="EB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935224" y="886968"/>
            <a:ext cx="1554480" cy="228600"/>
          </a:xfrm>
          <a:prstGeom prst="rect">
            <a:avLst/>
          </a:prstGeom>
          <a:noFill/>
        </p:spPr>
        <p:txBody>
          <a:bodyPr wrap="square" lIns="0" tIns="0" rIns="0" bIns="0" anchor="t">
            <a:spAutoFit/>
          </a:bodyPr>
          <a:lstStyle/>
          <a:p>
            <a:pPr algn="l"/>
            <a:r>
              <a:rPr sz="950" b="0" i="0">
                <a:solidFill>
                  <a:srgbClr val="434343"/>
                </a:solidFill>
                <a:latin typeface="Arial"/>
              </a:rPr>
              <a:t>+ IRR</a:t>
            </a:r>
          </a:p>
        </p:txBody>
      </p:sp>
      <p:sp>
        <p:nvSpPr>
          <p:cNvPr id="42" name="Rectangle 41"/>
          <p:cNvSpPr/>
          <p:nvPr/>
        </p:nvSpPr>
        <p:spPr>
          <a:xfrm>
            <a:off x="4389120" y="923544"/>
            <a:ext cx="146304" cy="146304"/>
          </a:xfrm>
          <a:prstGeom prst="rect">
            <a:avLst/>
          </a:prstGeom>
          <a:solidFill>
            <a:srgbClr val="C5162B"/>
          </a:solidFill>
          <a:ln>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581144" y="886968"/>
            <a:ext cx="1554480" cy="228600"/>
          </a:xfrm>
          <a:prstGeom prst="rect">
            <a:avLst/>
          </a:prstGeom>
          <a:noFill/>
        </p:spPr>
        <p:txBody>
          <a:bodyPr wrap="square" lIns="0" tIns="0" rIns="0" bIns="0" anchor="t">
            <a:spAutoFit/>
          </a:bodyPr>
          <a:lstStyle/>
          <a:p>
            <a:pPr algn="l"/>
            <a:r>
              <a:rPr sz="950" b="0" i="0">
                <a:solidFill>
                  <a:srgbClr val="434343"/>
                </a:solidFill>
                <a:latin typeface="Arial"/>
              </a:rPr>
              <a:t>Full IRRA</a:t>
            </a:r>
          </a:p>
        </p:txBody>
      </p:sp>
      <p:sp>
        <p:nvSpPr>
          <p:cNvPr id="44" name="Rounded Rectangle 43"/>
          <p:cNvSpPr/>
          <p:nvPr/>
        </p:nvSpPr>
        <p:spPr>
          <a:xfrm>
            <a:off x="6419088" y="932688"/>
            <a:ext cx="2212848" cy="4846320"/>
          </a:xfrm>
          <a:prstGeom prst="roundRect">
            <a:avLst/>
          </a:prstGeom>
          <a:solidFill>
            <a:srgbClr val="F3F4F6"/>
          </a:solidFill>
          <a:ln w="12700">
            <a:solidFill>
              <a:srgbClr val="E0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793992" y="1225296"/>
            <a:ext cx="1481328" cy="329184"/>
          </a:xfrm>
          <a:prstGeom prst="roundRect">
            <a:avLst/>
          </a:prstGeom>
          <a:solidFill>
            <a:srgbClr val="C5162B"/>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793992" y="1234440"/>
            <a:ext cx="1481328" cy="292608"/>
          </a:xfrm>
          <a:prstGeom prst="rect">
            <a:avLst/>
          </a:prstGeom>
          <a:noFill/>
        </p:spPr>
        <p:txBody>
          <a:bodyPr wrap="square" lIns="36576" tIns="36576" rIns="36576" bIns="36576" anchor="ctr">
            <a:spAutoFit/>
          </a:bodyPr>
          <a:lstStyle/>
          <a:p>
            <a:pPr algn="ctr"/>
            <a:r>
              <a:rPr sz="1100" b="1" i="0">
                <a:solidFill>
                  <a:srgbClr val="FFFFFF"/>
                </a:solidFill>
                <a:latin typeface="Arial"/>
              </a:rPr>
              <a:t>TAKEAWAY</a:t>
            </a:r>
          </a:p>
        </p:txBody>
      </p:sp>
      <p:sp>
        <p:nvSpPr>
          <p:cNvPr id="47" name="TextBox 46"/>
          <p:cNvSpPr txBox="1"/>
          <p:nvPr/>
        </p:nvSpPr>
        <p:spPr>
          <a:xfrm>
            <a:off x="6656832" y="1856231"/>
            <a:ext cx="1737360" cy="256032"/>
          </a:xfrm>
          <a:prstGeom prst="rect">
            <a:avLst/>
          </a:prstGeom>
          <a:noFill/>
        </p:spPr>
        <p:txBody>
          <a:bodyPr wrap="square" lIns="0" tIns="0" rIns="0" bIns="0" anchor="t">
            <a:spAutoFit/>
          </a:bodyPr>
          <a:lstStyle/>
          <a:p>
            <a:pPr algn="ctr"/>
            <a:r>
              <a:rPr sz="1250" b="1" i="0">
                <a:solidFill>
                  <a:srgbClr val="990014"/>
                </a:solidFill>
                <a:latin typeface="Arial"/>
              </a:rPr>
              <a:t>IRR &gt; SDM</a:t>
            </a:r>
          </a:p>
        </p:txBody>
      </p:sp>
      <p:sp>
        <p:nvSpPr>
          <p:cNvPr id="48" name="TextBox 47"/>
          <p:cNvSpPr txBox="1"/>
          <p:nvPr/>
        </p:nvSpPr>
        <p:spPr>
          <a:xfrm>
            <a:off x="6620256" y="2167127"/>
            <a:ext cx="1810512" cy="420624"/>
          </a:xfrm>
          <a:prstGeom prst="rect">
            <a:avLst/>
          </a:prstGeom>
          <a:noFill/>
        </p:spPr>
        <p:txBody>
          <a:bodyPr wrap="square" lIns="0" tIns="0" rIns="0" bIns="0" anchor="t">
            <a:spAutoFit/>
          </a:bodyPr>
          <a:lstStyle/>
          <a:p>
            <a:pPr algn="ctr"/>
            <a:r>
              <a:rPr sz="1050" b="0" i="0">
                <a:solidFill>
                  <a:srgbClr val="434343"/>
                </a:solidFill>
                <a:latin typeface="Arial"/>
              </a:rPr>
              <a:t>R1 gain: +3.04 to +4.22</a:t>
            </a:r>
          </a:p>
        </p:txBody>
      </p:sp>
      <p:sp>
        <p:nvSpPr>
          <p:cNvPr id="49" name="TextBox 48"/>
          <p:cNvSpPr txBox="1"/>
          <p:nvPr/>
        </p:nvSpPr>
        <p:spPr>
          <a:xfrm>
            <a:off x="6656832" y="2752344"/>
            <a:ext cx="1737360" cy="256032"/>
          </a:xfrm>
          <a:prstGeom prst="rect">
            <a:avLst/>
          </a:prstGeom>
          <a:noFill/>
        </p:spPr>
        <p:txBody>
          <a:bodyPr wrap="square" lIns="0" tIns="0" rIns="0" bIns="0" anchor="t">
            <a:spAutoFit/>
          </a:bodyPr>
          <a:lstStyle/>
          <a:p>
            <a:pPr algn="ctr"/>
            <a:r>
              <a:rPr sz="1250" b="1" i="0">
                <a:solidFill>
                  <a:srgbClr val="990014"/>
                </a:solidFill>
                <a:latin typeface="Arial"/>
              </a:rPr>
              <a:t>FULL MODEL WINS</a:t>
            </a:r>
          </a:p>
        </p:txBody>
      </p:sp>
      <p:sp>
        <p:nvSpPr>
          <p:cNvPr id="50" name="TextBox 49"/>
          <p:cNvSpPr txBox="1"/>
          <p:nvPr/>
        </p:nvSpPr>
        <p:spPr>
          <a:xfrm>
            <a:off x="6620256" y="3063239"/>
            <a:ext cx="1810512" cy="420624"/>
          </a:xfrm>
          <a:prstGeom prst="rect">
            <a:avLst/>
          </a:prstGeom>
          <a:noFill/>
        </p:spPr>
        <p:txBody>
          <a:bodyPr wrap="square" lIns="0" tIns="0" rIns="0" bIns="0" anchor="t">
            <a:spAutoFit/>
          </a:bodyPr>
          <a:lstStyle/>
          <a:p>
            <a:pPr algn="ctr"/>
            <a:r>
              <a:rPr sz="1050" b="0" i="0">
                <a:solidFill>
                  <a:srgbClr val="434343"/>
                </a:solidFill>
                <a:latin typeface="Arial"/>
              </a:rPr>
              <a:t>Complementary gains</a:t>
            </a:r>
          </a:p>
        </p:txBody>
      </p:sp>
      <p:sp>
        <p:nvSpPr>
          <p:cNvPr id="51" name="TextBox 50"/>
          <p:cNvSpPr txBox="1"/>
          <p:nvPr/>
        </p:nvSpPr>
        <p:spPr>
          <a:xfrm>
            <a:off x="6656832" y="3648456"/>
            <a:ext cx="1737360" cy="256032"/>
          </a:xfrm>
          <a:prstGeom prst="rect">
            <a:avLst/>
          </a:prstGeom>
          <a:noFill/>
        </p:spPr>
        <p:txBody>
          <a:bodyPr wrap="square" lIns="0" tIns="0" rIns="0" bIns="0" anchor="t">
            <a:spAutoFit/>
          </a:bodyPr>
          <a:lstStyle/>
          <a:p>
            <a:pPr algn="ctr"/>
            <a:r>
              <a:rPr sz="1250" b="1" i="0">
                <a:solidFill>
                  <a:srgbClr val="990014"/>
                </a:solidFill>
                <a:latin typeface="Arial"/>
              </a:rPr>
              <a:t>ID LOSS</a:t>
            </a:r>
          </a:p>
        </p:txBody>
      </p:sp>
      <p:sp>
        <p:nvSpPr>
          <p:cNvPr id="52" name="TextBox 51"/>
          <p:cNvSpPr txBox="1"/>
          <p:nvPr/>
        </p:nvSpPr>
        <p:spPr>
          <a:xfrm>
            <a:off x="6620256" y="3959352"/>
            <a:ext cx="1810512" cy="420624"/>
          </a:xfrm>
          <a:prstGeom prst="rect">
            <a:avLst/>
          </a:prstGeom>
          <a:noFill/>
        </p:spPr>
        <p:txBody>
          <a:bodyPr wrap="square" lIns="0" tIns="0" rIns="0" bIns="0" anchor="t">
            <a:spAutoFit/>
          </a:bodyPr>
          <a:lstStyle/>
          <a:p>
            <a:pPr algn="ctr"/>
            <a:r>
              <a:rPr sz="1050" b="0" i="0">
                <a:solidFill>
                  <a:srgbClr val="434343"/>
                </a:solidFill>
                <a:latin typeface="Arial"/>
              </a:rPr>
              <a:t>Alone, it may reduce R1</a:t>
            </a:r>
          </a:p>
        </p:txBody>
      </p:sp>
      <p:sp>
        <p:nvSpPr>
          <p:cNvPr id="53" name="TextBox 52"/>
          <p:cNvSpPr txBox="1"/>
          <p:nvPr/>
        </p:nvSpPr>
        <p:spPr>
          <a:xfrm>
            <a:off x="6656832" y="4544568"/>
            <a:ext cx="1737360" cy="256032"/>
          </a:xfrm>
          <a:prstGeom prst="rect">
            <a:avLst/>
          </a:prstGeom>
          <a:noFill/>
        </p:spPr>
        <p:txBody>
          <a:bodyPr wrap="square" lIns="0" tIns="0" rIns="0" bIns="0" anchor="t">
            <a:spAutoFit/>
          </a:bodyPr>
          <a:lstStyle/>
          <a:p>
            <a:pPr algn="ctr"/>
            <a:r>
              <a:rPr sz="1250" b="1" i="0">
                <a:solidFill>
                  <a:srgbClr val="990014"/>
                </a:solidFill>
                <a:latin typeface="Arial"/>
              </a:rPr>
              <a:t>CMPM</a:t>
            </a:r>
          </a:p>
        </p:txBody>
      </p:sp>
      <p:sp>
        <p:nvSpPr>
          <p:cNvPr id="54" name="TextBox 53"/>
          <p:cNvSpPr txBox="1"/>
          <p:nvPr/>
        </p:nvSpPr>
        <p:spPr>
          <a:xfrm>
            <a:off x="6620256" y="4855464"/>
            <a:ext cx="1810512" cy="420624"/>
          </a:xfrm>
          <a:prstGeom prst="rect">
            <a:avLst/>
          </a:prstGeom>
          <a:noFill/>
        </p:spPr>
        <p:txBody>
          <a:bodyPr wrap="square" lIns="0" tIns="0" rIns="0" bIns="0" anchor="t">
            <a:spAutoFit/>
          </a:bodyPr>
          <a:lstStyle/>
          <a:p>
            <a:pPr algn="ctr"/>
            <a:r>
              <a:rPr sz="1050" b="0" i="0">
                <a:solidFill>
                  <a:srgbClr val="434343"/>
                </a:solidFill>
                <a:latin typeface="Arial"/>
              </a:rPr>
              <a:t>Weaker than SDM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000" b="1" i="0">
                <a:solidFill>
                  <a:srgbClr val="FFFFFF"/>
                </a:solidFill>
                <a:latin typeface="Arial"/>
              </a:rPr>
              <a:t>III. Results — Efficiency and Qualitative Results</a:t>
            </a:r>
          </a:p>
        </p:txBody>
      </p:sp>
      <p:sp>
        <p:nvSpPr>
          <p:cNvPr id="3" name="TextBox 2"/>
          <p:cNvSpPr txBox="1"/>
          <p:nvPr/>
        </p:nvSpPr>
        <p:spPr>
          <a:xfrm>
            <a:off x="658368" y="6236208"/>
            <a:ext cx="7726679" cy="182880"/>
          </a:xfrm>
          <a:prstGeom prst="rect">
            <a:avLst/>
          </a:prstGeom>
          <a:noFill/>
        </p:spPr>
        <p:txBody>
          <a:bodyPr wrap="square" lIns="0" tIns="0" rIns="0" bIns="0" anchor="t">
            <a:spAutoFit/>
          </a:bodyPr>
          <a:lstStyle/>
          <a:p>
            <a:pPr algn="l"/>
            <a:r>
              <a:rPr sz="750" b="0" i="1">
                <a:solidFill>
                  <a:srgbClr val="696969"/>
                </a:solidFill>
                <a:latin typeface="Arial"/>
              </a:rPr>
              <a:t>Source: Jiang &amp; Ye, CVPR 2023, Table 5 and Fig. 5</a:t>
            </a:r>
          </a:p>
        </p:txBody>
      </p:sp>
      <p:sp>
        <p:nvSpPr>
          <p:cNvPr id="4" name="TextBox 3"/>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23</a:t>
            </a:r>
          </a:p>
        </p:txBody>
      </p:sp>
      <p:sp>
        <p:nvSpPr>
          <p:cNvPr id="5" name="Rounded Rectangle 4"/>
          <p:cNvSpPr/>
          <p:nvPr/>
        </p:nvSpPr>
        <p:spPr>
          <a:xfrm>
            <a:off x="484632" y="932688"/>
            <a:ext cx="2852928" cy="2231136"/>
          </a:xfrm>
          <a:prstGeom prst="roundRect">
            <a:avLst/>
          </a:prstGeom>
          <a:solidFill>
            <a:srgbClr val="F3F4F6"/>
          </a:solidFill>
          <a:ln w="12700">
            <a:solidFill>
              <a:srgbClr val="E0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86384" y="1170432"/>
            <a:ext cx="2249424" cy="329184"/>
          </a:xfrm>
          <a:prstGeom prst="roundRect">
            <a:avLst/>
          </a:prstGeom>
          <a:solidFill>
            <a:srgbClr val="C5162B"/>
          </a:solidFill>
          <a:ln w="12700">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179576"/>
            <a:ext cx="2249424" cy="292608"/>
          </a:xfrm>
          <a:prstGeom prst="rect">
            <a:avLst/>
          </a:prstGeom>
          <a:noFill/>
        </p:spPr>
        <p:txBody>
          <a:bodyPr wrap="square" lIns="36576" tIns="36576" rIns="36576" bIns="36576" anchor="ctr">
            <a:spAutoFit/>
          </a:bodyPr>
          <a:lstStyle/>
          <a:p>
            <a:pPr algn="ctr"/>
            <a:r>
              <a:rPr sz="1100" b="1" i="0">
                <a:solidFill>
                  <a:srgbClr val="FFFFFF"/>
                </a:solidFill>
                <a:latin typeface="Arial"/>
              </a:rPr>
              <a:t>INTERACTION MODULE</a:t>
            </a:r>
          </a:p>
        </p:txBody>
      </p:sp>
      <p:graphicFrame>
        <p:nvGraphicFramePr>
          <p:cNvPr id="8" name="Table 7"/>
          <p:cNvGraphicFramePr>
            <a:graphicFrameLocks noGrp="1"/>
          </p:cNvGraphicFramePr>
          <p:nvPr/>
        </p:nvGraphicFramePr>
        <p:xfrm>
          <a:off x="676656" y="1682496"/>
          <a:ext cx="2468879" cy="1133856"/>
        </p:xfrm>
        <a:graphic>
          <a:graphicData uri="http://schemas.openxmlformats.org/drawingml/2006/table">
            <a:tbl>
              <a:tblPr firstRow="1" bandRow="1">
                <a:tableStyleId>{5C22544A-7EE6-4342-B048-85BDC9FD1C3A}</a:tableStyleId>
              </a:tblPr>
              <a:tblGrid>
                <a:gridCol w="969014">
                  <a:extLst>
                    <a:ext uri="{9D8B030D-6E8A-4147-A177-3AD203B41FA5}">
                      <a16:colId xmlns:a16="http://schemas.microsoft.com/office/drawing/2014/main" val="20000"/>
                    </a:ext>
                  </a:extLst>
                </a:gridCol>
                <a:gridCol w="699375">
                  <a:extLst>
                    <a:ext uri="{9D8B030D-6E8A-4147-A177-3AD203B41FA5}">
                      <a16:colId xmlns:a16="http://schemas.microsoft.com/office/drawing/2014/main" val="20001"/>
                    </a:ext>
                  </a:extLst>
                </a:gridCol>
                <a:gridCol w="800490">
                  <a:extLst>
                    <a:ext uri="{9D8B030D-6E8A-4147-A177-3AD203B41FA5}">
                      <a16:colId xmlns:a16="http://schemas.microsoft.com/office/drawing/2014/main" val="20002"/>
                    </a:ext>
                  </a:extLst>
                </a:gridCol>
              </a:tblGrid>
              <a:tr h="283464">
                <a:tc>
                  <a:txBody>
                    <a:bodyPr/>
                    <a:lstStyle/>
                    <a:p>
                      <a:pPr algn="l"/>
                      <a:r>
                        <a:rPr sz="1000" b="1">
                          <a:solidFill>
                            <a:srgbClr val="FFFFFF"/>
                          </a:solidFill>
                          <a:latin typeface="Arial"/>
                        </a:rPr>
                        <a:t>Module</a:t>
                      </a:r>
                    </a:p>
                  </a:txBody>
                  <a:tcPr marL="45720" marR="45720" marT="36576" marB="36576">
                    <a:solidFill>
                      <a:srgbClr val="C5162B"/>
                    </a:solidFill>
                  </a:tcPr>
                </a:tc>
                <a:tc>
                  <a:txBody>
                    <a:bodyPr/>
                    <a:lstStyle/>
                    <a:p>
                      <a:pPr algn="ctr"/>
                      <a:r>
                        <a:rPr sz="1000" b="1">
                          <a:solidFill>
                            <a:srgbClr val="FFFFFF"/>
                          </a:solidFill>
                          <a:latin typeface="Arial"/>
                        </a:rPr>
                        <a:t>Params</a:t>
                      </a:r>
                    </a:p>
                  </a:txBody>
                  <a:tcPr marL="45720" marR="45720" marT="36576" marB="36576">
                    <a:solidFill>
                      <a:srgbClr val="C5162B"/>
                    </a:solidFill>
                  </a:tcPr>
                </a:tc>
                <a:tc>
                  <a:txBody>
                    <a:bodyPr/>
                    <a:lstStyle/>
                    <a:p>
                      <a:pPr algn="ctr"/>
                      <a:r>
                        <a:rPr sz="1000" b="1">
                          <a:solidFill>
                            <a:srgbClr val="FFFFFF"/>
                          </a:solidFill>
                          <a:latin typeface="Arial"/>
                        </a:rPr>
                        <a:t>Time</a:t>
                      </a:r>
                    </a:p>
                  </a:txBody>
                  <a:tcPr marL="45720" marR="45720" marT="36576" marB="36576">
                    <a:solidFill>
                      <a:srgbClr val="C5162B"/>
                    </a:solidFill>
                  </a:tcPr>
                </a:tc>
                <a:extLst>
                  <a:ext uri="{0D108BD9-81ED-4DB2-BD59-A6C34878D82A}">
                    <a16:rowId xmlns:a16="http://schemas.microsoft.com/office/drawing/2014/main" val="10000"/>
                  </a:ext>
                </a:extLst>
              </a:tr>
              <a:tr h="283464">
                <a:tc>
                  <a:txBody>
                    <a:bodyPr/>
                    <a:lstStyle/>
                    <a:p>
                      <a:pPr algn="l"/>
                      <a:r>
                        <a:rPr sz="1050" b="1">
                          <a:solidFill>
                            <a:srgbClr val="232323"/>
                          </a:solidFill>
                          <a:latin typeface="Arial"/>
                        </a:rPr>
                        <a:t>Co-attn</a:t>
                      </a:r>
                    </a:p>
                  </a:txBody>
                  <a:tcPr marL="45720" marR="45720" marT="36576" marB="36576">
                    <a:solidFill>
                      <a:srgbClr val="FFFFFF"/>
                    </a:solidFill>
                  </a:tcPr>
                </a:tc>
                <a:tc>
                  <a:txBody>
                    <a:bodyPr/>
                    <a:lstStyle/>
                    <a:p>
                      <a:pPr algn="ctr"/>
                      <a:r>
                        <a:rPr sz="1050" b="0">
                          <a:solidFill>
                            <a:srgbClr val="232323"/>
                          </a:solidFill>
                          <a:latin typeface="Arial"/>
                        </a:rPr>
                        <a:t>33.62M</a:t>
                      </a:r>
                    </a:p>
                  </a:txBody>
                  <a:tcPr marL="45720" marR="45720" marT="36576" marB="36576">
                    <a:solidFill>
                      <a:srgbClr val="FFFFFF"/>
                    </a:solidFill>
                  </a:tcPr>
                </a:tc>
                <a:tc>
                  <a:txBody>
                    <a:bodyPr/>
                    <a:lstStyle/>
                    <a:p>
                      <a:pPr algn="ctr"/>
                      <a:r>
                        <a:rPr sz="1050" b="0">
                          <a:solidFill>
                            <a:srgbClr val="232323"/>
                          </a:solidFill>
                          <a:latin typeface="Arial"/>
                        </a:rPr>
                        <a:t>24.30 ms</a:t>
                      </a:r>
                    </a:p>
                  </a:txBody>
                  <a:tcPr marL="45720" marR="45720" marT="36576" marB="36576">
                    <a:solidFill>
                      <a:srgbClr val="FFFFFF"/>
                    </a:solidFill>
                  </a:tcPr>
                </a:tc>
                <a:extLst>
                  <a:ext uri="{0D108BD9-81ED-4DB2-BD59-A6C34878D82A}">
                    <a16:rowId xmlns:a16="http://schemas.microsoft.com/office/drawing/2014/main" val="10001"/>
                  </a:ext>
                </a:extLst>
              </a:tr>
              <a:tr h="283464">
                <a:tc>
                  <a:txBody>
                    <a:bodyPr/>
                    <a:lstStyle/>
                    <a:p>
                      <a:pPr algn="l"/>
                      <a:r>
                        <a:rPr sz="1050" b="1">
                          <a:solidFill>
                            <a:srgbClr val="232323"/>
                          </a:solidFill>
                          <a:latin typeface="Arial"/>
                        </a:rPr>
                        <a:t>Merged</a:t>
                      </a:r>
                    </a:p>
                  </a:txBody>
                  <a:tcPr marL="45720" marR="45720" marT="36576" marB="36576">
                    <a:solidFill>
                      <a:srgbClr val="F3F4F6"/>
                    </a:solidFill>
                  </a:tcPr>
                </a:tc>
                <a:tc>
                  <a:txBody>
                    <a:bodyPr/>
                    <a:lstStyle/>
                    <a:p>
                      <a:pPr algn="ctr"/>
                      <a:r>
                        <a:rPr sz="1050" b="0">
                          <a:solidFill>
                            <a:srgbClr val="232323"/>
                          </a:solidFill>
                          <a:latin typeface="Arial"/>
                        </a:rPr>
                        <a:t>12.61M</a:t>
                      </a:r>
                    </a:p>
                  </a:txBody>
                  <a:tcPr marL="45720" marR="45720" marT="36576" marB="36576">
                    <a:solidFill>
                      <a:srgbClr val="F3F4F6"/>
                    </a:solidFill>
                  </a:tcPr>
                </a:tc>
                <a:tc>
                  <a:txBody>
                    <a:bodyPr/>
                    <a:lstStyle/>
                    <a:p>
                      <a:pPr algn="ctr"/>
                      <a:r>
                        <a:rPr sz="1050" b="0">
                          <a:solidFill>
                            <a:srgbClr val="232323"/>
                          </a:solidFill>
                          <a:latin typeface="Arial"/>
                        </a:rPr>
                        <a:t>19.20 ms</a:t>
                      </a:r>
                    </a:p>
                  </a:txBody>
                  <a:tcPr marL="45720" marR="45720" marT="36576" marB="36576">
                    <a:solidFill>
                      <a:srgbClr val="F3F4F6"/>
                    </a:solidFill>
                  </a:tcPr>
                </a:tc>
                <a:extLst>
                  <a:ext uri="{0D108BD9-81ED-4DB2-BD59-A6C34878D82A}">
                    <a16:rowId xmlns:a16="http://schemas.microsoft.com/office/drawing/2014/main" val="10002"/>
                  </a:ext>
                </a:extLst>
              </a:tr>
              <a:tr h="283464">
                <a:tc>
                  <a:txBody>
                    <a:bodyPr/>
                    <a:lstStyle/>
                    <a:p>
                      <a:pPr algn="l"/>
                      <a:r>
                        <a:rPr sz="1050" b="1">
                          <a:solidFill>
                            <a:srgbClr val="232323"/>
                          </a:solidFill>
                          <a:latin typeface="Arial"/>
                        </a:rPr>
                        <a:t>Ours</a:t>
                      </a:r>
                    </a:p>
                  </a:txBody>
                  <a:tcPr marL="45720" marR="45720" marT="36576" marB="36576">
                    <a:solidFill>
                      <a:srgbClr val="FFFFFF"/>
                    </a:solidFill>
                  </a:tcPr>
                </a:tc>
                <a:tc>
                  <a:txBody>
                    <a:bodyPr/>
                    <a:lstStyle/>
                    <a:p>
                      <a:pPr algn="ctr"/>
                      <a:r>
                        <a:rPr sz="1050" b="0">
                          <a:solidFill>
                            <a:srgbClr val="232323"/>
                          </a:solidFill>
                          <a:latin typeface="Arial"/>
                        </a:rPr>
                        <a:t>13.66M</a:t>
                      </a:r>
                    </a:p>
                  </a:txBody>
                  <a:tcPr marL="45720" marR="45720" marT="36576" marB="36576">
                    <a:solidFill>
                      <a:srgbClr val="FFFFFF"/>
                    </a:solidFill>
                  </a:tcPr>
                </a:tc>
                <a:tc>
                  <a:txBody>
                    <a:bodyPr/>
                    <a:lstStyle/>
                    <a:p>
                      <a:pPr algn="ctr"/>
                      <a:r>
                        <a:rPr sz="1050" b="0">
                          <a:solidFill>
                            <a:srgbClr val="232323"/>
                          </a:solidFill>
                          <a:latin typeface="Arial"/>
                        </a:rPr>
                        <a:t>6.42 ms</a:t>
                      </a:r>
                    </a:p>
                  </a:txBody>
                  <a:tcPr marL="45720" marR="45720" marT="36576" marB="36576">
                    <a:solidFill>
                      <a:srgbClr val="FFFFFF"/>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731520" y="2871216"/>
            <a:ext cx="2350008" cy="201168"/>
          </a:xfrm>
          <a:prstGeom prst="rect">
            <a:avLst/>
          </a:prstGeom>
          <a:noFill/>
        </p:spPr>
        <p:txBody>
          <a:bodyPr wrap="square" lIns="0" tIns="0" rIns="0" bIns="0" anchor="t">
            <a:spAutoFit/>
          </a:bodyPr>
          <a:lstStyle/>
          <a:p>
            <a:pPr algn="ctr"/>
            <a:r>
              <a:rPr sz="1050" b="1" i="0">
                <a:solidFill>
                  <a:srgbClr val="990014"/>
                </a:solidFill>
                <a:latin typeface="Arial"/>
              </a:rPr>
              <a:t>~3× faster than merged attention</a:t>
            </a:r>
          </a:p>
        </p:txBody>
      </p:sp>
      <p:sp>
        <p:nvSpPr>
          <p:cNvPr id="10" name="Rounded Rectangle 9"/>
          <p:cNvSpPr/>
          <p:nvPr/>
        </p:nvSpPr>
        <p:spPr>
          <a:xfrm>
            <a:off x="3566160" y="932688"/>
            <a:ext cx="5084064" cy="2231136"/>
          </a:xfrm>
          <a:prstGeom prst="roundRect">
            <a:avLst/>
          </a:prstGeom>
          <a:solidFill>
            <a:srgbClr val="FDEBEB"/>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77056" y="1243584"/>
            <a:ext cx="4462272" cy="310896"/>
          </a:xfrm>
          <a:prstGeom prst="rect">
            <a:avLst/>
          </a:prstGeom>
          <a:noFill/>
        </p:spPr>
        <p:txBody>
          <a:bodyPr wrap="square" lIns="0" tIns="0" rIns="0" bIns="0" anchor="t">
            <a:spAutoFit/>
          </a:bodyPr>
          <a:lstStyle/>
          <a:p>
            <a:pPr algn="ctr"/>
            <a:r>
              <a:rPr sz="1700" b="1" i="0">
                <a:solidFill>
                  <a:srgbClr val="990014"/>
                </a:solidFill>
                <a:latin typeface="Arial"/>
              </a:rPr>
              <a:t>Why does IRRA perform better?</a:t>
            </a:r>
          </a:p>
        </p:txBody>
      </p:sp>
      <p:sp>
        <p:nvSpPr>
          <p:cNvPr id="12" name="TextBox 11"/>
          <p:cNvSpPr txBox="1"/>
          <p:nvPr/>
        </p:nvSpPr>
        <p:spPr>
          <a:xfrm>
            <a:off x="3950208" y="1810512"/>
            <a:ext cx="4315968" cy="676656"/>
          </a:xfrm>
          <a:prstGeom prst="rect">
            <a:avLst/>
          </a:prstGeom>
          <a:noFill/>
        </p:spPr>
        <p:txBody>
          <a:bodyPr wrap="square" lIns="0" tIns="0" rIns="0" bIns="0" anchor="t">
            <a:spAutoFit/>
          </a:bodyPr>
          <a:lstStyle/>
          <a:p>
            <a:pPr algn="ctr"/>
            <a:r>
              <a:rPr sz="1500" b="1" i="0">
                <a:solidFill>
                  <a:srgbClr val="434343"/>
                </a:solidFill>
                <a:latin typeface="Arial"/>
              </a:rPr>
              <a:t>IRR exploits subtle discriminative attributes:
clothing • colors • shoes • bags</a:t>
            </a:r>
          </a:p>
        </p:txBody>
      </p:sp>
      <p:sp>
        <p:nvSpPr>
          <p:cNvPr id="13" name="Rounded Rectangle 12"/>
          <p:cNvSpPr/>
          <p:nvPr/>
        </p:nvSpPr>
        <p:spPr>
          <a:xfrm>
            <a:off x="4261104" y="2615184"/>
            <a:ext cx="3694176" cy="329184"/>
          </a:xfrm>
          <a:prstGeom prst="roundRect">
            <a:avLst/>
          </a:prstGeom>
          <a:solidFill>
            <a:srgbClr val="990014"/>
          </a:solidFill>
          <a:ln w="12700">
            <a:solidFill>
              <a:srgbClr val="9900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61104" y="2624327"/>
            <a:ext cx="3694176" cy="292608"/>
          </a:xfrm>
          <a:prstGeom prst="rect">
            <a:avLst/>
          </a:prstGeom>
          <a:noFill/>
        </p:spPr>
        <p:txBody>
          <a:bodyPr wrap="square" lIns="36576" tIns="36576" rIns="36576" bIns="36576" anchor="ctr">
            <a:spAutoFit/>
          </a:bodyPr>
          <a:lstStyle/>
          <a:p>
            <a:pPr algn="ctr"/>
            <a:r>
              <a:rPr sz="1150" b="1" i="0">
                <a:solidFill>
                  <a:srgbClr val="FFFFFF"/>
                </a:solidFill>
                <a:latin typeface="Arial"/>
              </a:rPr>
              <a:t>Interaction module removed at inference</a:t>
            </a:r>
          </a:p>
        </p:txBody>
      </p:sp>
      <p:sp>
        <p:nvSpPr>
          <p:cNvPr id="15" name="Rounded Rectangle 14"/>
          <p:cNvSpPr/>
          <p:nvPr/>
        </p:nvSpPr>
        <p:spPr>
          <a:xfrm>
            <a:off x="484632" y="3401568"/>
            <a:ext cx="8165592" cy="2304288"/>
          </a:xfrm>
          <a:prstGeom prst="roundRect">
            <a:avLst/>
          </a:prstGeom>
          <a:solidFill>
            <a:srgbClr val="FFFFFF"/>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 y="3566160"/>
            <a:ext cx="7589520" cy="256032"/>
          </a:xfrm>
          <a:prstGeom prst="rect">
            <a:avLst/>
          </a:prstGeom>
          <a:noFill/>
        </p:spPr>
        <p:txBody>
          <a:bodyPr wrap="square" lIns="0" tIns="0" rIns="0" bIns="0" anchor="t">
            <a:spAutoFit/>
          </a:bodyPr>
          <a:lstStyle/>
          <a:p>
            <a:pPr algn="ctr"/>
            <a:r>
              <a:rPr sz="1200" b="1" i="0">
                <a:solidFill>
                  <a:srgbClr val="990014"/>
                </a:solidFill>
                <a:latin typeface="Arial"/>
              </a:rPr>
              <a:t>Query: a man crossing the street, wearing a white shirt and black pants, carrying a black backpack</a:t>
            </a:r>
          </a:p>
        </p:txBody>
      </p:sp>
      <p:sp>
        <p:nvSpPr>
          <p:cNvPr id="17" name="TextBox 16"/>
          <p:cNvSpPr txBox="1"/>
          <p:nvPr/>
        </p:nvSpPr>
        <p:spPr>
          <a:xfrm>
            <a:off x="713232" y="4032504"/>
            <a:ext cx="658368" cy="228600"/>
          </a:xfrm>
          <a:prstGeom prst="rect">
            <a:avLst/>
          </a:prstGeom>
          <a:noFill/>
        </p:spPr>
        <p:txBody>
          <a:bodyPr wrap="square" lIns="0" tIns="0" rIns="0" bIns="0" anchor="t">
            <a:spAutoFit/>
          </a:bodyPr>
          <a:lstStyle/>
          <a:p>
            <a:pPr algn="l"/>
            <a:r>
              <a:rPr sz="1050" b="1" i="0">
                <a:solidFill>
                  <a:srgbClr val="434343"/>
                </a:solidFill>
                <a:latin typeface="Arial"/>
              </a:rPr>
              <a:t>Baseline</a:t>
            </a:r>
          </a:p>
        </p:txBody>
      </p:sp>
      <p:pic>
        <p:nvPicPr>
          <p:cNvPr id="18" name="Picture 17" descr="result_strip_3.jpeg"/>
          <p:cNvPicPr>
            <a:picLocks noChangeAspect="1"/>
          </p:cNvPicPr>
          <p:nvPr/>
        </p:nvPicPr>
        <p:blipFill>
          <a:blip r:embed="rId3"/>
          <a:stretch>
            <a:fillRect/>
          </a:stretch>
        </p:blipFill>
        <p:spPr>
          <a:xfrm>
            <a:off x="2299488" y="3941063"/>
            <a:ext cx="5157671" cy="877824"/>
          </a:xfrm>
          <a:prstGeom prst="rect">
            <a:avLst/>
          </a:prstGeom>
        </p:spPr>
      </p:pic>
      <p:sp>
        <p:nvSpPr>
          <p:cNvPr id="19" name="TextBox 18"/>
          <p:cNvSpPr txBox="1"/>
          <p:nvPr/>
        </p:nvSpPr>
        <p:spPr>
          <a:xfrm>
            <a:off x="713232" y="4983480"/>
            <a:ext cx="658368" cy="228600"/>
          </a:xfrm>
          <a:prstGeom prst="rect">
            <a:avLst/>
          </a:prstGeom>
          <a:noFill/>
        </p:spPr>
        <p:txBody>
          <a:bodyPr wrap="square" lIns="0" tIns="0" rIns="0" bIns="0" anchor="t">
            <a:spAutoFit/>
          </a:bodyPr>
          <a:lstStyle/>
          <a:p>
            <a:pPr algn="l"/>
            <a:r>
              <a:rPr sz="1050" b="1" i="0">
                <a:solidFill>
                  <a:srgbClr val="C5162B"/>
                </a:solidFill>
                <a:latin typeface="Arial"/>
              </a:rPr>
              <a:t>IRRA</a:t>
            </a:r>
          </a:p>
        </p:txBody>
      </p:sp>
      <p:pic>
        <p:nvPicPr>
          <p:cNvPr id="20" name="Picture 19" descr="result_strip_4.jpeg"/>
          <p:cNvPicPr>
            <a:picLocks noChangeAspect="1"/>
          </p:cNvPicPr>
          <p:nvPr/>
        </p:nvPicPr>
        <p:blipFill>
          <a:blip r:embed="rId4"/>
          <a:stretch>
            <a:fillRect/>
          </a:stretch>
        </p:blipFill>
        <p:spPr>
          <a:xfrm>
            <a:off x="2299488" y="4892040"/>
            <a:ext cx="5157671" cy="87782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000" b="1" i="0">
                <a:solidFill>
                  <a:srgbClr val="FFFFFF"/>
                </a:solidFill>
                <a:latin typeface="Arial"/>
              </a:rPr>
              <a:t>IV. Discussion — Limitations and Critical Analysis</a:t>
            </a:r>
          </a:p>
        </p:txBody>
      </p:sp>
      <p:sp>
        <p:nvSpPr>
          <p:cNvPr id="3" name="TextBox 2"/>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24</a:t>
            </a:r>
          </a:p>
        </p:txBody>
      </p:sp>
      <p:sp>
        <p:nvSpPr>
          <p:cNvPr id="4" name="Rounded Rectangle 3"/>
          <p:cNvSpPr/>
          <p:nvPr/>
        </p:nvSpPr>
        <p:spPr>
          <a:xfrm>
            <a:off x="512064" y="950976"/>
            <a:ext cx="3840480" cy="2084831"/>
          </a:xfrm>
          <a:prstGeom prst="roundRect">
            <a:avLst/>
          </a:prstGeom>
          <a:solidFill>
            <a:srgbClr val="F3F4F6"/>
          </a:solidFill>
          <a:ln w="12700">
            <a:solidFill>
              <a:srgbClr val="E0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40664" y="1197864"/>
            <a:ext cx="411480" cy="411480"/>
          </a:xfrm>
          <a:prstGeom prst="ellipse">
            <a:avLst/>
          </a:prstGeom>
          <a:solidFill>
            <a:srgbClr val="C5162B"/>
          </a:solidFill>
          <a:ln>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1197864"/>
            <a:ext cx="411480" cy="411480"/>
          </a:xfrm>
          <a:prstGeom prst="rect">
            <a:avLst/>
          </a:prstGeom>
          <a:noFill/>
        </p:spPr>
        <p:txBody>
          <a:bodyPr wrap="square" lIns="0" tIns="0" rIns="0" bIns="0" anchor="ctr">
            <a:spAutoFit/>
          </a:bodyPr>
          <a:lstStyle/>
          <a:p>
            <a:pPr algn="ctr"/>
            <a:r>
              <a:rPr sz="1500" b="1" i="0">
                <a:solidFill>
                  <a:srgbClr val="FFFFFF"/>
                </a:solidFill>
                <a:latin typeface="Arial"/>
              </a:rPr>
              <a:t>1</a:t>
            </a:r>
          </a:p>
        </p:txBody>
      </p:sp>
      <p:sp>
        <p:nvSpPr>
          <p:cNvPr id="7" name="TextBox 6"/>
          <p:cNvSpPr txBox="1"/>
          <p:nvPr/>
        </p:nvSpPr>
        <p:spPr>
          <a:xfrm>
            <a:off x="1316736" y="1179576"/>
            <a:ext cx="2761488" cy="384048"/>
          </a:xfrm>
          <a:prstGeom prst="rect">
            <a:avLst/>
          </a:prstGeom>
          <a:noFill/>
        </p:spPr>
        <p:txBody>
          <a:bodyPr wrap="square" lIns="0" tIns="0" rIns="0" bIns="0" anchor="ctr">
            <a:spAutoFit/>
          </a:bodyPr>
          <a:lstStyle/>
          <a:p>
            <a:pPr algn="l"/>
            <a:r>
              <a:rPr sz="1600" b="1" i="0">
                <a:solidFill>
                  <a:srgbClr val="990014"/>
                </a:solidFill>
                <a:latin typeface="Arial"/>
              </a:rPr>
              <a:t>Phrase-level semantics</a:t>
            </a:r>
          </a:p>
        </p:txBody>
      </p:sp>
      <p:sp>
        <p:nvSpPr>
          <p:cNvPr id="8" name="TextBox 7"/>
          <p:cNvSpPr txBox="1"/>
          <p:nvPr/>
        </p:nvSpPr>
        <p:spPr>
          <a:xfrm>
            <a:off x="822960" y="1920240"/>
            <a:ext cx="3218688" cy="658368"/>
          </a:xfrm>
          <a:prstGeom prst="rect">
            <a:avLst/>
          </a:prstGeom>
          <a:noFill/>
        </p:spPr>
        <p:txBody>
          <a:bodyPr wrap="square" lIns="0" tIns="0" rIns="0" bIns="0" anchor="ctr">
            <a:spAutoFit/>
          </a:bodyPr>
          <a:lstStyle/>
          <a:p>
            <a:pPr algn="ctr"/>
            <a:r>
              <a:rPr sz="1350" b="0" i="0">
                <a:solidFill>
                  <a:srgbClr val="434343"/>
                </a:solidFill>
                <a:latin typeface="Arial"/>
              </a:rPr>
              <a:t>Token masking may distort phrase-level meaning.</a:t>
            </a:r>
          </a:p>
        </p:txBody>
      </p:sp>
      <p:sp>
        <p:nvSpPr>
          <p:cNvPr id="9" name="Rounded Rectangle 8"/>
          <p:cNvSpPr/>
          <p:nvPr/>
        </p:nvSpPr>
        <p:spPr>
          <a:xfrm>
            <a:off x="4626864" y="950976"/>
            <a:ext cx="3840480" cy="2084831"/>
          </a:xfrm>
          <a:prstGeom prst="roundRect">
            <a:avLst/>
          </a:prstGeom>
          <a:solidFill>
            <a:srgbClr val="F3F4F6"/>
          </a:solidFill>
          <a:ln w="12700">
            <a:solidFill>
              <a:srgbClr val="E0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55464" y="1197864"/>
            <a:ext cx="411480" cy="411480"/>
          </a:xfrm>
          <a:prstGeom prst="ellipse">
            <a:avLst/>
          </a:prstGeom>
          <a:solidFill>
            <a:srgbClr val="EBA300"/>
          </a:solidFill>
          <a:ln>
            <a:solidFill>
              <a:srgbClr val="EB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55464" y="1197864"/>
            <a:ext cx="411480" cy="411480"/>
          </a:xfrm>
          <a:prstGeom prst="rect">
            <a:avLst/>
          </a:prstGeom>
          <a:noFill/>
        </p:spPr>
        <p:txBody>
          <a:bodyPr wrap="square" lIns="0" tIns="0" rIns="0" bIns="0" anchor="ctr">
            <a:spAutoFit/>
          </a:bodyPr>
          <a:lstStyle/>
          <a:p>
            <a:pPr algn="ctr"/>
            <a:r>
              <a:rPr sz="1500" b="1" i="0">
                <a:solidFill>
                  <a:srgbClr val="FFFFFF"/>
                </a:solidFill>
                <a:latin typeface="Arial"/>
              </a:rPr>
              <a:t>2</a:t>
            </a:r>
          </a:p>
        </p:txBody>
      </p:sp>
      <p:sp>
        <p:nvSpPr>
          <p:cNvPr id="12" name="TextBox 11"/>
          <p:cNvSpPr txBox="1"/>
          <p:nvPr/>
        </p:nvSpPr>
        <p:spPr>
          <a:xfrm>
            <a:off x="5431536" y="1179576"/>
            <a:ext cx="2761488" cy="384048"/>
          </a:xfrm>
          <a:prstGeom prst="rect">
            <a:avLst/>
          </a:prstGeom>
          <a:noFill/>
        </p:spPr>
        <p:txBody>
          <a:bodyPr wrap="square" lIns="0" tIns="0" rIns="0" bIns="0" anchor="ctr">
            <a:spAutoFit/>
          </a:bodyPr>
          <a:lstStyle/>
          <a:p>
            <a:pPr algn="l"/>
            <a:r>
              <a:rPr sz="1600" b="1" i="0">
                <a:solidFill>
                  <a:srgbClr val="990014"/>
                </a:solidFill>
                <a:latin typeface="Arial"/>
              </a:rPr>
              <a:t>Hard positives</a:t>
            </a:r>
          </a:p>
        </p:txBody>
      </p:sp>
      <p:sp>
        <p:nvSpPr>
          <p:cNvPr id="13" name="TextBox 12"/>
          <p:cNvSpPr txBox="1"/>
          <p:nvPr/>
        </p:nvSpPr>
        <p:spPr>
          <a:xfrm>
            <a:off x="4937759" y="1920240"/>
            <a:ext cx="3218688" cy="658368"/>
          </a:xfrm>
          <a:prstGeom prst="rect">
            <a:avLst/>
          </a:prstGeom>
          <a:noFill/>
        </p:spPr>
        <p:txBody>
          <a:bodyPr wrap="square" lIns="0" tIns="0" rIns="0" bIns="0" anchor="ctr">
            <a:spAutoFit/>
          </a:bodyPr>
          <a:lstStyle/>
          <a:p>
            <a:pPr algn="ctr"/>
            <a:r>
              <a:rPr sz="1350" b="0" i="0">
                <a:solidFill>
                  <a:srgbClr val="434343"/>
                </a:solidFill>
                <a:latin typeface="Arial"/>
              </a:rPr>
              <a:t>ICFG mINP = 7.93: difficult positives remain far down the ranking.</a:t>
            </a:r>
          </a:p>
        </p:txBody>
      </p:sp>
      <p:sp>
        <p:nvSpPr>
          <p:cNvPr id="14" name="Rounded Rectangle 13"/>
          <p:cNvSpPr/>
          <p:nvPr/>
        </p:nvSpPr>
        <p:spPr>
          <a:xfrm>
            <a:off x="512064" y="3465576"/>
            <a:ext cx="3840480" cy="2084831"/>
          </a:xfrm>
          <a:prstGeom prst="roundRect">
            <a:avLst/>
          </a:prstGeom>
          <a:solidFill>
            <a:srgbClr val="F3F4F6"/>
          </a:solidFill>
          <a:ln w="12700">
            <a:solidFill>
              <a:srgbClr val="E0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40664" y="3712464"/>
            <a:ext cx="411480" cy="411480"/>
          </a:xfrm>
          <a:prstGeom prst="ellipse">
            <a:avLst/>
          </a:prstGeom>
          <a:solidFill>
            <a:srgbClr val="206CAA"/>
          </a:solidFill>
          <a:ln>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0664" y="3712464"/>
            <a:ext cx="411480" cy="411480"/>
          </a:xfrm>
          <a:prstGeom prst="rect">
            <a:avLst/>
          </a:prstGeom>
          <a:noFill/>
        </p:spPr>
        <p:txBody>
          <a:bodyPr wrap="square" lIns="0" tIns="0" rIns="0" bIns="0" anchor="ctr">
            <a:spAutoFit/>
          </a:bodyPr>
          <a:lstStyle/>
          <a:p>
            <a:pPr algn="ctr"/>
            <a:r>
              <a:rPr sz="1500" b="1" i="0">
                <a:solidFill>
                  <a:srgbClr val="FFFFFF"/>
                </a:solidFill>
                <a:latin typeface="Arial"/>
              </a:rPr>
              <a:t>3</a:t>
            </a:r>
          </a:p>
        </p:txBody>
      </p:sp>
      <p:sp>
        <p:nvSpPr>
          <p:cNvPr id="17" name="TextBox 16"/>
          <p:cNvSpPr txBox="1"/>
          <p:nvPr/>
        </p:nvSpPr>
        <p:spPr>
          <a:xfrm>
            <a:off x="1316736" y="3694176"/>
            <a:ext cx="2761488" cy="384048"/>
          </a:xfrm>
          <a:prstGeom prst="rect">
            <a:avLst/>
          </a:prstGeom>
          <a:noFill/>
        </p:spPr>
        <p:txBody>
          <a:bodyPr wrap="square" lIns="0" tIns="0" rIns="0" bIns="0" anchor="ctr">
            <a:spAutoFit/>
          </a:bodyPr>
          <a:lstStyle/>
          <a:p>
            <a:pPr algn="l"/>
            <a:r>
              <a:rPr sz="1600" b="1" i="0">
                <a:solidFill>
                  <a:srgbClr val="990014"/>
                </a:solidFill>
                <a:latin typeface="Arial"/>
              </a:rPr>
              <a:t>Generalization</a:t>
            </a:r>
          </a:p>
        </p:txBody>
      </p:sp>
      <p:sp>
        <p:nvSpPr>
          <p:cNvPr id="18" name="TextBox 17"/>
          <p:cNvSpPr txBox="1"/>
          <p:nvPr/>
        </p:nvSpPr>
        <p:spPr>
          <a:xfrm>
            <a:off x="822960" y="4434840"/>
            <a:ext cx="3218688" cy="658368"/>
          </a:xfrm>
          <a:prstGeom prst="rect">
            <a:avLst/>
          </a:prstGeom>
          <a:noFill/>
        </p:spPr>
        <p:txBody>
          <a:bodyPr wrap="square" lIns="0" tIns="0" rIns="0" bIns="0" anchor="ctr">
            <a:spAutoFit/>
          </a:bodyPr>
          <a:lstStyle/>
          <a:p>
            <a:pPr algn="ctr"/>
            <a:r>
              <a:rPr sz="1350" b="0" i="0">
                <a:solidFill>
                  <a:srgbClr val="434343"/>
                </a:solidFill>
                <a:latin typeface="Arial"/>
              </a:rPr>
              <a:t>No cross-dataset, multilingual, or new-domain evaluation.</a:t>
            </a:r>
          </a:p>
        </p:txBody>
      </p:sp>
      <p:sp>
        <p:nvSpPr>
          <p:cNvPr id="19" name="Rounded Rectangle 18"/>
          <p:cNvSpPr/>
          <p:nvPr/>
        </p:nvSpPr>
        <p:spPr>
          <a:xfrm>
            <a:off x="4626864" y="3465576"/>
            <a:ext cx="3840480" cy="2084831"/>
          </a:xfrm>
          <a:prstGeom prst="roundRect">
            <a:avLst/>
          </a:prstGeom>
          <a:solidFill>
            <a:srgbClr val="F3F4F6"/>
          </a:solidFill>
          <a:ln w="12700">
            <a:solidFill>
              <a:srgbClr val="E0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855464" y="3712464"/>
            <a:ext cx="411480" cy="411480"/>
          </a:xfrm>
          <a:prstGeom prst="ellipse">
            <a:avLst/>
          </a:prstGeom>
          <a:solidFill>
            <a:srgbClr val="318F87"/>
          </a:solidFill>
          <a:ln>
            <a:solidFill>
              <a:srgbClr val="318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55464" y="3712464"/>
            <a:ext cx="411480" cy="411480"/>
          </a:xfrm>
          <a:prstGeom prst="rect">
            <a:avLst/>
          </a:prstGeom>
          <a:noFill/>
        </p:spPr>
        <p:txBody>
          <a:bodyPr wrap="square" lIns="0" tIns="0" rIns="0" bIns="0" anchor="ctr">
            <a:spAutoFit/>
          </a:bodyPr>
          <a:lstStyle/>
          <a:p>
            <a:pPr algn="ctr"/>
            <a:r>
              <a:rPr sz="1500" b="1" i="0">
                <a:solidFill>
                  <a:srgbClr val="FFFFFF"/>
                </a:solidFill>
                <a:latin typeface="Arial"/>
              </a:rPr>
              <a:t>4</a:t>
            </a:r>
          </a:p>
        </p:txBody>
      </p:sp>
      <p:sp>
        <p:nvSpPr>
          <p:cNvPr id="22" name="TextBox 21"/>
          <p:cNvSpPr txBox="1"/>
          <p:nvPr/>
        </p:nvSpPr>
        <p:spPr>
          <a:xfrm>
            <a:off x="5431536" y="3694176"/>
            <a:ext cx="2761488" cy="384048"/>
          </a:xfrm>
          <a:prstGeom prst="rect">
            <a:avLst/>
          </a:prstGeom>
          <a:noFill/>
        </p:spPr>
        <p:txBody>
          <a:bodyPr wrap="square" lIns="0" tIns="0" rIns="0" bIns="0" anchor="ctr">
            <a:spAutoFit/>
          </a:bodyPr>
          <a:lstStyle/>
          <a:p>
            <a:pPr algn="l"/>
            <a:r>
              <a:rPr sz="1600" b="1" i="0">
                <a:solidFill>
                  <a:srgbClr val="990014"/>
                </a:solidFill>
                <a:latin typeface="Arial"/>
              </a:rPr>
              <a:t>Deployment and ethics</a:t>
            </a:r>
          </a:p>
        </p:txBody>
      </p:sp>
      <p:sp>
        <p:nvSpPr>
          <p:cNvPr id="23" name="TextBox 22"/>
          <p:cNvSpPr txBox="1"/>
          <p:nvPr/>
        </p:nvSpPr>
        <p:spPr>
          <a:xfrm>
            <a:off x="4937759" y="4434840"/>
            <a:ext cx="3218688" cy="658368"/>
          </a:xfrm>
          <a:prstGeom prst="rect">
            <a:avLst/>
          </a:prstGeom>
          <a:noFill/>
        </p:spPr>
        <p:txBody>
          <a:bodyPr wrap="square" lIns="0" tIns="0" rIns="0" bIns="0" anchor="ctr">
            <a:spAutoFit/>
          </a:bodyPr>
          <a:lstStyle/>
          <a:p>
            <a:pPr algn="ctr"/>
            <a:r>
              <a:rPr sz="1350" b="0" i="0">
                <a:solidFill>
                  <a:srgbClr val="434343"/>
                </a:solidFill>
                <a:latin typeface="Arial"/>
              </a:rPr>
              <a:t>No ANN benchmark; privacy, bias, and surveillance risks.</a:t>
            </a:r>
          </a:p>
        </p:txBody>
      </p:sp>
      <p:sp>
        <p:nvSpPr>
          <p:cNvPr id="24" name="TextBox 23"/>
          <p:cNvSpPr txBox="1"/>
          <p:nvPr/>
        </p:nvSpPr>
        <p:spPr>
          <a:xfrm>
            <a:off x="1481328" y="5797296"/>
            <a:ext cx="6181344" cy="237744"/>
          </a:xfrm>
          <a:prstGeom prst="rect">
            <a:avLst/>
          </a:prstGeom>
          <a:noFill/>
        </p:spPr>
        <p:txBody>
          <a:bodyPr wrap="square" lIns="0" tIns="0" rIns="0" bIns="0" anchor="t">
            <a:spAutoFit/>
          </a:bodyPr>
          <a:lstStyle/>
          <a:p>
            <a:pPr algn="ctr"/>
            <a:r>
              <a:rPr sz="1100" b="0" i="1">
                <a:solidFill>
                  <a:srgbClr val="696969"/>
                </a:solidFill>
                <a:latin typeface="Arial"/>
              </a:rPr>
              <a:t>(1) is acknowledged by the authors; (2)–(4) are additional critical observations.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4048" y="201168"/>
            <a:ext cx="1234440" cy="365760"/>
          </a:xfrm>
          <a:prstGeom prst="rect">
            <a:avLst/>
          </a:prstGeom>
          <a:noFill/>
        </p:spPr>
        <p:txBody>
          <a:bodyPr wrap="square" lIns="0" tIns="0" rIns="0" bIns="0" anchor="t">
            <a:spAutoFit/>
          </a:bodyPr>
          <a:lstStyle/>
          <a:p>
            <a:pPr algn="l"/>
            <a:r>
              <a:rPr sz="2200" b="1" i="0">
                <a:solidFill>
                  <a:srgbClr val="FFFFFF"/>
                </a:solidFill>
                <a:latin typeface="Arial"/>
              </a:rPr>
              <a:t>HUST</a:t>
            </a:r>
          </a:p>
        </p:txBody>
      </p:sp>
      <p:sp>
        <p:nvSpPr>
          <p:cNvPr id="3" name="TextBox 2"/>
          <p:cNvSpPr txBox="1"/>
          <p:nvPr/>
        </p:nvSpPr>
        <p:spPr>
          <a:xfrm>
            <a:off x="749808" y="493776"/>
            <a:ext cx="7644383" cy="438912"/>
          </a:xfrm>
          <a:prstGeom prst="rect">
            <a:avLst/>
          </a:prstGeom>
          <a:noFill/>
        </p:spPr>
        <p:txBody>
          <a:bodyPr wrap="square" lIns="0" tIns="0" rIns="0" bIns="0" anchor="t">
            <a:spAutoFit/>
          </a:bodyPr>
          <a:lstStyle/>
          <a:p>
            <a:pPr algn="ctr"/>
            <a:r>
              <a:rPr sz="2400" b="1" i="0">
                <a:solidFill>
                  <a:srgbClr val="FFFFFF"/>
                </a:solidFill>
                <a:latin typeface="Arial"/>
              </a:rPr>
              <a:t>THREE KEY TAKEAWAYS</a:t>
            </a:r>
          </a:p>
        </p:txBody>
      </p:sp>
      <p:sp>
        <p:nvSpPr>
          <p:cNvPr id="4" name="Rounded Rectangle 3"/>
          <p:cNvSpPr/>
          <p:nvPr/>
        </p:nvSpPr>
        <p:spPr>
          <a:xfrm>
            <a:off x="566928" y="1298448"/>
            <a:ext cx="2542032" cy="1856231"/>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636776" y="1554480"/>
            <a:ext cx="411480" cy="411480"/>
          </a:xfrm>
          <a:prstGeom prst="ellipse">
            <a:avLst/>
          </a:prstGeom>
          <a:solidFill>
            <a:srgbClr val="C5162B"/>
          </a:solidFill>
          <a:ln>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636776" y="1554480"/>
            <a:ext cx="411480" cy="411480"/>
          </a:xfrm>
          <a:prstGeom prst="rect">
            <a:avLst/>
          </a:prstGeom>
          <a:noFill/>
        </p:spPr>
        <p:txBody>
          <a:bodyPr wrap="square" lIns="0" tIns="0" rIns="0" bIns="0" anchor="ctr">
            <a:spAutoFit/>
          </a:bodyPr>
          <a:lstStyle/>
          <a:p>
            <a:pPr algn="ctr"/>
            <a:r>
              <a:rPr sz="1500" b="1" i="0">
                <a:solidFill>
                  <a:srgbClr val="FFFFFF"/>
                </a:solidFill>
                <a:latin typeface="Arial"/>
              </a:rPr>
              <a:t>1</a:t>
            </a:r>
          </a:p>
        </p:txBody>
      </p:sp>
      <p:sp>
        <p:nvSpPr>
          <p:cNvPr id="7" name="TextBox 6"/>
          <p:cNvSpPr txBox="1"/>
          <p:nvPr/>
        </p:nvSpPr>
        <p:spPr>
          <a:xfrm>
            <a:off x="795528" y="2148840"/>
            <a:ext cx="2084831" cy="329184"/>
          </a:xfrm>
          <a:prstGeom prst="rect">
            <a:avLst/>
          </a:prstGeom>
          <a:noFill/>
        </p:spPr>
        <p:txBody>
          <a:bodyPr wrap="square" lIns="0" tIns="0" rIns="0" bIns="0" anchor="t">
            <a:spAutoFit/>
          </a:bodyPr>
          <a:lstStyle/>
          <a:p>
            <a:pPr algn="ctr"/>
            <a:r>
              <a:rPr sz="1500" b="1" i="0">
                <a:solidFill>
                  <a:srgbClr val="990014"/>
                </a:solidFill>
                <a:latin typeface="Arial"/>
              </a:rPr>
              <a:t>Local relation learning</a:t>
            </a:r>
          </a:p>
        </p:txBody>
      </p:sp>
      <p:sp>
        <p:nvSpPr>
          <p:cNvPr id="8" name="TextBox 7"/>
          <p:cNvSpPr txBox="1"/>
          <p:nvPr/>
        </p:nvSpPr>
        <p:spPr>
          <a:xfrm>
            <a:off x="822960" y="2560320"/>
            <a:ext cx="2029968" cy="384048"/>
          </a:xfrm>
          <a:prstGeom prst="rect">
            <a:avLst/>
          </a:prstGeom>
          <a:noFill/>
        </p:spPr>
        <p:txBody>
          <a:bodyPr wrap="square" lIns="0" tIns="0" rIns="0" bIns="0" anchor="t">
            <a:spAutoFit/>
          </a:bodyPr>
          <a:lstStyle/>
          <a:p>
            <a:pPr algn="ctr"/>
            <a:r>
              <a:rPr sz="1250" b="0" i="0">
                <a:solidFill>
                  <a:srgbClr val="434343"/>
                </a:solidFill>
                <a:latin typeface="Arial"/>
              </a:rPr>
              <a:t>during training; global embeddings at inference</a:t>
            </a:r>
          </a:p>
        </p:txBody>
      </p:sp>
      <p:sp>
        <p:nvSpPr>
          <p:cNvPr id="9" name="Rounded Rectangle 8"/>
          <p:cNvSpPr/>
          <p:nvPr/>
        </p:nvSpPr>
        <p:spPr>
          <a:xfrm>
            <a:off x="3419856" y="1298448"/>
            <a:ext cx="2542032" cy="1856231"/>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489704" y="1554480"/>
            <a:ext cx="411480" cy="411480"/>
          </a:xfrm>
          <a:prstGeom prst="ellipse">
            <a:avLst/>
          </a:prstGeom>
          <a:solidFill>
            <a:srgbClr val="C5162B"/>
          </a:solidFill>
          <a:ln>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9704" y="1554480"/>
            <a:ext cx="411480" cy="411480"/>
          </a:xfrm>
          <a:prstGeom prst="rect">
            <a:avLst/>
          </a:prstGeom>
          <a:noFill/>
        </p:spPr>
        <p:txBody>
          <a:bodyPr wrap="square" lIns="0" tIns="0" rIns="0" bIns="0" anchor="ctr">
            <a:spAutoFit/>
          </a:bodyPr>
          <a:lstStyle/>
          <a:p>
            <a:pPr algn="ctr"/>
            <a:r>
              <a:rPr sz="1500" b="1" i="0">
                <a:solidFill>
                  <a:srgbClr val="FFFFFF"/>
                </a:solidFill>
                <a:latin typeface="Arial"/>
              </a:rPr>
              <a:t>2</a:t>
            </a:r>
          </a:p>
        </p:txBody>
      </p:sp>
      <p:sp>
        <p:nvSpPr>
          <p:cNvPr id="12" name="TextBox 11"/>
          <p:cNvSpPr txBox="1"/>
          <p:nvPr/>
        </p:nvSpPr>
        <p:spPr>
          <a:xfrm>
            <a:off x="3648456" y="2148840"/>
            <a:ext cx="2084831" cy="329184"/>
          </a:xfrm>
          <a:prstGeom prst="rect">
            <a:avLst/>
          </a:prstGeom>
          <a:noFill/>
        </p:spPr>
        <p:txBody>
          <a:bodyPr wrap="square" lIns="0" tIns="0" rIns="0" bIns="0" anchor="t">
            <a:spAutoFit/>
          </a:bodyPr>
          <a:lstStyle/>
          <a:p>
            <a:pPr algn="ctr"/>
            <a:r>
              <a:rPr sz="1500" b="1" i="0">
                <a:solidFill>
                  <a:srgbClr val="990014"/>
                </a:solidFill>
                <a:latin typeface="Arial"/>
              </a:rPr>
              <a:t>IRR + SDM</a:t>
            </a:r>
          </a:p>
        </p:txBody>
      </p:sp>
      <p:sp>
        <p:nvSpPr>
          <p:cNvPr id="13" name="TextBox 12"/>
          <p:cNvSpPr txBox="1"/>
          <p:nvPr/>
        </p:nvSpPr>
        <p:spPr>
          <a:xfrm>
            <a:off x="3675888" y="2560320"/>
            <a:ext cx="2029968" cy="384048"/>
          </a:xfrm>
          <a:prstGeom prst="rect">
            <a:avLst/>
          </a:prstGeom>
          <a:noFill/>
        </p:spPr>
        <p:txBody>
          <a:bodyPr wrap="square" lIns="0" tIns="0" rIns="0" bIns="0" anchor="t">
            <a:spAutoFit/>
          </a:bodyPr>
          <a:lstStyle/>
          <a:p>
            <a:pPr algn="ctr"/>
            <a:r>
              <a:rPr sz="1250" b="0" i="0">
                <a:solidFill>
                  <a:srgbClr val="434343"/>
                </a:solidFill>
                <a:latin typeface="Arial"/>
              </a:rPr>
              <a:t>fine-grained interaction and distribution alignment</a:t>
            </a:r>
          </a:p>
        </p:txBody>
      </p:sp>
      <p:sp>
        <p:nvSpPr>
          <p:cNvPr id="14" name="Rounded Rectangle 13"/>
          <p:cNvSpPr/>
          <p:nvPr/>
        </p:nvSpPr>
        <p:spPr>
          <a:xfrm>
            <a:off x="6272784" y="1298448"/>
            <a:ext cx="2542032" cy="1856231"/>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342632" y="1554480"/>
            <a:ext cx="411480" cy="411480"/>
          </a:xfrm>
          <a:prstGeom prst="ellipse">
            <a:avLst/>
          </a:prstGeom>
          <a:solidFill>
            <a:srgbClr val="C5162B"/>
          </a:solidFill>
          <a:ln>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42632" y="1554480"/>
            <a:ext cx="411480" cy="411480"/>
          </a:xfrm>
          <a:prstGeom prst="rect">
            <a:avLst/>
          </a:prstGeom>
          <a:noFill/>
        </p:spPr>
        <p:txBody>
          <a:bodyPr wrap="square" lIns="0" tIns="0" rIns="0" bIns="0" anchor="ctr">
            <a:spAutoFit/>
          </a:bodyPr>
          <a:lstStyle/>
          <a:p>
            <a:pPr algn="ctr"/>
            <a:r>
              <a:rPr sz="1500" b="1" i="0">
                <a:solidFill>
                  <a:srgbClr val="FFFFFF"/>
                </a:solidFill>
                <a:latin typeface="Arial"/>
              </a:rPr>
              <a:t>3</a:t>
            </a:r>
          </a:p>
        </p:txBody>
      </p:sp>
      <p:sp>
        <p:nvSpPr>
          <p:cNvPr id="17" name="TextBox 16"/>
          <p:cNvSpPr txBox="1"/>
          <p:nvPr/>
        </p:nvSpPr>
        <p:spPr>
          <a:xfrm>
            <a:off x="6501384" y="2148840"/>
            <a:ext cx="2084831" cy="329184"/>
          </a:xfrm>
          <a:prstGeom prst="rect">
            <a:avLst/>
          </a:prstGeom>
          <a:noFill/>
        </p:spPr>
        <p:txBody>
          <a:bodyPr wrap="square" lIns="0" tIns="0" rIns="0" bIns="0" anchor="t">
            <a:spAutoFit/>
          </a:bodyPr>
          <a:lstStyle/>
          <a:p>
            <a:pPr algn="ctr"/>
            <a:r>
              <a:rPr sz="1500" b="1" i="0">
                <a:solidFill>
                  <a:srgbClr val="990014"/>
                </a:solidFill>
                <a:latin typeface="Arial"/>
              </a:rPr>
              <a:t>SOTA at CVPR 2023</a:t>
            </a:r>
          </a:p>
        </p:txBody>
      </p:sp>
      <p:sp>
        <p:nvSpPr>
          <p:cNvPr id="18" name="TextBox 17"/>
          <p:cNvSpPr txBox="1"/>
          <p:nvPr/>
        </p:nvSpPr>
        <p:spPr>
          <a:xfrm>
            <a:off x="6528816" y="2560320"/>
            <a:ext cx="2029968" cy="384048"/>
          </a:xfrm>
          <a:prstGeom prst="rect">
            <a:avLst/>
          </a:prstGeom>
          <a:noFill/>
        </p:spPr>
        <p:txBody>
          <a:bodyPr wrap="square" lIns="0" tIns="0" rIns="0" bIns="0" anchor="t">
            <a:spAutoFit/>
          </a:bodyPr>
          <a:lstStyle/>
          <a:p>
            <a:pPr algn="ctr"/>
            <a:r>
              <a:rPr sz="1250" b="0" i="0">
                <a:solidFill>
                  <a:srgbClr val="434343"/>
                </a:solidFill>
                <a:latin typeface="Arial"/>
              </a:rPr>
              <a:t>on CUHK-PEDES, ICFG-PEDES, and RSTPReid</a:t>
            </a:r>
          </a:p>
        </p:txBody>
      </p:sp>
      <p:sp>
        <p:nvSpPr>
          <p:cNvPr id="19" name="TextBox 18"/>
          <p:cNvSpPr txBox="1"/>
          <p:nvPr/>
        </p:nvSpPr>
        <p:spPr>
          <a:xfrm>
            <a:off x="777240" y="3493008"/>
            <a:ext cx="7589520" cy="310896"/>
          </a:xfrm>
          <a:prstGeom prst="rect">
            <a:avLst/>
          </a:prstGeom>
          <a:noFill/>
        </p:spPr>
        <p:txBody>
          <a:bodyPr wrap="square" lIns="0" tIns="0" rIns="0" bIns="0" anchor="t">
            <a:spAutoFit/>
          </a:bodyPr>
          <a:lstStyle/>
          <a:p>
            <a:pPr algn="ctr"/>
            <a:r>
              <a:rPr sz="1700" b="1" i="0">
                <a:solidFill>
                  <a:srgbClr val="FFFFFF"/>
                </a:solidFill>
                <a:latin typeface="Arial"/>
              </a:rPr>
              <a:t>POTENTIAL EXTENSIONS</a:t>
            </a:r>
          </a:p>
        </p:txBody>
      </p:sp>
      <p:sp>
        <p:nvSpPr>
          <p:cNvPr id="20" name="TextBox 19"/>
          <p:cNvSpPr txBox="1"/>
          <p:nvPr/>
        </p:nvSpPr>
        <p:spPr>
          <a:xfrm>
            <a:off x="777240" y="3886200"/>
            <a:ext cx="7589520" cy="310896"/>
          </a:xfrm>
          <a:prstGeom prst="rect">
            <a:avLst/>
          </a:prstGeom>
          <a:noFill/>
        </p:spPr>
        <p:txBody>
          <a:bodyPr wrap="square" lIns="0" tIns="0" rIns="0" bIns="0" anchor="t">
            <a:spAutoFit/>
          </a:bodyPr>
          <a:lstStyle/>
          <a:p>
            <a:pPr algn="ctr"/>
            <a:r>
              <a:rPr sz="1400" b="1" i="0">
                <a:solidFill>
                  <a:srgbClr val="FFFFFF"/>
                </a:solidFill>
                <a:latin typeface="Arial"/>
              </a:rPr>
              <a:t>Phrase masking  •  hard-sample mining  •  multilingual retrieval  •  vector databases</a:t>
            </a:r>
          </a:p>
        </p:txBody>
      </p:sp>
      <p:sp>
        <p:nvSpPr>
          <p:cNvPr id="21" name="TextBox 20"/>
          <p:cNvSpPr txBox="1"/>
          <p:nvPr/>
        </p:nvSpPr>
        <p:spPr>
          <a:xfrm>
            <a:off x="1371600" y="4828032"/>
            <a:ext cx="6400800" cy="685800"/>
          </a:xfrm>
          <a:prstGeom prst="rect">
            <a:avLst/>
          </a:prstGeom>
          <a:noFill/>
        </p:spPr>
        <p:txBody>
          <a:bodyPr wrap="square" lIns="0" tIns="0" rIns="0" bIns="0" anchor="t">
            <a:spAutoFit/>
          </a:bodyPr>
          <a:lstStyle/>
          <a:p>
            <a:pPr algn="ctr"/>
            <a:r>
              <a:rPr sz="3400" b="1" i="0">
                <a:solidFill>
                  <a:srgbClr val="FFFFFF"/>
                </a:solidFill>
                <a:latin typeface="Arial"/>
              </a:rPr>
              <a:t>THANK YOU • Q&amp;A</a:t>
            </a:r>
          </a:p>
        </p:txBody>
      </p:sp>
      <p:sp>
        <p:nvSpPr>
          <p:cNvPr id="22" name="TextBox 21"/>
          <p:cNvSpPr txBox="1"/>
          <p:nvPr/>
        </p:nvSpPr>
        <p:spPr>
          <a:xfrm>
            <a:off x="2377440" y="5632704"/>
            <a:ext cx="4389120" cy="310896"/>
          </a:xfrm>
          <a:prstGeom prst="rect">
            <a:avLst/>
          </a:prstGeom>
          <a:noFill/>
        </p:spPr>
        <p:txBody>
          <a:bodyPr wrap="square" lIns="0" tIns="0" rIns="0" bIns="0" anchor="t">
            <a:spAutoFit/>
          </a:bodyPr>
          <a:lstStyle/>
          <a:p>
            <a:pPr algn="ctr"/>
            <a:r>
              <a:rPr sz="1300" b="0" i="0">
                <a:solidFill>
                  <a:srgbClr val="FFFFFF"/>
                </a:solidFill>
                <a:latin typeface="Arial"/>
              </a:rPr>
              <a:t>[FULL NAME – STUDENT ID – GROUP]</a:t>
            </a:r>
          </a:p>
        </p:txBody>
      </p:sp>
      <p:sp>
        <p:nvSpPr>
          <p:cNvPr id="23" name="TextBox 22"/>
          <p:cNvSpPr txBox="1"/>
          <p:nvPr/>
        </p:nvSpPr>
        <p:spPr>
          <a:xfrm>
            <a:off x="3017520" y="6327648"/>
            <a:ext cx="3108960" cy="256032"/>
          </a:xfrm>
          <a:prstGeom prst="rect">
            <a:avLst/>
          </a:prstGeom>
          <a:noFill/>
        </p:spPr>
        <p:txBody>
          <a:bodyPr wrap="square" lIns="0" tIns="0" rIns="0" bIns="0" anchor="t">
            <a:spAutoFit/>
          </a:bodyPr>
          <a:lstStyle/>
          <a:p>
            <a:pPr algn="ctr"/>
            <a:r>
              <a:rPr sz="1200" b="1" i="0">
                <a:solidFill>
                  <a:srgbClr val="FFFFFF"/>
                </a:solidFill>
                <a:latin typeface="Arial"/>
              </a:rPr>
              <a:t>ONE LOVE. ONE FUTURE.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300" b="1" i="0">
                <a:solidFill>
                  <a:srgbClr val="FFFFFF"/>
                </a:solidFill>
                <a:latin typeface="Arial"/>
              </a:rPr>
              <a:t>Appendix A — SDM vs. InfoNCE and CMPM</a:t>
            </a:r>
          </a:p>
        </p:txBody>
      </p:sp>
      <p:sp>
        <p:nvSpPr>
          <p:cNvPr id="3" name="TextBox 2"/>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A1</a:t>
            </a:r>
          </a:p>
        </p:txBody>
      </p:sp>
      <p:graphicFrame>
        <p:nvGraphicFramePr>
          <p:cNvPr id="4" name="Table 3"/>
          <p:cNvGraphicFramePr>
            <a:graphicFrameLocks noGrp="1"/>
          </p:cNvGraphicFramePr>
          <p:nvPr/>
        </p:nvGraphicFramePr>
        <p:xfrm>
          <a:off x="548640" y="1234440"/>
          <a:ext cx="8046719" cy="3383280"/>
        </p:xfrm>
        <a:graphic>
          <a:graphicData uri="http://schemas.openxmlformats.org/drawingml/2006/table">
            <a:tbl>
              <a:tblPr firstRow="1" bandRow="1">
                <a:tableStyleId>{5C22544A-7EE6-4342-B048-85BDC9FD1C3A}</a:tableStyleId>
              </a:tblPr>
              <a:tblGrid>
                <a:gridCol w="1360842">
                  <a:extLst>
                    <a:ext uri="{9D8B030D-6E8A-4147-A177-3AD203B41FA5}">
                      <a16:colId xmlns:a16="http://schemas.microsoft.com/office/drawing/2014/main" val="20000"/>
                    </a:ext>
                  </a:extLst>
                </a:gridCol>
                <a:gridCol w="3076687">
                  <a:extLst>
                    <a:ext uri="{9D8B030D-6E8A-4147-A177-3AD203B41FA5}">
                      <a16:colId xmlns:a16="http://schemas.microsoft.com/office/drawing/2014/main" val="20001"/>
                    </a:ext>
                  </a:extLst>
                </a:gridCol>
                <a:gridCol w="3609190">
                  <a:extLst>
                    <a:ext uri="{9D8B030D-6E8A-4147-A177-3AD203B41FA5}">
                      <a16:colId xmlns:a16="http://schemas.microsoft.com/office/drawing/2014/main" val="20002"/>
                    </a:ext>
                  </a:extLst>
                </a:gridCol>
              </a:tblGrid>
              <a:tr h="845820">
                <a:tc>
                  <a:txBody>
                    <a:bodyPr/>
                    <a:lstStyle/>
                    <a:p>
                      <a:pPr algn="l"/>
                      <a:r>
                        <a:rPr sz="1250" b="1">
                          <a:solidFill>
                            <a:srgbClr val="FFFFFF"/>
                          </a:solidFill>
                          <a:latin typeface="Arial"/>
                        </a:rPr>
                        <a:t>Loss</a:t>
                      </a:r>
                    </a:p>
                  </a:txBody>
                  <a:tcPr marL="45720" marR="45720" marT="36576" marB="36576">
                    <a:solidFill>
                      <a:srgbClr val="C5162B"/>
                    </a:solidFill>
                  </a:tcPr>
                </a:tc>
                <a:tc>
                  <a:txBody>
                    <a:bodyPr/>
                    <a:lstStyle/>
                    <a:p>
                      <a:pPr algn="ctr"/>
                      <a:r>
                        <a:rPr sz="1250" b="1">
                          <a:solidFill>
                            <a:srgbClr val="FFFFFF"/>
                          </a:solidFill>
                          <a:latin typeface="Arial"/>
                        </a:rPr>
                        <a:t>Primary signal</a:t>
                      </a:r>
                    </a:p>
                  </a:txBody>
                  <a:tcPr marL="45720" marR="45720" marT="36576" marB="36576">
                    <a:solidFill>
                      <a:srgbClr val="C5162B"/>
                    </a:solidFill>
                  </a:tcPr>
                </a:tc>
                <a:tc>
                  <a:txBody>
                    <a:bodyPr/>
                    <a:lstStyle/>
                    <a:p>
                      <a:pPr algn="ctr"/>
                      <a:r>
                        <a:rPr sz="1250" b="1">
                          <a:solidFill>
                            <a:srgbClr val="FFFFFF"/>
                          </a:solidFill>
                          <a:latin typeface="Arial"/>
                        </a:rPr>
                        <a:t>Key observation</a:t>
                      </a:r>
                    </a:p>
                  </a:txBody>
                  <a:tcPr marL="45720" marR="45720" marT="36576" marB="36576">
                    <a:solidFill>
                      <a:srgbClr val="C5162B"/>
                    </a:solidFill>
                  </a:tcPr>
                </a:tc>
                <a:extLst>
                  <a:ext uri="{0D108BD9-81ED-4DB2-BD59-A6C34878D82A}">
                    <a16:rowId xmlns:a16="http://schemas.microsoft.com/office/drawing/2014/main" val="10000"/>
                  </a:ext>
                </a:extLst>
              </a:tr>
              <a:tr h="845820">
                <a:tc>
                  <a:txBody>
                    <a:bodyPr/>
                    <a:lstStyle/>
                    <a:p>
                      <a:pPr algn="l"/>
                      <a:r>
                        <a:rPr sz="1300" b="1">
                          <a:solidFill>
                            <a:srgbClr val="232323"/>
                          </a:solidFill>
                          <a:latin typeface="Arial"/>
                        </a:rPr>
                        <a:t>InfoNCE</a:t>
                      </a:r>
                    </a:p>
                  </a:txBody>
                  <a:tcPr marL="45720" marR="45720" marT="36576" marB="36576">
                    <a:solidFill>
                      <a:srgbClr val="FFFFFF"/>
                    </a:solidFill>
                  </a:tcPr>
                </a:tc>
                <a:tc>
                  <a:txBody>
                    <a:bodyPr/>
                    <a:lstStyle/>
                    <a:p>
                      <a:pPr algn="ctr"/>
                      <a:r>
                        <a:rPr sz="1300" b="0">
                          <a:solidFill>
                            <a:srgbClr val="232323"/>
                          </a:solidFill>
                          <a:latin typeface="Arial"/>
                        </a:rPr>
                        <a:t>Positive pair contrasted with negatives</a:t>
                      </a:r>
                    </a:p>
                  </a:txBody>
                  <a:tcPr marL="45720" marR="45720" marT="36576" marB="36576">
                    <a:solidFill>
                      <a:srgbClr val="FFFFFF"/>
                    </a:solidFill>
                  </a:tcPr>
                </a:tc>
                <a:tc>
                  <a:txBody>
                    <a:bodyPr/>
                    <a:lstStyle/>
                    <a:p>
                      <a:pPr algn="ctr"/>
                      <a:r>
                        <a:rPr sz="1300" b="0">
                          <a:solidFill>
                            <a:srgbClr val="232323"/>
                          </a:solidFill>
                          <a:latin typeface="Arial"/>
                        </a:rPr>
                        <a:t>The CLIP baseline is already strong</a:t>
                      </a:r>
                    </a:p>
                  </a:txBody>
                  <a:tcPr marL="45720" marR="45720" marT="36576" marB="36576">
                    <a:solidFill>
                      <a:srgbClr val="FFFFFF"/>
                    </a:solidFill>
                  </a:tcPr>
                </a:tc>
                <a:extLst>
                  <a:ext uri="{0D108BD9-81ED-4DB2-BD59-A6C34878D82A}">
                    <a16:rowId xmlns:a16="http://schemas.microsoft.com/office/drawing/2014/main" val="10001"/>
                  </a:ext>
                </a:extLst>
              </a:tr>
              <a:tr h="845820">
                <a:tc>
                  <a:txBody>
                    <a:bodyPr/>
                    <a:lstStyle/>
                    <a:p>
                      <a:pPr algn="l"/>
                      <a:r>
                        <a:rPr sz="1300" b="1">
                          <a:solidFill>
                            <a:srgbClr val="232323"/>
                          </a:solidFill>
                          <a:latin typeface="Arial"/>
                        </a:rPr>
                        <a:t>CMPM</a:t>
                      </a:r>
                    </a:p>
                  </a:txBody>
                  <a:tcPr marL="45720" marR="45720" marT="36576" marB="36576">
                    <a:solidFill>
                      <a:srgbClr val="F3F4F6"/>
                    </a:solidFill>
                  </a:tcPr>
                </a:tc>
                <a:tc>
                  <a:txBody>
                    <a:bodyPr/>
                    <a:lstStyle/>
                    <a:p>
                      <a:pPr algn="ctr"/>
                      <a:r>
                        <a:rPr sz="1300" b="0">
                          <a:solidFill>
                            <a:srgbClr val="232323"/>
                          </a:solidFill>
                          <a:latin typeface="Arial"/>
                        </a:rPr>
                        <a:t>Projection matching</a:t>
                      </a:r>
                    </a:p>
                  </a:txBody>
                  <a:tcPr marL="45720" marR="45720" marT="36576" marB="36576">
                    <a:solidFill>
                      <a:srgbClr val="F3F4F6"/>
                    </a:solidFill>
                  </a:tcPr>
                </a:tc>
                <a:tc>
                  <a:txBody>
                    <a:bodyPr/>
                    <a:lstStyle/>
                    <a:p>
                      <a:pPr algn="ctr"/>
                      <a:r>
                        <a:rPr sz="1300" b="0">
                          <a:solidFill>
                            <a:srgbClr val="232323"/>
                          </a:solidFill>
                          <a:latin typeface="Arial"/>
                        </a:rPr>
                        <a:t>Variable scale; distribution sharpness is harder to control</a:t>
                      </a:r>
                    </a:p>
                  </a:txBody>
                  <a:tcPr marL="45720" marR="45720" marT="36576" marB="36576">
                    <a:solidFill>
                      <a:srgbClr val="F3F4F6"/>
                    </a:solidFill>
                  </a:tcPr>
                </a:tc>
                <a:extLst>
                  <a:ext uri="{0D108BD9-81ED-4DB2-BD59-A6C34878D82A}">
                    <a16:rowId xmlns:a16="http://schemas.microsoft.com/office/drawing/2014/main" val="10002"/>
                  </a:ext>
                </a:extLst>
              </a:tr>
              <a:tr h="845820">
                <a:tc>
                  <a:txBody>
                    <a:bodyPr/>
                    <a:lstStyle/>
                    <a:p>
                      <a:pPr algn="l"/>
                      <a:r>
                        <a:rPr sz="1300" b="1">
                          <a:solidFill>
                            <a:srgbClr val="232323"/>
                          </a:solidFill>
                          <a:latin typeface="Arial"/>
                        </a:rPr>
                        <a:t>SDM</a:t>
                      </a:r>
                    </a:p>
                  </a:txBody>
                  <a:tcPr marL="45720" marR="45720" marT="36576" marB="36576">
                    <a:solidFill>
                      <a:srgbClr val="FFFFFF"/>
                    </a:solidFill>
                  </a:tcPr>
                </a:tc>
                <a:tc>
                  <a:txBody>
                    <a:bodyPr/>
                    <a:lstStyle/>
                    <a:p>
                      <a:pPr algn="ctr"/>
                      <a:r>
                        <a:rPr sz="1300" b="0">
                          <a:solidFill>
                            <a:srgbClr val="232323"/>
                          </a:solidFill>
                          <a:latin typeface="Arial"/>
                        </a:rPr>
                        <a:t>KL between similarity and label distributions</a:t>
                      </a:r>
                    </a:p>
                  </a:txBody>
                  <a:tcPr marL="45720" marR="45720" marT="36576" marB="36576">
                    <a:solidFill>
                      <a:srgbClr val="FFFFFF"/>
                    </a:solidFill>
                  </a:tcPr>
                </a:tc>
                <a:tc>
                  <a:txBody>
                    <a:bodyPr/>
                    <a:lstStyle/>
                    <a:p>
                      <a:pPr algn="ctr"/>
                      <a:r>
                        <a:rPr sz="1300" b="0">
                          <a:solidFill>
                            <a:srgbClr val="232323"/>
                          </a:solidFill>
                          <a:latin typeface="Arial"/>
                        </a:rPr>
                        <a:t>Temperature control; multiple positives per identity</a:t>
                      </a:r>
                    </a:p>
                  </a:txBody>
                  <a:tcPr marL="45720" marR="45720" marT="36576" marB="36576">
                    <a:solidFill>
                      <a:srgbClr val="FFFFFF"/>
                    </a:solidFill>
                  </a:tcPr>
                </a:tc>
                <a:extLst>
                  <a:ext uri="{0D108BD9-81ED-4DB2-BD59-A6C34878D82A}">
                    <a16:rowId xmlns:a16="http://schemas.microsoft.com/office/drawing/2014/main" val="10003"/>
                  </a:ext>
                </a:extLst>
              </a:tr>
            </a:tbl>
          </a:graphicData>
        </a:graphic>
      </p:graphicFrame>
      <p:sp>
        <p:nvSpPr>
          <p:cNvPr id="5" name="Rounded Rectangle 4"/>
          <p:cNvSpPr/>
          <p:nvPr/>
        </p:nvSpPr>
        <p:spPr>
          <a:xfrm>
            <a:off x="1005840" y="4965192"/>
            <a:ext cx="7132320" cy="822960"/>
          </a:xfrm>
          <a:prstGeom prst="roundRect">
            <a:avLst/>
          </a:prstGeom>
          <a:solidFill>
            <a:srgbClr val="FDEBEB"/>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43584" y="5193792"/>
            <a:ext cx="6656832" cy="320040"/>
          </a:xfrm>
          <a:prstGeom prst="rect">
            <a:avLst/>
          </a:prstGeom>
          <a:noFill/>
        </p:spPr>
        <p:txBody>
          <a:bodyPr wrap="square" lIns="0" tIns="0" rIns="0" bIns="0" anchor="t">
            <a:spAutoFit/>
          </a:bodyPr>
          <a:lstStyle/>
          <a:p>
            <a:pPr algn="ctr"/>
            <a:r>
              <a:rPr sz="1450" b="1" i="0">
                <a:solidFill>
                  <a:srgbClr val="990014"/>
                </a:solidFill>
                <a:latin typeface="Arial"/>
              </a:rPr>
              <a:t>SDM optimizes each row and column of the similarity matrix—not only one diagonal positive pair.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300" b="1" i="0">
                <a:solidFill>
                  <a:srgbClr val="FFFFFF"/>
                </a:solidFill>
                <a:latin typeface="Arial"/>
              </a:rPr>
              <a:t>Appendix B — Complete Results</a:t>
            </a:r>
          </a:p>
        </p:txBody>
      </p:sp>
      <p:sp>
        <p:nvSpPr>
          <p:cNvPr id="3" name="TextBox 2"/>
          <p:cNvSpPr txBox="1"/>
          <p:nvPr/>
        </p:nvSpPr>
        <p:spPr>
          <a:xfrm>
            <a:off x="658368" y="6236208"/>
            <a:ext cx="7726679" cy="182880"/>
          </a:xfrm>
          <a:prstGeom prst="rect">
            <a:avLst/>
          </a:prstGeom>
          <a:noFill/>
        </p:spPr>
        <p:txBody>
          <a:bodyPr wrap="square" lIns="0" tIns="0" rIns="0" bIns="0" anchor="t">
            <a:spAutoFit/>
          </a:bodyPr>
          <a:lstStyle/>
          <a:p>
            <a:pPr algn="l"/>
            <a:r>
              <a:rPr sz="750" b="0" i="1">
                <a:solidFill>
                  <a:srgbClr val="696969"/>
                </a:solidFill>
                <a:latin typeface="Arial"/>
              </a:rPr>
              <a:t>Version note: CUHK R5 differs between Table 1 (89.93) and Table 4 (89.83)</a:t>
            </a:r>
          </a:p>
        </p:txBody>
      </p:sp>
      <p:sp>
        <p:nvSpPr>
          <p:cNvPr id="4" name="TextBox 3"/>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A2</a:t>
            </a:r>
          </a:p>
        </p:txBody>
      </p:sp>
      <p:graphicFrame>
        <p:nvGraphicFramePr>
          <p:cNvPr id="5" name="Table 4"/>
          <p:cNvGraphicFramePr>
            <a:graphicFrameLocks noGrp="1"/>
          </p:cNvGraphicFramePr>
          <p:nvPr/>
        </p:nvGraphicFramePr>
        <p:xfrm>
          <a:off x="676656" y="1325880"/>
          <a:ext cx="7790684" cy="3246120"/>
        </p:xfrm>
        <a:graphic>
          <a:graphicData uri="http://schemas.openxmlformats.org/drawingml/2006/table">
            <a:tbl>
              <a:tblPr firstRow="1" bandRow="1">
                <a:tableStyleId>{5C22544A-7EE6-4342-B048-85BDC9FD1C3A}</a:tableStyleId>
              </a:tblPr>
              <a:tblGrid>
                <a:gridCol w="2268503">
                  <a:extLst>
                    <a:ext uri="{9D8B030D-6E8A-4147-A177-3AD203B41FA5}">
                      <a16:colId xmlns:a16="http://schemas.microsoft.com/office/drawing/2014/main" val="20000"/>
                    </a:ext>
                  </a:extLst>
                </a:gridCol>
                <a:gridCol w="1062955">
                  <a:extLst>
                    <a:ext uri="{9D8B030D-6E8A-4147-A177-3AD203B41FA5}">
                      <a16:colId xmlns:a16="http://schemas.microsoft.com/office/drawing/2014/main" val="20001"/>
                    </a:ext>
                  </a:extLst>
                </a:gridCol>
                <a:gridCol w="1062955">
                  <a:extLst>
                    <a:ext uri="{9D8B030D-6E8A-4147-A177-3AD203B41FA5}">
                      <a16:colId xmlns:a16="http://schemas.microsoft.com/office/drawing/2014/main" val="20002"/>
                    </a:ext>
                  </a:extLst>
                </a:gridCol>
                <a:gridCol w="1062955">
                  <a:extLst>
                    <a:ext uri="{9D8B030D-6E8A-4147-A177-3AD203B41FA5}">
                      <a16:colId xmlns:a16="http://schemas.microsoft.com/office/drawing/2014/main" val="20003"/>
                    </a:ext>
                  </a:extLst>
                </a:gridCol>
                <a:gridCol w="1166658">
                  <a:extLst>
                    <a:ext uri="{9D8B030D-6E8A-4147-A177-3AD203B41FA5}">
                      <a16:colId xmlns:a16="http://schemas.microsoft.com/office/drawing/2014/main" val="20004"/>
                    </a:ext>
                  </a:extLst>
                </a:gridCol>
                <a:gridCol w="1166658">
                  <a:extLst>
                    <a:ext uri="{9D8B030D-6E8A-4147-A177-3AD203B41FA5}">
                      <a16:colId xmlns:a16="http://schemas.microsoft.com/office/drawing/2014/main" val="20005"/>
                    </a:ext>
                  </a:extLst>
                </a:gridCol>
              </a:tblGrid>
              <a:tr h="811530">
                <a:tc>
                  <a:txBody>
                    <a:bodyPr/>
                    <a:lstStyle/>
                    <a:p>
                      <a:pPr algn="l"/>
                      <a:r>
                        <a:rPr sz="1350" b="1">
                          <a:solidFill>
                            <a:srgbClr val="FFFFFF"/>
                          </a:solidFill>
                          <a:latin typeface="Arial"/>
                        </a:rPr>
                        <a:t>Dataset</a:t>
                      </a:r>
                    </a:p>
                  </a:txBody>
                  <a:tcPr marL="45720" marR="45720" marT="36576" marB="36576">
                    <a:solidFill>
                      <a:srgbClr val="C5162B"/>
                    </a:solidFill>
                  </a:tcPr>
                </a:tc>
                <a:tc>
                  <a:txBody>
                    <a:bodyPr/>
                    <a:lstStyle/>
                    <a:p>
                      <a:pPr algn="ctr"/>
                      <a:r>
                        <a:rPr sz="1350" b="1">
                          <a:solidFill>
                            <a:srgbClr val="FFFFFF"/>
                          </a:solidFill>
                          <a:latin typeface="Arial"/>
                        </a:rPr>
                        <a:t>R1</a:t>
                      </a:r>
                    </a:p>
                  </a:txBody>
                  <a:tcPr marL="45720" marR="45720" marT="36576" marB="36576">
                    <a:solidFill>
                      <a:srgbClr val="C5162B"/>
                    </a:solidFill>
                  </a:tcPr>
                </a:tc>
                <a:tc>
                  <a:txBody>
                    <a:bodyPr/>
                    <a:lstStyle/>
                    <a:p>
                      <a:pPr algn="ctr"/>
                      <a:r>
                        <a:rPr sz="1350" b="1">
                          <a:solidFill>
                            <a:srgbClr val="FFFFFF"/>
                          </a:solidFill>
                          <a:latin typeface="Arial"/>
                        </a:rPr>
                        <a:t>R5</a:t>
                      </a:r>
                    </a:p>
                  </a:txBody>
                  <a:tcPr marL="45720" marR="45720" marT="36576" marB="36576">
                    <a:solidFill>
                      <a:srgbClr val="C5162B"/>
                    </a:solidFill>
                  </a:tcPr>
                </a:tc>
                <a:tc>
                  <a:txBody>
                    <a:bodyPr/>
                    <a:lstStyle/>
                    <a:p>
                      <a:pPr algn="ctr"/>
                      <a:r>
                        <a:rPr sz="1350" b="1">
                          <a:solidFill>
                            <a:srgbClr val="FFFFFF"/>
                          </a:solidFill>
                          <a:latin typeface="Arial"/>
                        </a:rPr>
                        <a:t>R10</a:t>
                      </a:r>
                    </a:p>
                  </a:txBody>
                  <a:tcPr marL="45720" marR="45720" marT="36576" marB="36576">
                    <a:solidFill>
                      <a:srgbClr val="C5162B"/>
                    </a:solidFill>
                  </a:tcPr>
                </a:tc>
                <a:tc>
                  <a:txBody>
                    <a:bodyPr/>
                    <a:lstStyle/>
                    <a:p>
                      <a:pPr algn="ctr"/>
                      <a:r>
                        <a:rPr sz="1350" b="1">
                          <a:solidFill>
                            <a:srgbClr val="FFFFFF"/>
                          </a:solidFill>
                          <a:latin typeface="Arial"/>
                        </a:rPr>
                        <a:t>mAP</a:t>
                      </a:r>
                    </a:p>
                  </a:txBody>
                  <a:tcPr marL="45720" marR="45720" marT="36576" marB="36576">
                    <a:solidFill>
                      <a:srgbClr val="C5162B"/>
                    </a:solidFill>
                  </a:tcPr>
                </a:tc>
                <a:tc>
                  <a:txBody>
                    <a:bodyPr/>
                    <a:lstStyle/>
                    <a:p>
                      <a:pPr algn="ctr"/>
                      <a:r>
                        <a:rPr sz="1350" b="1">
                          <a:solidFill>
                            <a:srgbClr val="FFFFFF"/>
                          </a:solidFill>
                          <a:latin typeface="Arial"/>
                        </a:rPr>
                        <a:t>mINP</a:t>
                      </a:r>
                    </a:p>
                  </a:txBody>
                  <a:tcPr marL="45720" marR="45720" marT="36576" marB="36576">
                    <a:solidFill>
                      <a:srgbClr val="C5162B"/>
                    </a:solidFill>
                  </a:tcPr>
                </a:tc>
                <a:extLst>
                  <a:ext uri="{0D108BD9-81ED-4DB2-BD59-A6C34878D82A}">
                    <a16:rowId xmlns:a16="http://schemas.microsoft.com/office/drawing/2014/main" val="10000"/>
                  </a:ext>
                </a:extLst>
              </a:tr>
              <a:tr h="811530">
                <a:tc>
                  <a:txBody>
                    <a:bodyPr/>
                    <a:lstStyle/>
                    <a:p>
                      <a:pPr algn="l"/>
                      <a:r>
                        <a:rPr sz="1400" b="1">
                          <a:solidFill>
                            <a:srgbClr val="232323"/>
                          </a:solidFill>
                          <a:latin typeface="Arial"/>
                        </a:rPr>
                        <a:t>CUHK-PEDES</a:t>
                      </a:r>
                    </a:p>
                  </a:txBody>
                  <a:tcPr marL="45720" marR="45720" marT="36576" marB="36576">
                    <a:solidFill>
                      <a:srgbClr val="FFFFFF"/>
                    </a:solidFill>
                  </a:tcPr>
                </a:tc>
                <a:tc>
                  <a:txBody>
                    <a:bodyPr/>
                    <a:lstStyle/>
                    <a:p>
                      <a:pPr algn="ctr"/>
                      <a:r>
                        <a:rPr sz="1400" b="0">
                          <a:solidFill>
                            <a:srgbClr val="232323"/>
                          </a:solidFill>
                          <a:latin typeface="Arial"/>
                        </a:rPr>
                        <a:t>73.38</a:t>
                      </a:r>
                    </a:p>
                  </a:txBody>
                  <a:tcPr marL="45720" marR="45720" marT="36576" marB="36576">
                    <a:solidFill>
                      <a:srgbClr val="FFFFFF"/>
                    </a:solidFill>
                  </a:tcPr>
                </a:tc>
                <a:tc>
                  <a:txBody>
                    <a:bodyPr/>
                    <a:lstStyle/>
                    <a:p>
                      <a:pPr algn="ctr"/>
                      <a:r>
                        <a:rPr sz="1400" b="0">
                          <a:solidFill>
                            <a:srgbClr val="232323"/>
                          </a:solidFill>
                          <a:latin typeface="Arial"/>
                        </a:rPr>
                        <a:t>89.93</a:t>
                      </a:r>
                    </a:p>
                  </a:txBody>
                  <a:tcPr marL="45720" marR="45720" marT="36576" marB="36576">
                    <a:solidFill>
                      <a:srgbClr val="FFFFFF"/>
                    </a:solidFill>
                  </a:tcPr>
                </a:tc>
                <a:tc>
                  <a:txBody>
                    <a:bodyPr/>
                    <a:lstStyle/>
                    <a:p>
                      <a:pPr algn="ctr"/>
                      <a:r>
                        <a:rPr sz="1400" b="0">
                          <a:solidFill>
                            <a:srgbClr val="232323"/>
                          </a:solidFill>
                          <a:latin typeface="Arial"/>
                        </a:rPr>
                        <a:t>93.71</a:t>
                      </a:r>
                    </a:p>
                  </a:txBody>
                  <a:tcPr marL="45720" marR="45720" marT="36576" marB="36576">
                    <a:solidFill>
                      <a:srgbClr val="FFFFFF"/>
                    </a:solidFill>
                  </a:tcPr>
                </a:tc>
                <a:tc>
                  <a:txBody>
                    <a:bodyPr/>
                    <a:lstStyle/>
                    <a:p>
                      <a:pPr algn="ctr"/>
                      <a:r>
                        <a:rPr sz="1400" b="0">
                          <a:solidFill>
                            <a:srgbClr val="232323"/>
                          </a:solidFill>
                          <a:latin typeface="Arial"/>
                        </a:rPr>
                        <a:t>66.13</a:t>
                      </a:r>
                    </a:p>
                  </a:txBody>
                  <a:tcPr marL="45720" marR="45720" marT="36576" marB="36576">
                    <a:solidFill>
                      <a:srgbClr val="FFFFFF"/>
                    </a:solidFill>
                  </a:tcPr>
                </a:tc>
                <a:tc>
                  <a:txBody>
                    <a:bodyPr/>
                    <a:lstStyle/>
                    <a:p>
                      <a:pPr algn="ctr"/>
                      <a:r>
                        <a:rPr sz="1400" b="0">
                          <a:solidFill>
                            <a:srgbClr val="232323"/>
                          </a:solidFill>
                          <a:latin typeface="Arial"/>
                        </a:rPr>
                        <a:t>50.24</a:t>
                      </a:r>
                    </a:p>
                  </a:txBody>
                  <a:tcPr marL="45720" marR="45720" marT="36576" marB="36576">
                    <a:solidFill>
                      <a:srgbClr val="FFFFFF"/>
                    </a:solidFill>
                  </a:tcPr>
                </a:tc>
                <a:extLst>
                  <a:ext uri="{0D108BD9-81ED-4DB2-BD59-A6C34878D82A}">
                    <a16:rowId xmlns:a16="http://schemas.microsoft.com/office/drawing/2014/main" val="10001"/>
                  </a:ext>
                </a:extLst>
              </a:tr>
              <a:tr h="811530">
                <a:tc>
                  <a:txBody>
                    <a:bodyPr/>
                    <a:lstStyle/>
                    <a:p>
                      <a:pPr algn="l"/>
                      <a:r>
                        <a:rPr sz="1400" b="1">
                          <a:solidFill>
                            <a:srgbClr val="232323"/>
                          </a:solidFill>
                          <a:latin typeface="Arial"/>
                        </a:rPr>
                        <a:t>ICFG-PEDES</a:t>
                      </a:r>
                    </a:p>
                  </a:txBody>
                  <a:tcPr marL="45720" marR="45720" marT="36576" marB="36576">
                    <a:solidFill>
                      <a:srgbClr val="F3F4F6"/>
                    </a:solidFill>
                  </a:tcPr>
                </a:tc>
                <a:tc>
                  <a:txBody>
                    <a:bodyPr/>
                    <a:lstStyle/>
                    <a:p>
                      <a:pPr algn="ctr"/>
                      <a:r>
                        <a:rPr sz="1400" b="0">
                          <a:solidFill>
                            <a:srgbClr val="232323"/>
                          </a:solidFill>
                          <a:latin typeface="Arial"/>
                        </a:rPr>
                        <a:t>63.46</a:t>
                      </a:r>
                    </a:p>
                  </a:txBody>
                  <a:tcPr marL="45720" marR="45720" marT="36576" marB="36576">
                    <a:solidFill>
                      <a:srgbClr val="F3F4F6"/>
                    </a:solidFill>
                  </a:tcPr>
                </a:tc>
                <a:tc>
                  <a:txBody>
                    <a:bodyPr/>
                    <a:lstStyle/>
                    <a:p>
                      <a:pPr algn="ctr"/>
                      <a:r>
                        <a:rPr sz="1400" b="0">
                          <a:solidFill>
                            <a:srgbClr val="232323"/>
                          </a:solidFill>
                          <a:latin typeface="Arial"/>
                        </a:rPr>
                        <a:t>80.25</a:t>
                      </a:r>
                    </a:p>
                  </a:txBody>
                  <a:tcPr marL="45720" marR="45720" marT="36576" marB="36576">
                    <a:solidFill>
                      <a:srgbClr val="F3F4F6"/>
                    </a:solidFill>
                  </a:tcPr>
                </a:tc>
                <a:tc>
                  <a:txBody>
                    <a:bodyPr/>
                    <a:lstStyle/>
                    <a:p>
                      <a:pPr algn="ctr"/>
                      <a:r>
                        <a:rPr sz="1400" b="0">
                          <a:solidFill>
                            <a:srgbClr val="232323"/>
                          </a:solidFill>
                          <a:latin typeface="Arial"/>
                        </a:rPr>
                        <a:t>85.82</a:t>
                      </a:r>
                    </a:p>
                  </a:txBody>
                  <a:tcPr marL="45720" marR="45720" marT="36576" marB="36576">
                    <a:solidFill>
                      <a:srgbClr val="F3F4F6"/>
                    </a:solidFill>
                  </a:tcPr>
                </a:tc>
                <a:tc>
                  <a:txBody>
                    <a:bodyPr/>
                    <a:lstStyle/>
                    <a:p>
                      <a:pPr algn="ctr"/>
                      <a:r>
                        <a:rPr sz="1400" b="0">
                          <a:solidFill>
                            <a:srgbClr val="232323"/>
                          </a:solidFill>
                          <a:latin typeface="Arial"/>
                        </a:rPr>
                        <a:t>38.06</a:t>
                      </a:r>
                    </a:p>
                  </a:txBody>
                  <a:tcPr marL="45720" marR="45720" marT="36576" marB="36576">
                    <a:solidFill>
                      <a:srgbClr val="F3F4F6"/>
                    </a:solidFill>
                  </a:tcPr>
                </a:tc>
                <a:tc>
                  <a:txBody>
                    <a:bodyPr/>
                    <a:lstStyle/>
                    <a:p>
                      <a:pPr algn="ctr"/>
                      <a:r>
                        <a:rPr sz="1400" b="0">
                          <a:solidFill>
                            <a:srgbClr val="232323"/>
                          </a:solidFill>
                          <a:latin typeface="Arial"/>
                        </a:rPr>
                        <a:t>7.93</a:t>
                      </a:r>
                    </a:p>
                  </a:txBody>
                  <a:tcPr marL="45720" marR="45720" marT="36576" marB="36576">
                    <a:solidFill>
                      <a:srgbClr val="F3F4F6"/>
                    </a:solidFill>
                  </a:tcPr>
                </a:tc>
                <a:extLst>
                  <a:ext uri="{0D108BD9-81ED-4DB2-BD59-A6C34878D82A}">
                    <a16:rowId xmlns:a16="http://schemas.microsoft.com/office/drawing/2014/main" val="10002"/>
                  </a:ext>
                </a:extLst>
              </a:tr>
              <a:tr h="811530">
                <a:tc>
                  <a:txBody>
                    <a:bodyPr/>
                    <a:lstStyle/>
                    <a:p>
                      <a:pPr algn="l"/>
                      <a:r>
                        <a:rPr sz="1400" b="1">
                          <a:solidFill>
                            <a:srgbClr val="232323"/>
                          </a:solidFill>
                          <a:latin typeface="Arial"/>
                        </a:rPr>
                        <a:t>RSTPReid</a:t>
                      </a:r>
                    </a:p>
                  </a:txBody>
                  <a:tcPr marL="45720" marR="45720" marT="36576" marB="36576">
                    <a:solidFill>
                      <a:srgbClr val="FFFFFF"/>
                    </a:solidFill>
                  </a:tcPr>
                </a:tc>
                <a:tc>
                  <a:txBody>
                    <a:bodyPr/>
                    <a:lstStyle/>
                    <a:p>
                      <a:pPr algn="ctr"/>
                      <a:r>
                        <a:rPr sz="1400" b="0">
                          <a:solidFill>
                            <a:srgbClr val="232323"/>
                          </a:solidFill>
                          <a:latin typeface="Arial"/>
                        </a:rPr>
                        <a:t>60.20</a:t>
                      </a:r>
                    </a:p>
                  </a:txBody>
                  <a:tcPr marL="45720" marR="45720" marT="36576" marB="36576">
                    <a:solidFill>
                      <a:srgbClr val="FFFFFF"/>
                    </a:solidFill>
                  </a:tcPr>
                </a:tc>
                <a:tc>
                  <a:txBody>
                    <a:bodyPr/>
                    <a:lstStyle/>
                    <a:p>
                      <a:pPr algn="ctr"/>
                      <a:r>
                        <a:rPr sz="1400" b="0">
                          <a:solidFill>
                            <a:srgbClr val="232323"/>
                          </a:solidFill>
                          <a:latin typeface="Arial"/>
                        </a:rPr>
                        <a:t>81.30</a:t>
                      </a:r>
                    </a:p>
                  </a:txBody>
                  <a:tcPr marL="45720" marR="45720" marT="36576" marB="36576">
                    <a:solidFill>
                      <a:srgbClr val="FFFFFF"/>
                    </a:solidFill>
                  </a:tcPr>
                </a:tc>
                <a:tc>
                  <a:txBody>
                    <a:bodyPr/>
                    <a:lstStyle/>
                    <a:p>
                      <a:pPr algn="ctr"/>
                      <a:r>
                        <a:rPr sz="1400" b="0">
                          <a:solidFill>
                            <a:srgbClr val="232323"/>
                          </a:solidFill>
                          <a:latin typeface="Arial"/>
                        </a:rPr>
                        <a:t>88.20</a:t>
                      </a:r>
                    </a:p>
                  </a:txBody>
                  <a:tcPr marL="45720" marR="45720" marT="36576" marB="36576">
                    <a:solidFill>
                      <a:srgbClr val="FFFFFF"/>
                    </a:solidFill>
                  </a:tcPr>
                </a:tc>
                <a:tc>
                  <a:txBody>
                    <a:bodyPr/>
                    <a:lstStyle/>
                    <a:p>
                      <a:pPr algn="ctr"/>
                      <a:r>
                        <a:rPr sz="1400" b="0">
                          <a:solidFill>
                            <a:srgbClr val="232323"/>
                          </a:solidFill>
                          <a:latin typeface="Arial"/>
                        </a:rPr>
                        <a:t>47.17</a:t>
                      </a:r>
                    </a:p>
                  </a:txBody>
                  <a:tcPr marL="45720" marR="45720" marT="36576" marB="36576">
                    <a:solidFill>
                      <a:srgbClr val="FFFFFF"/>
                    </a:solidFill>
                  </a:tcPr>
                </a:tc>
                <a:tc>
                  <a:txBody>
                    <a:bodyPr/>
                    <a:lstStyle/>
                    <a:p>
                      <a:pPr algn="ctr"/>
                      <a:r>
                        <a:rPr sz="1400" b="0">
                          <a:solidFill>
                            <a:srgbClr val="232323"/>
                          </a:solidFill>
                          <a:latin typeface="Arial"/>
                        </a:rPr>
                        <a:t>25.28</a:t>
                      </a:r>
                    </a:p>
                  </a:txBody>
                  <a:tcPr marL="45720" marR="45720" marT="36576" marB="36576">
                    <a:solidFill>
                      <a:srgbClr val="FFFFFF"/>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1097280" y="4956048"/>
            <a:ext cx="6949440" cy="804672"/>
          </a:xfrm>
          <a:prstGeom prst="roundRect">
            <a:avLst/>
          </a:prstGeom>
          <a:solidFill>
            <a:srgbClr val="F3F4F6"/>
          </a:solidFill>
          <a:ln w="12700">
            <a:solidFill>
              <a:srgbClr val="E0E1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35024" y="5193792"/>
            <a:ext cx="6473952" cy="310896"/>
          </a:xfrm>
          <a:prstGeom prst="rect">
            <a:avLst/>
          </a:prstGeom>
          <a:noFill/>
        </p:spPr>
        <p:txBody>
          <a:bodyPr wrap="square" lIns="0" tIns="0" rIns="0" bIns="0" anchor="t">
            <a:spAutoFit/>
          </a:bodyPr>
          <a:lstStyle/>
          <a:p>
            <a:pPr algn="ctr"/>
            <a:r>
              <a:rPr sz="1450" b="1" i="0">
                <a:solidFill>
                  <a:srgbClr val="990014"/>
                </a:solidFill>
                <a:latin typeface="Arial"/>
              </a:rPr>
              <a:t>Precise wording: “State of the art at publication time, against the baselines evaluated in the paper.”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01752" y="64008"/>
            <a:ext cx="8412480" cy="438912"/>
          </a:xfrm>
          <a:prstGeom prst="rect">
            <a:avLst/>
          </a:prstGeom>
          <a:noFill/>
        </p:spPr>
        <p:txBody>
          <a:bodyPr wrap="square" lIns="0" tIns="0" rIns="0" bIns="0" anchor="ctr">
            <a:spAutoFit/>
          </a:bodyPr>
          <a:lstStyle/>
          <a:p>
            <a:pPr algn="l"/>
            <a:r>
              <a:rPr sz="2300" b="1" i="0">
                <a:solidFill>
                  <a:srgbClr val="FFFFFF"/>
                </a:solidFill>
                <a:latin typeface="Arial"/>
              </a:rPr>
              <a:t>Appendix C — Frequently Asked Questions</a:t>
            </a:r>
          </a:p>
        </p:txBody>
      </p:sp>
      <p:sp>
        <p:nvSpPr>
          <p:cNvPr id="3" name="TextBox 2"/>
          <p:cNvSpPr txBox="1"/>
          <p:nvPr/>
        </p:nvSpPr>
        <p:spPr>
          <a:xfrm>
            <a:off x="8641080" y="6492240"/>
            <a:ext cx="256032" cy="182880"/>
          </a:xfrm>
          <a:prstGeom prst="rect">
            <a:avLst/>
          </a:prstGeom>
          <a:noFill/>
        </p:spPr>
        <p:txBody>
          <a:bodyPr wrap="square" lIns="0" tIns="0" rIns="0" bIns="0" anchor="t">
            <a:spAutoFit/>
          </a:bodyPr>
          <a:lstStyle/>
          <a:p>
            <a:pPr algn="r"/>
            <a:r>
              <a:rPr sz="900" b="1" i="0">
                <a:solidFill>
                  <a:srgbClr val="C5162B"/>
                </a:solidFill>
                <a:latin typeface="Arial"/>
              </a:rPr>
              <a:t>A3</a:t>
            </a:r>
          </a:p>
        </p:txBody>
      </p:sp>
      <p:sp>
        <p:nvSpPr>
          <p:cNvPr id="4" name="Rounded Rectangle 3"/>
          <p:cNvSpPr/>
          <p:nvPr/>
        </p:nvSpPr>
        <p:spPr>
          <a:xfrm>
            <a:off x="512064" y="932688"/>
            <a:ext cx="3822191" cy="2011680"/>
          </a:xfrm>
          <a:prstGeom prst="roundRect">
            <a:avLst/>
          </a:prstGeom>
          <a:solidFill>
            <a:srgbClr val="F3F4F6"/>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49808" y="1170432"/>
            <a:ext cx="411480" cy="411480"/>
          </a:xfrm>
          <a:prstGeom prst="ellipse">
            <a:avLst/>
          </a:prstGeom>
          <a:solidFill>
            <a:srgbClr val="C5162B"/>
          </a:solidFill>
          <a:ln>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170432"/>
            <a:ext cx="411480" cy="411480"/>
          </a:xfrm>
          <a:prstGeom prst="rect">
            <a:avLst/>
          </a:prstGeom>
          <a:noFill/>
        </p:spPr>
        <p:txBody>
          <a:bodyPr wrap="square" lIns="0" tIns="0" rIns="0" bIns="0" anchor="ctr">
            <a:spAutoFit/>
          </a:bodyPr>
          <a:lstStyle/>
          <a:p>
            <a:pPr algn="ctr"/>
            <a:r>
              <a:rPr sz="1500" b="1" i="0">
                <a:solidFill>
                  <a:srgbClr val="FFFFFF"/>
                </a:solidFill>
                <a:latin typeface="Arial"/>
              </a:rPr>
              <a:t>1</a:t>
            </a:r>
          </a:p>
        </p:txBody>
      </p:sp>
      <p:sp>
        <p:nvSpPr>
          <p:cNvPr id="7" name="TextBox 6"/>
          <p:cNvSpPr txBox="1"/>
          <p:nvPr/>
        </p:nvSpPr>
        <p:spPr>
          <a:xfrm>
            <a:off x="1316736" y="1152144"/>
            <a:ext cx="2743200" cy="457200"/>
          </a:xfrm>
          <a:prstGeom prst="rect">
            <a:avLst/>
          </a:prstGeom>
          <a:noFill/>
        </p:spPr>
        <p:txBody>
          <a:bodyPr wrap="square" lIns="0" tIns="0" rIns="0" bIns="0" anchor="ctr">
            <a:spAutoFit/>
          </a:bodyPr>
          <a:lstStyle/>
          <a:p>
            <a:pPr algn="l"/>
            <a:r>
              <a:rPr sz="1500" b="1" i="0">
                <a:solidFill>
                  <a:srgbClr val="990014"/>
                </a:solidFill>
                <a:latin typeface="Arial"/>
              </a:rPr>
              <a:t>Why is it called implicit?</a:t>
            </a:r>
          </a:p>
        </p:txBody>
      </p:sp>
      <p:sp>
        <p:nvSpPr>
          <p:cNvPr id="8" name="TextBox 7"/>
          <p:cNvSpPr txBox="1"/>
          <p:nvPr/>
        </p:nvSpPr>
        <p:spPr>
          <a:xfrm>
            <a:off x="859536" y="1920240"/>
            <a:ext cx="3127248" cy="585216"/>
          </a:xfrm>
          <a:prstGeom prst="rect">
            <a:avLst/>
          </a:prstGeom>
          <a:noFill/>
        </p:spPr>
        <p:txBody>
          <a:bodyPr wrap="square" lIns="0" tIns="0" rIns="0" bIns="0" anchor="ctr">
            <a:spAutoFit/>
          </a:bodyPr>
          <a:lstStyle/>
          <a:p>
            <a:pPr algn="ctr"/>
            <a:r>
              <a:rPr sz="1350" b="0" i="0">
                <a:solidFill>
                  <a:srgbClr val="434343"/>
                </a:solidFill>
                <a:latin typeface="Arial"/>
              </a:rPr>
              <a:t>No part labels or local-matching branch at inference.</a:t>
            </a:r>
          </a:p>
        </p:txBody>
      </p:sp>
      <p:sp>
        <p:nvSpPr>
          <p:cNvPr id="9" name="Rounded Rectangle 8"/>
          <p:cNvSpPr/>
          <p:nvPr/>
        </p:nvSpPr>
        <p:spPr>
          <a:xfrm>
            <a:off x="4626864" y="932688"/>
            <a:ext cx="3822191" cy="2011680"/>
          </a:xfrm>
          <a:prstGeom prst="roundRect">
            <a:avLst/>
          </a:prstGeom>
          <a:solidFill>
            <a:srgbClr val="F3F4F6"/>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64607" y="1170432"/>
            <a:ext cx="411480" cy="411480"/>
          </a:xfrm>
          <a:prstGeom prst="ellipse">
            <a:avLst/>
          </a:prstGeom>
          <a:solidFill>
            <a:srgbClr val="206CAA"/>
          </a:solidFill>
          <a:ln>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64607" y="1170432"/>
            <a:ext cx="411480" cy="411480"/>
          </a:xfrm>
          <a:prstGeom prst="rect">
            <a:avLst/>
          </a:prstGeom>
          <a:noFill/>
        </p:spPr>
        <p:txBody>
          <a:bodyPr wrap="square" lIns="0" tIns="0" rIns="0" bIns="0" anchor="ctr">
            <a:spAutoFit/>
          </a:bodyPr>
          <a:lstStyle/>
          <a:p>
            <a:pPr algn="ctr"/>
            <a:r>
              <a:rPr sz="1500" b="1" i="0">
                <a:solidFill>
                  <a:srgbClr val="FFFFFF"/>
                </a:solidFill>
                <a:latin typeface="Arial"/>
              </a:rPr>
              <a:t>2</a:t>
            </a:r>
          </a:p>
        </p:txBody>
      </p:sp>
      <p:sp>
        <p:nvSpPr>
          <p:cNvPr id="12" name="TextBox 11"/>
          <p:cNvSpPr txBox="1"/>
          <p:nvPr/>
        </p:nvSpPr>
        <p:spPr>
          <a:xfrm>
            <a:off x="5431536" y="1152144"/>
            <a:ext cx="2743200" cy="457200"/>
          </a:xfrm>
          <a:prstGeom prst="rect">
            <a:avLst/>
          </a:prstGeom>
          <a:noFill/>
        </p:spPr>
        <p:txBody>
          <a:bodyPr wrap="square" lIns="0" tIns="0" rIns="0" bIns="0" anchor="ctr">
            <a:spAutoFit/>
          </a:bodyPr>
          <a:lstStyle/>
          <a:p>
            <a:pPr algn="l"/>
            <a:r>
              <a:rPr sz="1500" b="1" i="0">
                <a:solidFill>
                  <a:srgbClr val="990014"/>
                </a:solidFill>
                <a:latin typeface="Arial"/>
              </a:rPr>
              <a:t>Why does text provide Q?</a:t>
            </a:r>
          </a:p>
        </p:txBody>
      </p:sp>
      <p:sp>
        <p:nvSpPr>
          <p:cNvPr id="13" name="TextBox 12"/>
          <p:cNvSpPr txBox="1"/>
          <p:nvPr/>
        </p:nvSpPr>
        <p:spPr>
          <a:xfrm>
            <a:off x="4974336" y="1920240"/>
            <a:ext cx="3127248" cy="585216"/>
          </a:xfrm>
          <a:prstGeom prst="rect">
            <a:avLst/>
          </a:prstGeom>
          <a:noFill/>
        </p:spPr>
        <p:txBody>
          <a:bodyPr wrap="square" lIns="0" tIns="0" rIns="0" bIns="0" anchor="ctr">
            <a:spAutoFit/>
          </a:bodyPr>
          <a:lstStyle/>
          <a:p>
            <a:pPr algn="ctr"/>
            <a:r>
              <a:rPr sz="1350" b="0" i="0">
                <a:solidFill>
                  <a:srgbClr val="434343"/>
                </a:solidFill>
                <a:latin typeface="Arial"/>
              </a:rPr>
              <a:t>Masked text tokens query visual tokens to recover the word.</a:t>
            </a:r>
          </a:p>
        </p:txBody>
      </p:sp>
      <p:sp>
        <p:nvSpPr>
          <p:cNvPr id="14" name="Rounded Rectangle 13"/>
          <p:cNvSpPr/>
          <p:nvPr/>
        </p:nvSpPr>
        <p:spPr>
          <a:xfrm>
            <a:off x="512064" y="3410712"/>
            <a:ext cx="3822191" cy="2011680"/>
          </a:xfrm>
          <a:prstGeom prst="roundRect">
            <a:avLst/>
          </a:prstGeom>
          <a:solidFill>
            <a:srgbClr val="F3F4F6"/>
          </a:solidFill>
          <a:ln w="12700">
            <a:solidFill>
              <a:srgbClr val="E77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49808" y="3648456"/>
            <a:ext cx="411480" cy="411480"/>
          </a:xfrm>
          <a:prstGeom prst="ellipse">
            <a:avLst/>
          </a:prstGeom>
          <a:solidFill>
            <a:srgbClr val="C5162B"/>
          </a:solidFill>
          <a:ln>
            <a:solidFill>
              <a:srgbClr val="C51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3648456"/>
            <a:ext cx="411480" cy="411480"/>
          </a:xfrm>
          <a:prstGeom prst="rect">
            <a:avLst/>
          </a:prstGeom>
          <a:noFill/>
        </p:spPr>
        <p:txBody>
          <a:bodyPr wrap="square" lIns="0" tIns="0" rIns="0" bIns="0" anchor="ctr">
            <a:spAutoFit/>
          </a:bodyPr>
          <a:lstStyle/>
          <a:p>
            <a:pPr algn="ctr"/>
            <a:r>
              <a:rPr sz="1500" b="1" i="0">
                <a:solidFill>
                  <a:srgbClr val="FFFFFF"/>
                </a:solidFill>
                <a:latin typeface="Arial"/>
              </a:rPr>
              <a:t>3</a:t>
            </a:r>
          </a:p>
        </p:txBody>
      </p:sp>
      <p:sp>
        <p:nvSpPr>
          <p:cNvPr id="17" name="TextBox 16"/>
          <p:cNvSpPr txBox="1"/>
          <p:nvPr/>
        </p:nvSpPr>
        <p:spPr>
          <a:xfrm>
            <a:off x="1316736" y="3630168"/>
            <a:ext cx="2743200" cy="457200"/>
          </a:xfrm>
          <a:prstGeom prst="rect">
            <a:avLst/>
          </a:prstGeom>
          <a:noFill/>
        </p:spPr>
        <p:txBody>
          <a:bodyPr wrap="square" lIns="0" tIns="0" rIns="0" bIns="0" anchor="ctr">
            <a:spAutoFit/>
          </a:bodyPr>
          <a:lstStyle/>
          <a:p>
            <a:pPr algn="l"/>
            <a:r>
              <a:rPr sz="1500" b="1" i="0">
                <a:solidFill>
                  <a:srgbClr val="990014"/>
                </a:solidFill>
                <a:latin typeface="Arial"/>
              </a:rPr>
              <a:t>Is IRR knowledge lost at inference?</a:t>
            </a:r>
          </a:p>
        </p:txBody>
      </p:sp>
      <p:sp>
        <p:nvSpPr>
          <p:cNvPr id="18" name="TextBox 17"/>
          <p:cNvSpPr txBox="1"/>
          <p:nvPr/>
        </p:nvSpPr>
        <p:spPr>
          <a:xfrm>
            <a:off x="859536" y="4398264"/>
            <a:ext cx="3127248" cy="585216"/>
          </a:xfrm>
          <a:prstGeom prst="rect">
            <a:avLst/>
          </a:prstGeom>
          <a:noFill/>
        </p:spPr>
        <p:txBody>
          <a:bodyPr wrap="square" lIns="0" tIns="0" rIns="0" bIns="0" anchor="ctr">
            <a:spAutoFit/>
          </a:bodyPr>
          <a:lstStyle/>
          <a:p>
            <a:pPr algn="ctr"/>
            <a:r>
              <a:rPr sz="1350" b="0" i="0">
                <a:solidFill>
                  <a:srgbClr val="434343"/>
                </a:solidFill>
                <a:latin typeface="Arial"/>
              </a:rPr>
              <a:t>No. Its gradients already updated both encoders end-to-end.</a:t>
            </a:r>
          </a:p>
        </p:txBody>
      </p:sp>
      <p:sp>
        <p:nvSpPr>
          <p:cNvPr id="19" name="Rounded Rectangle 18"/>
          <p:cNvSpPr/>
          <p:nvPr/>
        </p:nvSpPr>
        <p:spPr>
          <a:xfrm>
            <a:off x="4626864" y="3410712"/>
            <a:ext cx="3822191" cy="2011680"/>
          </a:xfrm>
          <a:prstGeom prst="roundRect">
            <a:avLst/>
          </a:prstGeom>
          <a:solidFill>
            <a:srgbClr val="F3F4F6"/>
          </a:solidFill>
          <a:ln w="12700">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864607" y="3648456"/>
            <a:ext cx="411480" cy="411480"/>
          </a:xfrm>
          <a:prstGeom prst="ellipse">
            <a:avLst/>
          </a:prstGeom>
          <a:solidFill>
            <a:srgbClr val="206CAA"/>
          </a:solidFill>
          <a:ln>
            <a:solidFill>
              <a:srgbClr val="206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64607" y="3648456"/>
            <a:ext cx="411480" cy="411480"/>
          </a:xfrm>
          <a:prstGeom prst="rect">
            <a:avLst/>
          </a:prstGeom>
          <a:noFill/>
        </p:spPr>
        <p:txBody>
          <a:bodyPr wrap="square" lIns="0" tIns="0" rIns="0" bIns="0" anchor="ctr">
            <a:spAutoFit/>
          </a:bodyPr>
          <a:lstStyle/>
          <a:p>
            <a:pPr algn="ctr"/>
            <a:r>
              <a:rPr sz="1500" b="1" i="0">
                <a:solidFill>
                  <a:srgbClr val="FFFFFF"/>
                </a:solidFill>
                <a:latin typeface="Arial"/>
              </a:rPr>
              <a:t>4</a:t>
            </a:r>
          </a:p>
        </p:txBody>
      </p:sp>
      <p:sp>
        <p:nvSpPr>
          <p:cNvPr id="22" name="TextBox 21"/>
          <p:cNvSpPr txBox="1"/>
          <p:nvPr/>
        </p:nvSpPr>
        <p:spPr>
          <a:xfrm>
            <a:off x="5431536" y="3630168"/>
            <a:ext cx="2743200" cy="457200"/>
          </a:xfrm>
          <a:prstGeom prst="rect">
            <a:avLst/>
          </a:prstGeom>
          <a:noFill/>
        </p:spPr>
        <p:txBody>
          <a:bodyPr wrap="square" lIns="0" tIns="0" rIns="0" bIns="0" anchor="ctr">
            <a:spAutoFit/>
          </a:bodyPr>
          <a:lstStyle/>
          <a:p>
            <a:pPr algn="l"/>
            <a:r>
              <a:rPr sz="1500" b="1" i="0">
                <a:solidFill>
                  <a:srgbClr val="990014"/>
                </a:solidFill>
                <a:latin typeface="Arial"/>
              </a:rPr>
              <a:t>Is inference cost really unchanged?</a:t>
            </a:r>
          </a:p>
        </p:txBody>
      </p:sp>
      <p:sp>
        <p:nvSpPr>
          <p:cNvPr id="23" name="TextBox 22"/>
          <p:cNvSpPr txBox="1"/>
          <p:nvPr/>
        </p:nvSpPr>
        <p:spPr>
          <a:xfrm>
            <a:off x="4974336" y="4398264"/>
            <a:ext cx="3127248" cy="585216"/>
          </a:xfrm>
          <a:prstGeom prst="rect">
            <a:avLst/>
          </a:prstGeom>
          <a:noFill/>
        </p:spPr>
        <p:txBody>
          <a:bodyPr wrap="square" lIns="0" tIns="0" rIns="0" bIns="0" anchor="ctr">
            <a:spAutoFit/>
          </a:bodyPr>
          <a:lstStyle/>
          <a:p>
            <a:pPr algn="ctr"/>
            <a:r>
              <a:rPr sz="1350" b="0" i="0">
                <a:solidFill>
                  <a:srgbClr val="434343"/>
                </a:solidFill>
                <a:latin typeface="Arial"/>
              </a:rPr>
              <a:t>Yes versus the CLIP dual encoder; vector-DB cost was not evaluated.</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329</TotalTime>
  <Words>4155</Words>
  <Application>Microsoft Office PowerPoint</Application>
  <PresentationFormat>On-screen Show (4:3)</PresentationFormat>
  <Paragraphs>423</Paragraphs>
  <Slides>27</Slides>
  <Notes>27</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Cambria Math</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IRRA — Text-to-Image Person Retrieval</dc:title>
  <dc:subject>Multimedia Database course presentation</dc:subject>
  <dc:creator>[FULL NAME – STUDENT ID]</dc:creator>
  <cp:keywords>IRRA, CLIP, person retrieval, HUST, CVPR 2023</cp:keywords>
  <cp:lastModifiedBy>Tùng Đỗ Thanh</cp:lastModifiedBy>
  <cp:revision>16</cp:revision>
  <dcterms:created xsi:type="dcterms:W3CDTF">2021-05-28T04:32:29Z</dcterms:created>
  <dcterms:modified xsi:type="dcterms:W3CDTF">2026-09-15T17:34:13Z</dcterms:modified>
</cp:coreProperties>
</file>